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embeddedFontLst>
    <p:embeddedFont>
      <p:font typeface="Carlito" panose="020B0604020202020204" charset="0"/>
      <p:regular r:id="rId18"/>
    </p:embeddedFont>
    <p:embeddedFont>
      <p:font typeface="Carlito Bold" panose="020B0604020202020204" charset="0"/>
      <p:regular r:id="rId19"/>
    </p:embeddedFont>
    <p:embeddedFont>
      <p:font typeface="Montserrat" panose="00000500000000000000" pitchFamily="2" charset="0"/>
      <p:regular r:id="rId20"/>
      <p:bold r:id="rId21"/>
      <p:italic r:id="rId22"/>
      <p:boldItalic r:id="rId23"/>
    </p:embeddedFont>
    <p:embeddedFont>
      <p:font typeface="Montserrat Bold" panose="00000800000000000000" pitchFamily="2" charset="0"/>
      <p:regular r:id="rId24"/>
      <p:bold r:id="rId25"/>
    </p:embeddedFont>
    <p:embeddedFont>
      <p:font typeface="Montserrat Bold Italics" panose="020B0604020202020204" charset="0"/>
      <p:regular r:id="rId26"/>
    </p:embeddedFont>
    <p:embeddedFont>
      <p:font typeface="Montserrat Italics" panose="020B0604020202020204" charset="0"/>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6CFA601-3DAD-BC2C-1598-E23ECA91E3A0}" v="5" dt="2026-06-13T18:11:36.923"/>
    <p1510:client id="{F9DB99DA-F160-C7AE-7F0E-51CD42F42CA3}" v="38" dt="2026-06-13T18:10:44.29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3.sv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svg"/></Relationships>
</file>

<file path=ppt/slides/_rels/slide4.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sv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4.sv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2" Type="http://schemas.openxmlformats.org/officeDocument/2006/relationships/image" Target="../media/image16.sv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svg"/><Relationship Id="rId1" Type="http://schemas.openxmlformats.org/officeDocument/2006/relationships/slideLayout" Target="../slideLayouts/slideLayout7.xml"/><Relationship Id="rId5" Type="http://schemas.openxmlformats.org/officeDocument/2006/relationships/image" Target="../media/image23.png"/><Relationship Id="rId4" Type="http://schemas.openxmlformats.org/officeDocument/2006/relationships/image" Target="../media/image22.svg"/></Relationships>
</file>

<file path=ppt/slides/_rels/slide12.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png"/><Relationship Id="rId1" Type="http://schemas.openxmlformats.org/officeDocument/2006/relationships/slideLayout" Target="../slideLayouts/slideLayout7.xml"/><Relationship Id="rId4" Type="http://schemas.openxmlformats.org/officeDocument/2006/relationships/image" Target="../media/image26.png"/></Relationships>
</file>

<file path=ppt/slides/_rels/slide13.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png"/><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14.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30.png"/><Relationship Id="rId1" Type="http://schemas.openxmlformats.org/officeDocument/2006/relationships/slideLayout" Target="../slideLayouts/slideLayout7.xml"/><Relationship Id="rId6" Type="http://schemas.openxmlformats.org/officeDocument/2006/relationships/image" Target="../media/image34.svg"/><Relationship Id="rId5" Type="http://schemas.openxmlformats.org/officeDocument/2006/relationships/image" Target="../media/image33.svg"/><Relationship Id="rId4" Type="http://schemas.openxmlformats.org/officeDocument/2006/relationships/image" Target="../media/image32.svg"/></Relationships>
</file>

<file path=ppt/slides/_rels/slide15.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image" Target="../media/image35.svg"/><Relationship Id="rId1" Type="http://schemas.openxmlformats.org/officeDocument/2006/relationships/slideLayout" Target="../slideLayouts/slideLayout7.xml"/><Relationship Id="rId6" Type="http://schemas.openxmlformats.org/officeDocument/2006/relationships/image" Target="../media/image34.svg"/><Relationship Id="rId5" Type="http://schemas.openxmlformats.org/officeDocument/2006/relationships/image" Target="../media/image33.svg"/><Relationship Id="rId4" Type="http://schemas.openxmlformats.org/officeDocument/2006/relationships/image" Target="../media/image32.svg"/></Relationships>
</file>

<file path=ppt/slides/_rels/slide1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4172E"/>
        </a:solidFill>
        <a:effectLst/>
      </p:bgPr>
    </p:bg>
    <p:spTree>
      <p:nvGrpSpPr>
        <p:cNvPr id="1" name=""/>
        <p:cNvGrpSpPr/>
        <p:nvPr/>
      </p:nvGrpSpPr>
      <p:grpSpPr>
        <a:xfrm>
          <a:off x="0" y="0"/>
          <a:ext cx="0" cy="0"/>
          <a:chOff x="0" y="0"/>
          <a:chExt cx="0" cy="0"/>
        </a:xfrm>
      </p:grpSpPr>
      <p:sp>
        <p:nvSpPr>
          <p:cNvPr id="2" name="Freeform 2"/>
          <p:cNvSpPr/>
          <p:nvPr/>
        </p:nvSpPr>
        <p:spPr>
          <a:xfrm rot="-10800000" flipH="1" flipV="1">
            <a:off x="-443765" y="1901057"/>
            <a:ext cx="13079530" cy="5373507"/>
          </a:xfrm>
          <a:custGeom>
            <a:avLst/>
            <a:gdLst/>
            <a:ahLst/>
            <a:cxnLst/>
            <a:rect l="l" t="t" r="r" b="b"/>
            <a:pathLst>
              <a:path w="13079530" h="5373507">
                <a:moveTo>
                  <a:pt x="13079530" y="5373506"/>
                </a:moveTo>
                <a:lnTo>
                  <a:pt x="0" y="5373506"/>
                </a:lnTo>
                <a:lnTo>
                  <a:pt x="0" y="0"/>
                </a:lnTo>
                <a:lnTo>
                  <a:pt x="13079530" y="0"/>
                </a:lnTo>
                <a:lnTo>
                  <a:pt x="13079530" y="5373506"/>
                </a:lnTo>
                <a:close/>
              </a:path>
            </a:pathLst>
          </a:custGeom>
          <a:blipFill>
            <a:blip>
              <a:alphaModFix amt="54000"/>
              <a:extLst>
                <a:ext uri="{96DAC541-7B7A-43D3-8B79-37D633B846F1}">
                  <asvg:svgBlip xmlns:asvg="http://schemas.microsoft.com/office/drawing/2016/SVG/main" r:embed="rId2"/>
                </a:ext>
              </a:extLst>
            </a:blip>
            <a:stretch>
              <a:fillRect/>
            </a:stretch>
          </a:blipFill>
        </p:spPr>
      </p:sp>
      <p:sp>
        <p:nvSpPr>
          <p:cNvPr id="3" name="TextBox 3"/>
          <p:cNvSpPr txBox="1"/>
          <p:nvPr/>
        </p:nvSpPr>
        <p:spPr>
          <a:xfrm>
            <a:off x="1231649" y="4151395"/>
            <a:ext cx="46806" cy="320897"/>
          </a:xfrm>
          <a:prstGeom prst="rect">
            <a:avLst/>
          </a:prstGeom>
        </p:spPr>
        <p:txBody>
          <a:bodyPr lIns="0" tIns="0" rIns="0" bIns="0" rtlCol="0" anchor="t">
            <a:spAutoFit/>
          </a:bodyPr>
          <a:lstStyle/>
          <a:p>
            <a:pPr algn="l">
              <a:lnSpc>
                <a:spcPts val="2238"/>
              </a:lnSpc>
            </a:pPr>
            <a:r>
              <a:rPr lang="en-US" sz="1598" b="1">
                <a:solidFill>
                  <a:srgbClr val="FFFFFF"/>
                </a:solidFill>
                <a:latin typeface="Carlito Bold"/>
                <a:ea typeface="Carlito Bold"/>
                <a:cs typeface="Carlito Bold"/>
                <a:sym typeface="Carlito Bold"/>
              </a:rPr>
              <a:t> </a:t>
            </a:r>
          </a:p>
        </p:txBody>
      </p:sp>
      <p:sp>
        <p:nvSpPr>
          <p:cNvPr id="4" name="TextBox 4"/>
          <p:cNvSpPr txBox="1"/>
          <p:nvPr/>
        </p:nvSpPr>
        <p:spPr>
          <a:xfrm>
            <a:off x="4705150" y="4151395"/>
            <a:ext cx="46806" cy="320897"/>
          </a:xfrm>
          <a:prstGeom prst="rect">
            <a:avLst/>
          </a:prstGeom>
        </p:spPr>
        <p:txBody>
          <a:bodyPr lIns="0" tIns="0" rIns="0" bIns="0" rtlCol="0" anchor="t">
            <a:spAutoFit/>
          </a:bodyPr>
          <a:lstStyle/>
          <a:p>
            <a:pPr algn="l">
              <a:lnSpc>
                <a:spcPts val="2238"/>
              </a:lnSpc>
            </a:pPr>
            <a:r>
              <a:rPr lang="en-US" sz="1598" b="1">
                <a:solidFill>
                  <a:srgbClr val="FFFFFF"/>
                </a:solidFill>
                <a:latin typeface="Carlito Bold"/>
                <a:ea typeface="Carlito Bold"/>
                <a:cs typeface="Carlito Bold"/>
                <a:sym typeface="Carlito Bold"/>
              </a:rPr>
              <a:t> </a:t>
            </a:r>
          </a:p>
        </p:txBody>
      </p:sp>
      <p:sp>
        <p:nvSpPr>
          <p:cNvPr id="5" name="TextBox 5"/>
          <p:cNvSpPr txBox="1"/>
          <p:nvPr/>
        </p:nvSpPr>
        <p:spPr>
          <a:xfrm>
            <a:off x="685800" y="5905528"/>
            <a:ext cx="7216616" cy="266672"/>
          </a:xfrm>
          <a:prstGeom prst="rect">
            <a:avLst/>
          </a:prstGeom>
        </p:spPr>
        <p:txBody>
          <a:bodyPr lIns="0" tIns="0" rIns="0" bIns="0" rtlCol="0" anchor="t">
            <a:spAutoFit/>
          </a:bodyPr>
          <a:lstStyle/>
          <a:p>
            <a:pPr algn="l">
              <a:lnSpc>
                <a:spcPts val="2101"/>
              </a:lnSpc>
            </a:pPr>
            <a:r>
              <a:rPr lang="en-US" sz="1501">
                <a:solidFill>
                  <a:srgbClr val="FFFFFF"/>
                </a:solidFill>
                <a:latin typeface="Montserrat"/>
                <a:ea typeface="Montserrat"/>
                <a:cs typeface="Montserrat"/>
                <a:sym typeface="Montserrat"/>
              </a:rPr>
              <a:t>Istanbul Technical University · Electronics and Communication Engineering</a:t>
            </a:r>
          </a:p>
        </p:txBody>
      </p:sp>
      <p:sp>
        <p:nvSpPr>
          <p:cNvPr id="6" name="TextBox 6"/>
          <p:cNvSpPr txBox="1"/>
          <p:nvPr/>
        </p:nvSpPr>
        <p:spPr>
          <a:xfrm>
            <a:off x="685800" y="647700"/>
            <a:ext cx="6184225" cy="266672"/>
          </a:xfrm>
          <a:prstGeom prst="rect">
            <a:avLst/>
          </a:prstGeom>
        </p:spPr>
        <p:txBody>
          <a:bodyPr lIns="0" tIns="0" rIns="0" bIns="0" rtlCol="0" anchor="t">
            <a:spAutoFit/>
          </a:bodyPr>
          <a:lstStyle/>
          <a:p>
            <a:pPr algn="l">
              <a:lnSpc>
                <a:spcPts val="2101"/>
              </a:lnSpc>
            </a:pPr>
            <a:r>
              <a:rPr lang="en-US" sz="1501" b="1">
                <a:solidFill>
                  <a:srgbClr val="FFFFFF"/>
                </a:solidFill>
                <a:latin typeface="Montserrat Bold"/>
                <a:ea typeface="Montserrat Bold"/>
                <a:cs typeface="Montserrat Bold"/>
                <a:sym typeface="Montserrat Bold"/>
              </a:rPr>
              <a:t>EHB420E — ARTIFICIAL NEURAL NETWORKS | TERM PROJECT</a:t>
            </a:r>
          </a:p>
        </p:txBody>
      </p:sp>
      <p:sp>
        <p:nvSpPr>
          <p:cNvPr id="7" name="TextBox 7"/>
          <p:cNvSpPr txBox="1"/>
          <p:nvPr/>
        </p:nvSpPr>
        <p:spPr>
          <a:xfrm>
            <a:off x="685800" y="1958207"/>
            <a:ext cx="10820400" cy="1080770"/>
          </a:xfrm>
          <a:prstGeom prst="rect">
            <a:avLst/>
          </a:prstGeom>
        </p:spPr>
        <p:txBody>
          <a:bodyPr lIns="0" tIns="0" rIns="0" bIns="0" rtlCol="0" anchor="t">
            <a:spAutoFit/>
          </a:bodyPr>
          <a:lstStyle/>
          <a:p>
            <a:pPr algn="l">
              <a:lnSpc>
                <a:spcPts val="4239"/>
              </a:lnSpc>
            </a:pPr>
            <a:r>
              <a:rPr lang="en-US" sz="3999" b="1">
                <a:solidFill>
                  <a:srgbClr val="FFFFFF"/>
                </a:solidFill>
                <a:latin typeface="Montserrat Bold"/>
                <a:ea typeface="Montserrat Bold"/>
                <a:cs typeface="Montserrat Bold"/>
                <a:sym typeface="Montserrat Bold"/>
              </a:rPr>
              <a:t>Accent and Language Identification from Speech</a:t>
            </a:r>
          </a:p>
        </p:txBody>
      </p:sp>
      <p:sp>
        <p:nvSpPr>
          <p:cNvPr id="8" name="TextBox 8"/>
          <p:cNvSpPr txBox="1"/>
          <p:nvPr/>
        </p:nvSpPr>
        <p:spPr>
          <a:xfrm>
            <a:off x="1198807" y="2967780"/>
            <a:ext cx="49797" cy="326993"/>
          </a:xfrm>
          <a:prstGeom prst="rect">
            <a:avLst/>
          </a:prstGeom>
        </p:spPr>
        <p:txBody>
          <a:bodyPr lIns="0" tIns="0" rIns="0" bIns="0" rtlCol="0" anchor="t">
            <a:spAutoFit/>
          </a:bodyPr>
          <a:lstStyle/>
          <a:p>
            <a:pPr algn="l">
              <a:lnSpc>
                <a:spcPts val="2381"/>
              </a:lnSpc>
            </a:pPr>
            <a:r>
              <a:rPr lang="en-US" sz="1700">
                <a:solidFill>
                  <a:srgbClr val="CFE3EC"/>
                </a:solidFill>
                <a:latin typeface="Carlito"/>
                <a:ea typeface="Carlito"/>
                <a:cs typeface="Carlito"/>
                <a:sym typeface="Carlito"/>
              </a:rPr>
              <a:t> </a:t>
            </a:r>
          </a:p>
        </p:txBody>
      </p:sp>
      <p:sp>
        <p:nvSpPr>
          <p:cNvPr id="9" name="TextBox 9"/>
          <p:cNvSpPr txBox="1"/>
          <p:nvPr/>
        </p:nvSpPr>
        <p:spPr>
          <a:xfrm>
            <a:off x="685800" y="3173095"/>
            <a:ext cx="10820400" cy="540385"/>
          </a:xfrm>
          <a:prstGeom prst="rect">
            <a:avLst/>
          </a:prstGeom>
        </p:spPr>
        <p:txBody>
          <a:bodyPr lIns="0" tIns="0" rIns="0" bIns="0" rtlCol="0" anchor="t">
            <a:spAutoFit/>
          </a:bodyPr>
          <a:lstStyle/>
          <a:p>
            <a:pPr algn="l">
              <a:lnSpc>
                <a:spcPts val="2120"/>
              </a:lnSpc>
            </a:pPr>
            <a:r>
              <a:rPr lang="en-US" sz="2000" b="1">
                <a:solidFill>
                  <a:srgbClr val="FFFFFF"/>
                </a:solidFill>
                <a:latin typeface="Montserrat Bold"/>
                <a:ea typeface="Montserrat Bold"/>
                <a:cs typeface="Montserrat Bold"/>
                <a:sym typeface="Montserrat Bold"/>
              </a:rPr>
              <a:t>Input Representation or Learning Algorithm? </a:t>
            </a:r>
            <a:r>
              <a:rPr lang="en-US" sz="2000" i="1">
                <a:solidFill>
                  <a:srgbClr val="FFFFFF"/>
                </a:solidFill>
                <a:latin typeface="Montserrat Italics"/>
                <a:ea typeface="Montserrat Italics"/>
                <a:cs typeface="Montserrat Italics"/>
                <a:sym typeface="Montserrat Italics"/>
              </a:rPr>
              <a:t>A controlled Comparison of Gradient Boosting and 1D-CNNs</a:t>
            </a:r>
          </a:p>
        </p:txBody>
      </p:sp>
      <p:sp>
        <p:nvSpPr>
          <p:cNvPr id="10" name="TextBox 10"/>
          <p:cNvSpPr txBox="1"/>
          <p:nvPr/>
        </p:nvSpPr>
        <p:spPr>
          <a:xfrm>
            <a:off x="685800" y="4491342"/>
            <a:ext cx="1749859" cy="407670"/>
          </a:xfrm>
          <a:prstGeom prst="rect">
            <a:avLst/>
          </a:prstGeom>
        </p:spPr>
        <p:txBody>
          <a:bodyPr lIns="0" tIns="0" rIns="0" bIns="0" rtlCol="0" anchor="t">
            <a:spAutoFit/>
          </a:bodyPr>
          <a:lstStyle/>
          <a:p>
            <a:pPr algn="l">
              <a:lnSpc>
                <a:spcPts val="1590"/>
              </a:lnSpc>
            </a:pPr>
            <a:r>
              <a:rPr lang="en-US" sz="1500" b="1">
                <a:solidFill>
                  <a:srgbClr val="FFFFFF"/>
                </a:solidFill>
                <a:latin typeface="Montserrat Bold"/>
                <a:ea typeface="Montserrat Bold"/>
                <a:cs typeface="Montserrat Bold"/>
                <a:sym typeface="Montserrat Bold"/>
              </a:rPr>
              <a:t>Yunus Gökdemir</a:t>
            </a:r>
          </a:p>
          <a:p>
            <a:pPr algn="l">
              <a:lnSpc>
                <a:spcPts val="1590"/>
              </a:lnSpc>
            </a:pPr>
            <a:r>
              <a:rPr lang="en-US" sz="1500">
                <a:solidFill>
                  <a:srgbClr val="FFFFFF"/>
                </a:solidFill>
                <a:latin typeface="Montserrat"/>
                <a:ea typeface="Montserrat"/>
                <a:cs typeface="Montserrat"/>
                <a:sym typeface="Montserrat"/>
              </a:rPr>
              <a:t>040220060</a:t>
            </a:r>
          </a:p>
        </p:txBody>
      </p:sp>
      <p:sp>
        <p:nvSpPr>
          <p:cNvPr id="11" name="TextBox 11"/>
          <p:cNvSpPr txBox="1"/>
          <p:nvPr/>
        </p:nvSpPr>
        <p:spPr>
          <a:xfrm>
            <a:off x="3396387" y="4491342"/>
            <a:ext cx="1749859" cy="407670"/>
          </a:xfrm>
          <a:prstGeom prst="rect">
            <a:avLst/>
          </a:prstGeom>
        </p:spPr>
        <p:txBody>
          <a:bodyPr lIns="0" tIns="0" rIns="0" bIns="0" rtlCol="0" anchor="t">
            <a:spAutoFit/>
          </a:bodyPr>
          <a:lstStyle/>
          <a:p>
            <a:pPr algn="l">
              <a:lnSpc>
                <a:spcPts val="1590"/>
              </a:lnSpc>
            </a:pPr>
            <a:r>
              <a:rPr lang="en-US" sz="1500" b="1">
                <a:solidFill>
                  <a:srgbClr val="FFFFFF"/>
                </a:solidFill>
                <a:latin typeface="Montserrat Bold"/>
                <a:ea typeface="Montserrat Bold"/>
                <a:cs typeface="Montserrat Bold"/>
                <a:sym typeface="Montserrat Bold"/>
              </a:rPr>
              <a:t>Delfin Özdemir</a:t>
            </a:r>
          </a:p>
          <a:p>
            <a:pPr algn="l">
              <a:lnSpc>
                <a:spcPts val="1590"/>
              </a:lnSpc>
            </a:pPr>
            <a:r>
              <a:rPr lang="en-US" sz="1500">
                <a:solidFill>
                  <a:srgbClr val="FFFFFF"/>
                </a:solidFill>
                <a:latin typeface="Montserrat"/>
                <a:ea typeface="Montserrat"/>
                <a:cs typeface="Montserrat"/>
                <a:sym typeface="Montserrat"/>
              </a:rPr>
              <a:t>040220087</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AF1"/>
        </a:solidFill>
        <a:effectLst/>
      </p:bgPr>
    </p:bg>
    <p:spTree>
      <p:nvGrpSpPr>
        <p:cNvPr id="1" name=""/>
        <p:cNvGrpSpPr/>
        <p:nvPr/>
      </p:nvGrpSpPr>
      <p:grpSpPr>
        <a:xfrm>
          <a:off x="0" y="0"/>
          <a:ext cx="0" cy="0"/>
          <a:chOff x="0" y="0"/>
          <a:chExt cx="0" cy="0"/>
        </a:xfrm>
      </p:grpSpPr>
      <p:sp>
        <p:nvSpPr>
          <p:cNvPr id="2" name="Freeform 2"/>
          <p:cNvSpPr/>
          <p:nvPr/>
        </p:nvSpPr>
        <p:spPr>
          <a:xfrm>
            <a:off x="384991" y="1707723"/>
            <a:ext cx="5613397" cy="1452877"/>
          </a:xfrm>
          <a:custGeom>
            <a:avLst/>
            <a:gdLst/>
            <a:ahLst/>
            <a:cxnLst/>
            <a:rect l="l" t="t" r="r" b="b"/>
            <a:pathLst>
              <a:path w="5613397" h="1452877">
                <a:moveTo>
                  <a:pt x="0" y="0"/>
                </a:moveTo>
                <a:lnTo>
                  <a:pt x="5613397" y="0"/>
                </a:lnTo>
                <a:lnTo>
                  <a:pt x="5613397" y="1452877"/>
                </a:lnTo>
                <a:lnTo>
                  <a:pt x="0" y="1452877"/>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6193612" y="1707723"/>
            <a:ext cx="5613397" cy="1452877"/>
          </a:xfrm>
          <a:custGeom>
            <a:avLst/>
            <a:gdLst/>
            <a:ahLst/>
            <a:cxnLst/>
            <a:rect l="l" t="t" r="r" b="b"/>
            <a:pathLst>
              <a:path w="5613397" h="1452877">
                <a:moveTo>
                  <a:pt x="0" y="0"/>
                </a:moveTo>
                <a:lnTo>
                  <a:pt x="5613397" y="0"/>
                </a:lnTo>
                <a:lnTo>
                  <a:pt x="5613397" y="1452877"/>
                </a:lnTo>
                <a:lnTo>
                  <a:pt x="0" y="1452877"/>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p:cNvSpPr/>
          <p:nvPr/>
        </p:nvSpPr>
        <p:spPr>
          <a:xfrm>
            <a:off x="384991" y="3254126"/>
            <a:ext cx="5613397" cy="1452877"/>
          </a:xfrm>
          <a:custGeom>
            <a:avLst/>
            <a:gdLst/>
            <a:ahLst/>
            <a:cxnLst/>
            <a:rect l="l" t="t" r="r" b="b"/>
            <a:pathLst>
              <a:path w="5613397" h="1452877">
                <a:moveTo>
                  <a:pt x="0" y="0"/>
                </a:moveTo>
                <a:lnTo>
                  <a:pt x="5613397" y="0"/>
                </a:lnTo>
                <a:lnTo>
                  <a:pt x="5613397" y="1452877"/>
                </a:lnTo>
                <a:lnTo>
                  <a:pt x="0" y="1452877"/>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5" name="Freeform 5"/>
          <p:cNvSpPr/>
          <p:nvPr/>
        </p:nvSpPr>
        <p:spPr>
          <a:xfrm>
            <a:off x="6193612" y="3262203"/>
            <a:ext cx="5613397" cy="1452877"/>
          </a:xfrm>
          <a:custGeom>
            <a:avLst/>
            <a:gdLst/>
            <a:ahLst/>
            <a:cxnLst/>
            <a:rect l="l" t="t" r="r" b="b"/>
            <a:pathLst>
              <a:path w="5613397" h="1452877">
                <a:moveTo>
                  <a:pt x="0" y="0"/>
                </a:moveTo>
                <a:lnTo>
                  <a:pt x="5613397" y="0"/>
                </a:lnTo>
                <a:lnTo>
                  <a:pt x="5613397" y="1452877"/>
                </a:lnTo>
                <a:lnTo>
                  <a:pt x="0" y="1452877"/>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6" name="Freeform 6"/>
          <p:cNvSpPr/>
          <p:nvPr/>
        </p:nvSpPr>
        <p:spPr>
          <a:xfrm>
            <a:off x="384991" y="4811778"/>
            <a:ext cx="5613397" cy="1452877"/>
          </a:xfrm>
          <a:custGeom>
            <a:avLst/>
            <a:gdLst/>
            <a:ahLst/>
            <a:cxnLst/>
            <a:rect l="l" t="t" r="r" b="b"/>
            <a:pathLst>
              <a:path w="5613397" h="1452877">
                <a:moveTo>
                  <a:pt x="0" y="0"/>
                </a:moveTo>
                <a:lnTo>
                  <a:pt x="5613397" y="0"/>
                </a:lnTo>
                <a:lnTo>
                  <a:pt x="5613397" y="1452876"/>
                </a:lnTo>
                <a:lnTo>
                  <a:pt x="0" y="1452876"/>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7" name="Freeform 7"/>
          <p:cNvSpPr/>
          <p:nvPr/>
        </p:nvSpPr>
        <p:spPr>
          <a:xfrm>
            <a:off x="6193612" y="4800529"/>
            <a:ext cx="5613397" cy="1452877"/>
          </a:xfrm>
          <a:custGeom>
            <a:avLst/>
            <a:gdLst/>
            <a:ahLst/>
            <a:cxnLst/>
            <a:rect l="l" t="t" r="r" b="b"/>
            <a:pathLst>
              <a:path w="5613397" h="1452877">
                <a:moveTo>
                  <a:pt x="0" y="0"/>
                </a:moveTo>
                <a:lnTo>
                  <a:pt x="5613397" y="0"/>
                </a:lnTo>
                <a:lnTo>
                  <a:pt x="5613397" y="1452876"/>
                </a:lnTo>
                <a:lnTo>
                  <a:pt x="0" y="1452876"/>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8" name="TextBox 8"/>
          <p:cNvSpPr txBox="1"/>
          <p:nvPr/>
        </p:nvSpPr>
        <p:spPr>
          <a:xfrm>
            <a:off x="929911" y="5354112"/>
            <a:ext cx="699630" cy="332720"/>
          </a:xfrm>
          <a:prstGeom prst="rect">
            <a:avLst/>
          </a:prstGeom>
        </p:spPr>
        <p:txBody>
          <a:bodyPr wrap="square" lIns="0" tIns="0" rIns="0" bIns="0" rtlCol="0" anchor="t">
            <a:spAutoFit/>
          </a:bodyPr>
          <a:lstStyle/>
          <a:p>
            <a:pPr algn="l">
              <a:lnSpc>
                <a:spcPts val="2801"/>
              </a:lnSpc>
            </a:pPr>
            <a:r>
              <a:rPr lang="en-US" sz="2001" b="1">
                <a:solidFill>
                  <a:srgbClr val="0B2545"/>
                </a:solidFill>
                <a:latin typeface="Montserrat Bold"/>
                <a:ea typeface="Montserrat Bold"/>
                <a:cs typeface="Montserrat Bold"/>
                <a:sym typeface="Montserrat Bold"/>
              </a:rPr>
              <a:t>05</a:t>
            </a:r>
          </a:p>
        </p:txBody>
      </p:sp>
      <p:sp>
        <p:nvSpPr>
          <p:cNvPr id="9" name="TextBox 9"/>
          <p:cNvSpPr txBox="1"/>
          <p:nvPr/>
        </p:nvSpPr>
        <p:spPr>
          <a:xfrm>
            <a:off x="925784" y="3800687"/>
            <a:ext cx="458716" cy="332655"/>
          </a:xfrm>
          <a:prstGeom prst="rect">
            <a:avLst/>
          </a:prstGeom>
        </p:spPr>
        <p:txBody>
          <a:bodyPr wrap="square" lIns="0" tIns="0" rIns="0" bIns="0" rtlCol="0" anchor="t">
            <a:spAutoFit/>
          </a:bodyPr>
          <a:lstStyle/>
          <a:p>
            <a:pPr>
              <a:lnSpc>
                <a:spcPts val="2801"/>
              </a:lnSpc>
            </a:pPr>
            <a:r>
              <a:rPr lang="en-US" sz="2000" b="1">
                <a:solidFill>
                  <a:srgbClr val="0B2545"/>
                </a:solidFill>
                <a:latin typeface="Montserrat Bold"/>
                <a:ea typeface="Montserrat Bold"/>
                <a:cs typeface="Montserrat Bold"/>
                <a:sym typeface="Montserrat Bold"/>
              </a:rPr>
              <a:t>03 </a:t>
            </a:r>
            <a:endParaRPr lang="en-US" sz="2001" b="1">
              <a:solidFill>
                <a:srgbClr val="0B2545"/>
              </a:solidFill>
              <a:latin typeface="Montserrat Bold"/>
              <a:ea typeface="Montserrat Bold"/>
              <a:cs typeface="Montserrat Bold"/>
              <a:sym typeface="Montserrat Bold"/>
            </a:endParaRPr>
          </a:p>
        </p:txBody>
      </p:sp>
      <p:sp>
        <p:nvSpPr>
          <p:cNvPr id="10" name="TextBox 10"/>
          <p:cNvSpPr txBox="1"/>
          <p:nvPr/>
        </p:nvSpPr>
        <p:spPr>
          <a:xfrm>
            <a:off x="934872" y="2245152"/>
            <a:ext cx="2255463" cy="332720"/>
          </a:xfrm>
          <a:prstGeom prst="rect">
            <a:avLst/>
          </a:prstGeom>
        </p:spPr>
        <p:txBody>
          <a:bodyPr wrap="square" lIns="0" tIns="0" rIns="0" bIns="0" rtlCol="0" anchor="t">
            <a:spAutoFit/>
          </a:bodyPr>
          <a:lstStyle/>
          <a:p>
            <a:pPr algn="l">
              <a:lnSpc>
                <a:spcPts val="2801"/>
              </a:lnSpc>
            </a:pPr>
            <a:r>
              <a:rPr lang="en-US" sz="2001" b="1">
                <a:solidFill>
                  <a:srgbClr val="0B2545"/>
                </a:solidFill>
                <a:latin typeface="Montserrat Bold"/>
                <a:ea typeface="Montserrat Bold"/>
                <a:cs typeface="Montserrat Bold"/>
                <a:sym typeface="Montserrat Bold"/>
              </a:rPr>
              <a:t>01</a:t>
            </a:r>
          </a:p>
        </p:txBody>
      </p:sp>
      <p:sp>
        <p:nvSpPr>
          <p:cNvPr id="11" name="TextBox 11"/>
          <p:cNvSpPr txBox="1"/>
          <p:nvPr/>
        </p:nvSpPr>
        <p:spPr>
          <a:xfrm>
            <a:off x="6750301" y="3799632"/>
            <a:ext cx="973963" cy="332720"/>
          </a:xfrm>
          <a:prstGeom prst="rect">
            <a:avLst/>
          </a:prstGeom>
        </p:spPr>
        <p:txBody>
          <a:bodyPr wrap="square" lIns="0" tIns="0" rIns="0" bIns="0" rtlCol="0" anchor="t">
            <a:spAutoFit/>
          </a:bodyPr>
          <a:lstStyle/>
          <a:p>
            <a:pPr algn="l">
              <a:lnSpc>
                <a:spcPts val="2801"/>
              </a:lnSpc>
            </a:pPr>
            <a:r>
              <a:rPr lang="en-US" sz="2001" b="1">
                <a:solidFill>
                  <a:srgbClr val="0B2545"/>
                </a:solidFill>
                <a:latin typeface="Montserrat Bold"/>
                <a:ea typeface="Montserrat Bold"/>
                <a:cs typeface="Montserrat Bold"/>
                <a:sym typeface="Montserrat Bold"/>
              </a:rPr>
              <a:t>04</a:t>
            </a:r>
          </a:p>
        </p:txBody>
      </p:sp>
      <p:sp>
        <p:nvSpPr>
          <p:cNvPr id="12" name="TextBox 12"/>
          <p:cNvSpPr txBox="1"/>
          <p:nvPr/>
        </p:nvSpPr>
        <p:spPr>
          <a:xfrm>
            <a:off x="6752463" y="5354112"/>
            <a:ext cx="1002501" cy="332720"/>
          </a:xfrm>
          <a:prstGeom prst="rect">
            <a:avLst/>
          </a:prstGeom>
        </p:spPr>
        <p:txBody>
          <a:bodyPr wrap="square" lIns="0" tIns="0" rIns="0" bIns="0" rtlCol="0" anchor="t">
            <a:spAutoFit/>
          </a:bodyPr>
          <a:lstStyle/>
          <a:p>
            <a:pPr algn="l">
              <a:lnSpc>
                <a:spcPts val="2801"/>
              </a:lnSpc>
            </a:pPr>
            <a:r>
              <a:rPr lang="en-US" sz="2001" b="1">
                <a:solidFill>
                  <a:srgbClr val="0B2545"/>
                </a:solidFill>
                <a:latin typeface="Montserrat Bold"/>
                <a:ea typeface="Montserrat Bold"/>
                <a:cs typeface="Montserrat Bold"/>
                <a:sym typeface="Montserrat Bold"/>
              </a:rPr>
              <a:t>06</a:t>
            </a:r>
          </a:p>
        </p:txBody>
      </p:sp>
      <p:sp>
        <p:nvSpPr>
          <p:cNvPr id="13" name="TextBox 13"/>
          <p:cNvSpPr txBox="1"/>
          <p:nvPr/>
        </p:nvSpPr>
        <p:spPr>
          <a:xfrm>
            <a:off x="6756425" y="2245152"/>
            <a:ext cx="687882" cy="332720"/>
          </a:xfrm>
          <a:prstGeom prst="rect">
            <a:avLst/>
          </a:prstGeom>
        </p:spPr>
        <p:txBody>
          <a:bodyPr wrap="square" lIns="0" tIns="0" rIns="0" bIns="0" rtlCol="0" anchor="t">
            <a:spAutoFit/>
          </a:bodyPr>
          <a:lstStyle/>
          <a:p>
            <a:pPr algn="l">
              <a:lnSpc>
                <a:spcPts val="2801"/>
              </a:lnSpc>
            </a:pPr>
            <a:r>
              <a:rPr lang="en-US" sz="2001" b="1">
                <a:solidFill>
                  <a:srgbClr val="0B2545"/>
                </a:solidFill>
                <a:latin typeface="Montserrat Bold"/>
                <a:ea typeface="Montserrat Bold"/>
                <a:cs typeface="Montserrat Bold"/>
                <a:sym typeface="Montserrat Bold"/>
              </a:rPr>
              <a:t>02</a:t>
            </a:r>
          </a:p>
        </p:txBody>
      </p:sp>
      <p:sp>
        <p:nvSpPr>
          <p:cNvPr id="14" name="TextBox 14"/>
          <p:cNvSpPr txBox="1"/>
          <p:nvPr/>
        </p:nvSpPr>
        <p:spPr>
          <a:xfrm>
            <a:off x="1653164" y="5253776"/>
            <a:ext cx="3077051" cy="549890"/>
          </a:xfrm>
          <a:prstGeom prst="rect">
            <a:avLst/>
          </a:prstGeom>
        </p:spPr>
        <p:txBody>
          <a:bodyPr lIns="0" tIns="0" rIns="0" bIns="0" rtlCol="0" anchor="t">
            <a:spAutoFit/>
          </a:bodyPr>
          <a:lstStyle/>
          <a:p>
            <a:pPr algn="l">
              <a:lnSpc>
                <a:spcPts val="2381"/>
              </a:lnSpc>
            </a:pPr>
            <a:r>
              <a:rPr lang="en-US" sz="1700" b="1">
                <a:solidFill>
                  <a:srgbClr val="FFFFFF"/>
                </a:solidFill>
                <a:latin typeface="Montserrat Bold"/>
                <a:ea typeface="Montserrat Bold"/>
                <a:cs typeface="Montserrat Bold"/>
                <a:sym typeface="Montserrat Bold"/>
              </a:rPr>
              <a:t>Results &amp; Analysis</a:t>
            </a:r>
          </a:p>
          <a:p>
            <a:pPr algn="l">
              <a:lnSpc>
                <a:spcPts val="2101"/>
              </a:lnSpc>
            </a:pPr>
            <a:r>
              <a:rPr lang="en-US" sz="1500">
                <a:solidFill>
                  <a:srgbClr val="FFFFFF"/>
                </a:solidFill>
                <a:latin typeface="Montserrat"/>
                <a:ea typeface="Montserrat"/>
                <a:cs typeface="Montserrat"/>
                <a:sym typeface="Montserrat"/>
              </a:rPr>
              <a:t>Accuracy, error analysis, training</a:t>
            </a:r>
          </a:p>
        </p:txBody>
      </p:sp>
      <p:sp>
        <p:nvSpPr>
          <p:cNvPr id="15" name="TextBox 15"/>
          <p:cNvSpPr txBox="1"/>
          <p:nvPr/>
        </p:nvSpPr>
        <p:spPr>
          <a:xfrm>
            <a:off x="2242528" y="5675809"/>
            <a:ext cx="41672" cy="206372"/>
          </a:xfrm>
          <a:prstGeom prst="rect">
            <a:avLst/>
          </a:prstGeom>
        </p:spPr>
        <p:txBody>
          <a:bodyPr lIns="0" tIns="0" rIns="0" bIns="0" rtlCol="0" anchor="t">
            <a:spAutoFit/>
          </a:bodyPr>
          <a:lstStyle/>
          <a:p>
            <a:pPr algn="l">
              <a:lnSpc>
                <a:spcPts val="1750"/>
              </a:lnSpc>
            </a:pPr>
            <a:r>
              <a:rPr lang="en-US" sz="1250">
                <a:solidFill>
                  <a:srgbClr val="5B6B7B"/>
                </a:solidFill>
                <a:latin typeface="Montserrat"/>
                <a:ea typeface="Montserrat"/>
                <a:cs typeface="Montserrat"/>
                <a:sym typeface="Montserrat"/>
              </a:rPr>
              <a:t> </a:t>
            </a:r>
          </a:p>
        </p:txBody>
      </p:sp>
      <p:sp>
        <p:nvSpPr>
          <p:cNvPr id="16" name="TextBox 16"/>
          <p:cNvSpPr txBox="1"/>
          <p:nvPr/>
        </p:nvSpPr>
        <p:spPr>
          <a:xfrm>
            <a:off x="1639395" y="3700351"/>
            <a:ext cx="3202900" cy="549890"/>
          </a:xfrm>
          <a:prstGeom prst="rect">
            <a:avLst/>
          </a:prstGeom>
        </p:spPr>
        <p:txBody>
          <a:bodyPr lIns="0" tIns="0" rIns="0" bIns="0" rtlCol="0" anchor="t">
            <a:spAutoFit/>
          </a:bodyPr>
          <a:lstStyle/>
          <a:p>
            <a:pPr algn="l">
              <a:lnSpc>
                <a:spcPts val="2381"/>
              </a:lnSpc>
            </a:pPr>
            <a:r>
              <a:rPr lang="en-US" sz="1700" b="1">
                <a:solidFill>
                  <a:srgbClr val="FFFFFF"/>
                </a:solidFill>
                <a:latin typeface="Montserrat Bold"/>
                <a:ea typeface="Montserrat Bold"/>
                <a:cs typeface="Montserrat Bold"/>
                <a:sym typeface="Montserrat Bold"/>
              </a:rPr>
              <a:t>Two Representations</a:t>
            </a:r>
          </a:p>
          <a:p>
            <a:pPr algn="l">
              <a:lnSpc>
                <a:spcPts val="2101"/>
              </a:lnSpc>
            </a:pPr>
            <a:r>
              <a:rPr lang="en-US" sz="1500">
                <a:solidFill>
                  <a:srgbClr val="FFFFFF"/>
                </a:solidFill>
                <a:latin typeface="Montserrat"/>
                <a:ea typeface="Montserrat"/>
                <a:cs typeface="Montserrat"/>
                <a:sym typeface="Montserrat"/>
              </a:rPr>
              <a:t>Summary statistics vs. time series</a:t>
            </a:r>
          </a:p>
        </p:txBody>
      </p:sp>
      <p:sp>
        <p:nvSpPr>
          <p:cNvPr id="17" name="TextBox 17"/>
          <p:cNvSpPr txBox="1"/>
          <p:nvPr/>
        </p:nvSpPr>
        <p:spPr>
          <a:xfrm>
            <a:off x="2251577" y="4121329"/>
            <a:ext cx="41672" cy="206372"/>
          </a:xfrm>
          <a:prstGeom prst="rect">
            <a:avLst/>
          </a:prstGeom>
        </p:spPr>
        <p:txBody>
          <a:bodyPr lIns="0" tIns="0" rIns="0" bIns="0" rtlCol="0" anchor="t">
            <a:spAutoFit/>
          </a:bodyPr>
          <a:lstStyle/>
          <a:p>
            <a:pPr algn="l">
              <a:lnSpc>
                <a:spcPts val="1750"/>
              </a:lnSpc>
            </a:pPr>
            <a:r>
              <a:rPr lang="en-US" sz="1250">
                <a:solidFill>
                  <a:srgbClr val="5B6B7B"/>
                </a:solidFill>
                <a:latin typeface="Montserrat"/>
                <a:ea typeface="Montserrat"/>
                <a:cs typeface="Montserrat"/>
                <a:sym typeface="Montserrat"/>
              </a:rPr>
              <a:t> </a:t>
            </a:r>
          </a:p>
        </p:txBody>
      </p:sp>
      <p:sp>
        <p:nvSpPr>
          <p:cNvPr id="18" name="TextBox 18"/>
          <p:cNvSpPr txBox="1"/>
          <p:nvPr/>
        </p:nvSpPr>
        <p:spPr>
          <a:xfrm>
            <a:off x="1639395" y="2144929"/>
            <a:ext cx="3707130" cy="549890"/>
          </a:xfrm>
          <a:prstGeom prst="rect">
            <a:avLst/>
          </a:prstGeom>
        </p:spPr>
        <p:txBody>
          <a:bodyPr lIns="0" tIns="0" rIns="0" bIns="0" rtlCol="0" anchor="t">
            <a:spAutoFit/>
          </a:bodyPr>
          <a:lstStyle/>
          <a:p>
            <a:pPr algn="l">
              <a:lnSpc>
                <a:spcPts val="2381"/>
              </a:lnSpc>
            </a:pPr>
            <a:r>
              <a:rPr lang="en-US" sz="1700" b="1">
                <a:solidFill>
                  <a:srgbClr val="FFFFFF"/>
                </a:solidFill>
                <a:latin typeface="Montserrat Bold"/>
                <a:ea typeface="Montserrat Bold"/>
                <a:cs typeface="Montserrat Bold"/>
                <a:sym typeface="Montserrat Bold"/>
              </a:rPr>
              <a:t>Problem &amp; Motivation</a:t>
            </a:r>
          </a:p>
          <a:p>
            <a:pPr algn="l">
              <a:lnSpc>
                <a:spcPts val="2101"/>
              </a:lnSpc>
            </a:pPr>
            <a:r>
              <a:rPr lang="en-US" sz="1500">
                <a:solidFill>
                  <a:srgbClr val="FFFFFF"/>
                </a:solidFill>
                <a:latin typeface="Montserrat"/>
                <a:ea typeface="Montserrat"/>
                <a:cs typeface="Montserrat"/>
                <a:sym typeface="Montserrat"/>
              </a:rPr>
              <a:t>Why does accent/language ID matter?</a:t>
            </a:r>
          </a:p>
        </p:txBody>
      </p:sp>
      <p:sp>
        <p:nvSpPr>
          <p:cNvPr id="19" name="TextBox 19"/>
          <p:cNvSpPr txBox="1"/>
          <p:nvPr/>
        </p:nvSpPr>
        <p:spPr>
          <a:xfrm>
            <a:off x="1931994" y="2566849"/>
            <a:ext cx="41672" cy="206372"/>
          </a:xfrm>
          <a:prstGeom prst="rect">
            <a:avLst/>
          </a:prstGeom>
        </p:spPr>
        <p:txBody>
          <a:bodyPr lIns="0" tIns="0" rIns="0" bIns="0" rtlCol="0" anchor="t">
            <a:spAutoFit/>
          </a:bodyPr>
          <a:lstStyle/>
          <a:p>
            <a:pPr algn="l">
              <a:lnSpc>
                <a:spcPts val="1750"/>
              </a:lnSpc>
            </a:pPr>
            <a:r>
              <a:rPr lang="en-US" sz="1250">
                <a:solidFill>
                  <a:srgbClr val="5B6B7B"/>
                </a:solidFill>
                <a:latin typeface="Montserrat"/>
                <a:ea typeface="Montserrat"/>
                <a:cs typeface="Montserrat"/>
                <a:sym typeface="Montserrat"/>
              </a:rPr>
              <a:t> </a:t>
            </a:r>
          </a:p>
        </p:txBody>
      </p:sp>
      <p:sp>
        <p:nvSpPr>
          <p:cNvPr id="20" name="TextBox 20"/>
          <p:cNvSpPr txBox="1"/>
          <p:nvPr/>
        </p:nvSpPr>
        <p:spPr>
          <a:xfrm>
            <a:off x="7445835" y="3700351"/>
            <a:ext cx="4083963" cy="549890"/>
          </a:xfrm>
          <a:prstGeom prst="rect">
            <a:avLst/>
          </a:prstGeom>
        </p:spPr>
        <p:txBody>
          <a:bodyPr lIns="0" tIns="0" rIns="0" bIns="0" rtlCol="0" anchor="t">
            <a:spAutoFit/>
          </a:bodyPr>
          <a:lstStyle/>
          <a:p>
            <a:pPr algn="l">
              <a:lnSpc>
                <a:spcPts val="2381"/>
              </a:lnSpc>
            </a:pPr>
            <a:r>
              <a:rPr lang="en-US" sz="1700" b="1">
                <a:solidFill>
                  <a:srgbClr val="FFFFFF"/>
                </a:solidFill>
                <a:latin typeface="Montserrat Bold"/>
                <a:ea typeface="Montserrat Bold"/>
                <a:cs typeface="Montserrat Bold"/>
                <a:sym typeface="Montserrat Bold"/>
              </a:rPr>
              <a:t>Three Models</a:t>
            </a:r>
          </a:p>
          <a:p>
            <a:pPr algn="l">
              <a:lnSpc>
                <a:spcPts val="2101"/>
              </a:lnSpc>
            </a:pPr>
            <a:r>
              <a:rPr lang="en-US" sz="1500">
                <a:solidFill>
                  <a:srgbClr val="FFFFFF"/>
                </a:solidFill>
                <a:latin typeface="Montserrat"/>
                <a:ea typeface="Montserrat"/>
                <a:cs typeface="Montserrat"/>
                <a:sym typeface="Montserrat"/>
              </a:rPr>
              <a:t>XGBoost, Summary-CNN, Time-Series CNN</a:t>
            </a:r>
          </a:p>
        </p:txBody>
      </p:sp>
      <p:sp>
        <p:nvSpPr>
          <p:cNvPr id="21" name="TextBox 21"/>
          <p:cNvSpPr txBox="1"/>
          <p:nvPr/>
        </p:nvSpPr>
        <p:spPr>
          <a:xfrm>
            <a:off x="8027375" y="4121329"/>
            <a:ext cx="41672" cy="206372"/>
          </a:xfrm>
          <a:prstGeom prst="rect">
            <a:avLst/>
          </a:prstGeom>
        </p:spPr>
        <p:txBody>
          <a:bodyPr lIns="0" tIns="0" rIns="0" bIns="0" rtlCol="0" anchor="t">
            <a:spAutoFit/>
          </a:bodyPr>
          <a:lstStyle/>
          <a:p>
            <a:pPr algn="l">
              <a:lnSpc>
                <a:spcPts val="1750"/>
              </a:lnSpc>
            </a:pPr>
            <a:r>
              <a:rPr lang="en-US" sz="1250">
                <a:solidFill>
                  <a:srgbClr val="5B6B7B"/>
                </a:solidFill>
                <a:latin typeface="Montserrat"/>
                <a:ea typeface="Montserrat"/>
                <a:cs typeface="Montserrat"/>
                <a:sym typeface="Montserrat"/>
              </a:rPr>
              <a:t> </a:t>
            </a:r>
          </a:p>
        </p:txBody>
      </p:sp>
      <p:sp>
        <p:nvSpPr>
          <p:cNvPr id="22" name="TextBox 22"/>
          <p:cNvSpPr txBox="1"/>
          <p:nvPr/>
        </p:nvSpPr>
        <p:spPr>
          <a:xfrm>
            <a:off x="7445835" y="2144929"/>
            <a:ext cx="4020264" cy="549890"/>
          </a:xfrm>
          <a:prstGeom prst="rect">
            <a:avLst/>
          </a:prstGeom>
        </p:spPr>
        <p:txBody>
          <a:bodyPr lIns="0" tIns="0" rIns="0" bIns="0" rtlCol="0" anchor="t">
            <a:spAutoFit/>
          </a:bodyPr>
          <a:lstStyle/>
          <a:p>
            <a:pPr algn="l">
              <a:lnSpc>
                <a:spcPts val="2381"/>
              </a:lnSpc>
            </a:pPr>
            <a:r>
              <a:rPr lang="en-US" sz="1700" b="1">
                <a:solidFill>
                  <a:srgbClr val="FFFFFF"/>
                </a:solidFill>
                <a:latin typeface="Montserrat Bold"/>
                <a:ea typeface="Montserrat Bold"/>
                <a:cs typeface="Montserrat Bold"/>
                <a:sym typeface="Montserrat Bold"/>
              </a:rPr>
              <a:t>Data &amp; Process</a:t>
            </a:r>
          </a:p>
          <a:p>
            <a:pPr algn="l">
              <a:lnSpc>
                <a:spcPts val="2101"/>
              </a:lnSpc>
            </a:pPr>
            <a:r>
              <a:rPr lang="en-US" sz="1500">
                <a:solidFill>
                  <a:srgbClr val="FFFFFF"/>
                </a:solidFill>
                <a:latin typeface="Montserrat"/>
                <a:ea typeface="Montserrat"/>
                <a:cs typeface="Montserrat"/>
                <a:sym typeface="Montserrat"/>
              </a:rPr>
              <a:t>Common Voice,the disk problem, pipeline</a:t>
            </a:r>
          </a:p>
        </p:txBody>
      </p:sp>
      <p:sp>
        <p:nvSpPr>
          <p:cNvPr id="23" name="TextBox 23"/>
          <p:cNvSpPr txBox="1"/>
          <p:nvPr/>
        </p:nvSpPr>
        <p:spPr>
          <a:xfrm>
            <a:off x="8032137" y="2566849"/>
            <a:ext cx="41672" cy="206372"/>
          </a:xfrm>
          <a:prstGeom prst="rect">
            <a:avLst/>
          </a:prstGeom>
        </p:spPr>
        <p:txBody>
          <a:bodyPr lIns="0" tIns="0" rIns="0" bIns="0" rtlCol="0" anchor="t">
            <a:spAutoFit/>
          </a:bodyPr>
          <a:lstStyle/>
          <a:p>
            <a:pPr algn="l">
              <a:lnSpc>
                <a:spcPts val="1750"/>
              </a:lnSpc>
            </a:pPr>
            <a:r>
              <a:rPr lang="en-US" sz="1250">
                <a:solidFill>
                  <a:srgbClr val="5B6B7B"/>
                </a:solidFill>
                <a:latin typeface="Montserrat"/>
                <a:ea typeface="Montserrat"/>
                <a:cs typeface="Montserrat"/>
                <a:sym typeface="Montserrat"/>
              </a:rPr>
              <a:t> </a:t>
            </a:r>
          </a:p>
        </p:txBody>
      </p:sp>
      <p:sp>
        <p:nvSpPr>
          <p:cNvPr id="24" name="TextBox 24"/>
          <p:cNvSpPr txBox="1"/>
          <p:nvPr/>
        </p:nvSpPr>
        <p:spPr>
          <a:xfrm>
            <a:off x="7445835" y="5248984"/>
            <a:ext cx="2764750" cy="549890"/>
          </a:xfrm>
          <a:prstGeom prst="rect">
            <a:avLst/>
          </a:prstGeom>
        </p:spPr>
        <p:txBody>
          <a:bodyPr lIns="0" tIns="0" rIns="0" bIns="0" rtlCol="0" anchor="t">
            <a:spAutoFit/>
          </a:bodyPr>
          <a:lstStyle/>
          <a:p>
            <a:pPr algn="l">
              <a:lnSpc>
                <a:spcPts val="2381"/>
              </a:lnSpc>
            </a:pPr>
            <a:r>
              <a:rPr lang="en-US" sz="1700" b="1" spc="1">
                <a:solidFill>
                  <a:srgbClr val="FFFFFF"/>
                </a:solidFill>
                <a:latin typeface="Montserrat Bold"/>
                <a:ea typeface="Montserrat Bold"/>
                <a:cs typeface="Montserrat Bold"/>
                <a:sym typeface="Montserrat Bold"/>
              </a:rPr>
              <a:t>Demo &amp; Conclusion</a:t>
            </a:r>
          </a:p>
          <a:p>
            <a:pPr algn="l">
              <a:lnSpc>
                <a:spcPts val="2101"/>
              </a:lnSpc>
            </a:pPr>
            <a:r>
              <a:rPr lang="en-US" sz="1500" spc="1">
                <a:solidFill>
                  <a:srgbClr val="FFFFFF"/>
                </a:solidFill>
                <a:latin typeface="Montserrat"/>
                <a:ea typeface="Montserrat"/>
                <a:cs typeface="Montserrat"/>
                <a:sym typeface="Montserrat"/>
              </a:rPr>
              <a:t>Live interface and takeaways</a:t>
            </a:r>
          </a:p>
        </p:txBody>
      </p:sp>
      <p:sp>
        <p:nvSpPr>
          <p:cNvPr id="25" name="TextBox 25"/>
          <p:cNvSpPr txBox="1"/>
          <p:nvPr/>
        </p:nvSpPr>
        <p:spPr>
          <a:xfrm>
            <a:off x="7697153" y="5675809"/>
            <a:ext cx="41672" cy="206372"/>
          </a:xfrm>
          <a:prstGeom prst="rect">
            <a:avLst/>
          </a:prstGeom>
        </p:spPr>
        <p:txBody>
          <a:bodyPr lIns="0" tIns="0" rIns="0" bIns="0" rtlCol="0" anchor="t">
            <a:spAutoFit/>
          </a:bodyPr>
          <a:lstStyle/>
          <a:p>
            <a:pPr algn="l">
              <a:lnSpc>
                <a:spcPts val="1750"/>
              </a:lnSpc>
            </a:pPr>
            <a:r>
              <a:rPr lang="en-US" sz="1250">
                <a:solidFill>
                  <a:srgbClr val="5B6B7B"/>
                </a:solidFill>
                <a:latin typeface="Montserrat"/>
                <a:ea typeface="Montserrat"/>
                <a:cs typeface="Montserrat"/>
                <a:sym typeface="Montserrat"/>
              </a:rPr>
              <a:t> </a:t>
            </a:r>
          </a:p>
        </p:txBody>
      </p:sp>
      <p:sp>
        <p:nvSpPr>
          <p:cNvPr id="26" name="TextBox 26"/>
          <p:cNvSpPr txBox="1"/>
          <p:nvPr/>
        </p:nvSpPr>
        <p:spPr>
          <a:xfrm>
            <a:off x="685800" y="628650"/>
            <a:ext cx="4599960" cy="231329"/>
          </a:xfrm>
          <a:prstGeom prst="rect">
            <a:avLst/>
          </a:prstGeom>
        </p:spPr>
        <p:txBody>
          <a:bodyPr lIns="0" tIns="0" rIns="0" bIns="0" rtlCol="0" anchor="t">
            <a:spAutoFit/>
          </a:bodyPr>
          <a:lstStyle/>
          <a:p>
            <a:pPr algn="l">
              <a:lnSpc>
                <a:spcPts val="2092"/>
              </a:lnSpc>
            </a:pPr>
            <a:r>
              <a:rPr lang="en-US" sz="1199" b="1" spc="290">
                <a:solidFill>
                  <a:srgbClr val="1C7293"/>
                </a:solidFill>
                <a:latin typeface="Montserrat Bold"/>
                <a:ea typeface="Montserrat Bold"/>
                <a:cs typeface="Montserrat Bold"/>
                <a:sym typeface="Montserrat Bold"/>
              </a:rPr>
              <a:t>AGENDA</a:t>
            </a:r>
          </a:p>
        </p:txBody>
      </p:sp>
      <p:sp>
        <p:nvSpPr>
          <p:cNvPr id="27" name="TextBox 27"/>
          <p:cNvSpPr txBox="1"/>
          <p:nvPr/>
        </p:nvSpPr>
        <p:spPr>
          <a:xfrm>
            <a:off x="685800" y="628650"/>
            <a:ext cx="10957912" cy="795030"/>
          </a:xfrm>
          <a:prstGeom prst="rect">
            <a:avLst/>
          </a:prstGeom>
        </p:spPr>
        <p:txBody>
          <a:bodyPr lIns="0" tIns="0" rIns="0" bIns="0" rtlCol="0" anchor="t">
            <a:spAutoFit/>
          </a:bodyPr>
          <a:lstStyle/>
          <a:p>
            <a:pPr algn="l">
              <a:lnSpc>
                <a:spcPts val="2092"/>
              </a:lnSpc>
            </a:pPr>
            <a:endParaRPr/>
          </a:p>
          <a:p>
            <a:pPr algn="l">
              <a:lnSpc>
                <a:spcPts val="4887"/>
              </a:lnSpc>
            </a:pPr>
            <a:r>
              <a:rPr lang="en-US" sz="2800" b="1">
                <a:solidFill>
                  <a:srgbClr val="0B2545"/>
                </a:solidFill>
                <a:latin typeface="Montserrat Bold"/>
                <a:ea typeface="Montserrat Bold"/>
                <a:cs typeface="Montserrat Bold"/>
                <a:sym typeface="Montserrat Bold"/>
              </a:rPr>
              <a:t>What We’ll Cover Today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AF1"/>
        </a:solidFill>
        <a:effectLst/>
      </p:bgPr>
    </p:bg>
    <p:spTree>
      <p:nvGrpSpPr>
        <p:cNvPr id="1" name=""/>
        <p:cNvGrpSpPr/>
        <p:nvPr/>
      </p:nvGrpSpPr>
      <p:grpSpPr>
        <a:xfrm>
          <a:off x="0" y="0"/>
          <a:ext cx="0" cy="0"/>
          <a:chOff x="0" y="0"/>
          <a:chExt cx="0" cy="0"/>
        </a:xfrm>
      </p:grpSpPr>
      <p:sp>
        <p:nvSpPr>
          <p:cNvPr id="2" name="TextBox 2"/>
          <p:cNvSpPr txBox="1"/>
          <p:nvPr/>
        </p:nvSpPr>
        <p:spPr>
          <a:xfrm>
            <a:off x="2542746" y="1787080"/>
            <a:ext cx="43901" cy="286655"/>
          </a:xfrm>
          <a:prstGeom prst="rect">
            <a:avLst/>
          </a:prstGeom>
        </p:spPr>
        <p:txBody>
          <a:bodyPr lIns="0" tIns="0" rIns="0" bIns="0" rtlCol="0" anchor="t">
            <a:spAutoFit/>
          </a:bodyPr>
          <a:lstStyle/>
          <a:p>
            <a:pPr algn="l">
              <a:lnSpc>
                <a:spcPts val="2099"/>
              </a:lnSpc>
            </a:pPr>
            <a:r>
              <a:rPr lang="en-US" sz="1499">
                <a:solidFill>
                  <a:srgbClr val="1A2A3A"/>
                </a:solidFill>
                <a:latin typeface="Carlito"/>
                <a:ea typeface="Carlito"/>
                <a:cs typeface="Carlito"/>
                <a:sym typeface="Carlito"/>
              </a:rPr>
              <a:t> </a:t>
            </a:r>
          </a:p>
        </p:txBody>
      </p:sp>
      <p:sp>
        <p:nvSpPr>
          <p:cNvPr id="3" name="TextBox 3"/>
          <p:cNvSpPr txBox="1"/>
          <p:nvPr/>
        </p:nvSpPr>
        <p:spPr>
          <a:xfrm>
            <a:off x="731872" y="1763354"/>
            <a:ext cx="6139511" cy="1249693"/>
          </a:xfrm>
          <a:prstGeom prst="rect">
            <a:avLst/>
          </a:prstGeom>
        </p:spPr>
        <p:txBody>
          <a:bodyPr lIns="0" tIns="0" rIns="0" bIns="0" rtlCol="0" anchor="t">
            <a:spAutoFit/>
          </a:bodyPr>
          <a:lstStyle/>
          <a:p>
            <a:pPr algn="l">
              <a:lnSpc>
                <a:spcPts val="2519"/>
              </a:lnSpc>
            </a:pPr>
            <a:r>
              <a:rPr lang="en-US" sz="1799">
                <a:solidFill>
                  <a:srgbClr val="1A2A3A"/>
                </a:solidFill>
                <a:latin typeface="Montserrat"/>
                <a:ea typeface="Montserrat"/>
                <a:cs typeface="Montserrat"/>
                <a:sym typeface="Montserrat"/>
              </a:rPr>
              <a:t>Determining a speaker's language - or even their accent - from just a few seconds of audio is a long-standing problem in speech processing. Reliable identification enables many applications: </a:t>
            </a:r>
          </a:p>
        </p:txBody>
      </p:sp>
      <p:grpSp>
        <p:nvGrpSpPr>
          <p:cNvPr id="4" name="Group 4"/>
          <p:cNvGrpSpPr/>
          <p:nvPr/>
        </p:nvGrpSpPr>
        <p:grpSpPr>
          <a:xfrm>
            <a:off x="731872" y="3394046"/>
            <a:ext cx="4359121" cy="1956597"/>
            <a:chOff x="0" y="0"/>
            <a:chExt cx="5812161" cy="2608796"/>
          </a:xfrm>
        </p:grpSpPr>
        <p:sp>
          <p:nvSpPr>
            <p:cNvPr id="5" name="Freeform 5"/>
            <p:cNvSpPr/>
            <p:nvPr/>
          </p:nvSpPr>
          <p:spPr>
            <a:xfrm>
              <a:off x="0" y="0"/>
              <a:ext cx="341274" cy="341274"/>
            </a:xfrm>
            <a:custGeom>
              <a:avLst/>
              <a:gdLst/>
              <a:ahLst/>
              <a:cxnLst/>
              <a:rect l="l" t="t" r="r" b="b"/>
              <a:pathLst>
                <a:path w="341274" h="341274">
                  <a:moveTo>
                    <a:pt x="0" y="0"/>
                  </a:moveTo>
                  <a:lnTo>
                    <a:pt x="341274" y="0"/>
                  </a:lnTo>
                  <a:lnTo>
                    <a:pt x="341274" y="341274"/>
                  </a:lnTo>
                  <a:lnTo>
                    <a:pt x="0" y="341274"/>
                  </a:lnTo>
                  <a:lnTo>
                    <a:pt x="0" y="0"/>
                  </a:lnTo>
                  <a:close/>
                </a:path>
              </a:pathLst>
            </a:custGeom>
            <a:blipFill>
              <a:blip>
                <a:alphaModFix amt="18999"/>
                <a:extLst>
                  <a:ext uri="{96DAC541-7B7A-43D3-8B79-37D633B846F1}">
                    <asvg:svgBlip xmlns:asvg="http://schemas.microsoft.com/office/drawing/2016/SVG/main" r:embed="rId2"/>
                  </a:ext>
                </a:extLst>
              </a:blip>
              <a:stretch>
                <a:fillRect/>
              </a:stretch>
            </a:blipFill>
          </p:spPr>
        </p:sp>
        <p:sp>
          <p:nvSpPr>
            <p:cNvPr id="6" name="Freeform 6"/>
            <p:cNvSpPr/>
            <p:nvPr/>
          </p:nvSpPr>
          <p:spPr>
            <a:xfrm>
              <a:off x="0" y="756006"/>
              <a:ext cx="341274" cy="341274"/>
            </a:xfrm>
            <a:custGeom>
              <a:avLst/>
              <a:gdLst/>
              <a:ahLst/>
              <a:cxnLst/>
              <a:rect l="l" t="t" r="r" b="b"/>
              <a:pathLst>
                <a:path w="341274" h="341274">
                  <a:moveTo>
                    <a:pt x="0" y="0"/>
                  </a:moveTo>
                  <a:lnTo>
                    <a:pt x="341274" y="0"/>
                  </a:lnTo>
                  <a:lnTo>
                    <a:pt x="341274" y="341274"/>
                  </a:lnTo>
                  <a:lnTo>
                    <a:pt x="0" y="341274"/>
                  </a:lnTo>
                  <a:lnTo>
                    <a:pt x="0" y="0"/>
                  </a:lnTo>
                  <a:close/>
                </a:path>
              </a:pathLst>
            </a:custGeom>
            <a:blipFill>
              <a:blip>
                <a:alphaModFix amt="18999"/>
                <a:extLst>
                  <a:ext uri="{96DAC541-7B7A-43D3-8B79-37D633B846F1}">
                    <asvg:svgBlip xmlns:asvg="http://schemas.microsoft.com/office/drawing/2016/SVG/main" r:embed="rId3"/>
                  </a:ext>
                </a:extLst>
              </a:blip>
              <a:stretch>
                <a:fillRect/>
              </a:stretch>
            </a:blipFill>
          </p:spPr>
        </p:sp>
        <p:sp>
          <p:nvSpPr>
            <p:cNvPr id="7" name="Freeform 7"/>
            <p:cNvSpPr/>
            <p:nvPr/>
          </p:nvSpPr>
          <p:spPr>
            <a:xfrm>
              <a:off x="0" y="1511998"/>
              <a:ext cx="341274" cy="341287"/>
            </a:xfrm>
            <a:custGeom>
              <a:avLst/>
              <a:gdLst/>
              <a:ahLst/>
              <a:cxnLst/>
              <a:rect l="l" t="t" r="r" b="b"/>
              <a:pathLst>
                <a:path w="341274" h="341287">
                  <a:moveTo>
                    <a:pt x="0" y="0"/>
                  </a:moveTo>
                  <a:lnTo>
                    <a:pt x="341274" y="0"/>
                  </a:lnTo>
                  <a:lnTo>
                    <a:pt x="341274" y="341288"/>
                  </a:lnTo>
                  <a:lnTo>
                    <a:pt x="0" y="341288"/>
                  </a:lnTo>
                  <a:lnTo>
                    <a:pt x="0" y="0"/>
                  </a:lnTo>
                  <a:close/>
                </a:path>
              </a:pathLst>
            </a:custGeom>
            <a:blipFill>
              <a:blip>
                <a:alphaModFix amt="18999"/>
                <a:extLst>
                  <a:ext uri="{96DAC541-7B7A-43D3-8B79-37D633B846F1}">
                    <asvg:svgBlip xmlns:asvg="http://schemas.microsoft.com/office/drawing/2016/SVG/main" r:embed="rId4"/>
                  </a:ext>
                </a:extLst>
              </a:blip>
              <a:stretch>
                <a:fillRect/>
              </a:stretch>
            </a:blipFill>
          </p:spPr>
        </p:sp>
        <p:sp>
          <p:nvSpPr>
            <p:cNvPr id="8" name="Freeform 8"/>
            <p:cNvSpPr/>
            <p:nvPr/>
          </p:nvSpPr>
          <p:spPr>
            <a:xfrm>
              <a:off x="0" y="2267522"/>
              <a:ext cx="341274" cy="341274"/>
            </a:xfrm>
            <a:custGeom>
              <a:avLst/>
              <a:gdLst/>
              <a:ahLst/>
              <a:cxnLst/>
              <a:rect l="l" t="t" r="r" b="b"/>
              <a:pathLst>
                <a:path w="341274" h="341274">
                  <a:moveTo>
                    <a:pt x="0" y="0"/>
                  </a:moveTo>
                  <a:lnTo>
                    <a:pt x="341274" y="0"/>
                  </a:lnTo>
                  <a:lnTo>
                    <a:pt x="341274" y="341274"/>
                  </a:lnTo>
                  <a:lnTo>
                    <a:pt x="0" y="341274"/>
                  </a:lnTo>
                  <a:lnTo>
                    <a:pt x="0" y="0"/>
                  </a:lnTo>
                  <a:close/>
                </a:path>
              </a:pathLst>
            </a:custGeom>
            <a:blipFill>
              <a:blip>
                <a:alphaModFix amt="18999"/>
                <a:extLst>
                  <a:ext uri="{96DAC541-7B7A-43D3-8B79-37D633B846F1}">
                    <asvg:svgBlip xmlns:asvg="http://schemas.microsoft.com/office/drawing/2016/SVG/main" r:embed="rId5"/>
                  </a:ext>
                </a:extLst>
              </a:blip>
              <a:stretch>
                <a:fillRect/>
              </a:stretch>
            </a:blipFill>
          </p:spPr>
        </p:sp>
        <p:sp>
          <p:nvSpPr>
            <p:cNvPr id="9" name="TextBox 9"/>
            <p:cNvSpPr txBox="1"/>
            <p:nvPr/>
          </p:nvSpPr>
          <p:spPr>
            <a:xfrm>
              <a:off x="487210" y="674"/>
              <a:ext cx="4359116" cy="311352"/>
            </a:xfrm>
            <a:prstGeom prst="rect">
              <a:avLst/>
            </a:prstGeom>
          </p:spPr>
          <p:txBody>
            <a:bodyPr lIns="0" tIns="0" rIns="0" bIns="0" rtlCol="0" anchor="t">
              <a:spAutoFit/>
            </a:bodyPr>
            <a:lstStyle/>
            <a:p>
              <a:pPr algn="l">
                <a:lnSpc>
                  <a:spcPts val="1960"/>
                </a:lnSpc>
              </a:pPr>
              <a:r>
                <a:rPr lang="en-US" sz="1400" i="1">
                  <a:solidFill>
                    <a:srgbClr val="1A2A3A"/>
                  </a:solidFill>
                  <a:latin typeface="Montserrat Italics"/>
                  <a:ea typeface="Montserrat Italics"/>
                  <a:cs typeface="Montserrat Italics"/>
                  <a:sym typeface="Montserrat Italics"/>
                </a:rPr>
                <a:t>Accent-adaptive speech recognition</a:t>
              </a:r>
            </a:p>
          </p:txBody>
        </p:sp>
        <p:sp>
          <p:nvSpPr>
            <p:cNvPr id="10" name="TextBox 10"/>
            <p:cNvSpPr txBox="1"/>
            <p:nvPr/>
          </p:nvSpPr>
          <p:spPr>
            <a:xfrm>
              <a:off x="507492" y="760002"/>
              <a:ext cx="3893344" cy="311352"/>
            </a:xfrm>
            <a:prstGeom prst="rect">
              <a:avLst/>
            </a:prstGeom>
          </p:spPr>
          <p:txBody>
            <a:bodyPr lIns="0" tIns="0" rIns="0" bIns="0" rtlCol="0" anchor="t">
              <a:spAutoFit/>
            </a:bodyPr>
            <a:lstStyle/>
            <a:p>
              <a:pPr algn="l">
                <a:lnSpc>
                  <a:spcPts val="1960"/>
                </a:lnSpc>
              </a:pPr>
              <a:r>
                <a:rPr lang="en-US" sz="1400" i="1">
                  <a:solidFill>
                    <a:srgbClr val="1A2A3A"/>
                  </a:solidFill>
                  <a:latin typeface="Montserrat Italics"/>
                  <a:ea typeface="Montserrat Italics"/>
                  <a:cs typeface="Montserrat Italics"/>
                  <a:sym typeface="Montserrat Italics"/>
                </a:rPr>
                <a:t>Intelligent routing in call centers</a:t>
              </a:r>
            </a:p>
          </p:txBody>
        </p:sp>
        <p:sp>
          <p:nvSpPr>
            <p:cNvPr id="11" name="TextBox 11"/>
            <p:cNvSpPr txBox="1"/>
            <p:nvPr/>
          </p:nvSpPr>
          <p:spPr>
            <a:xfrm>
              <a:off x="507492" y="1512679"/>
              <a:ext cx="3063081" cy="311352"/>
            </a:xfrm>
            <a:prstGeom prst="rect">
              <a:avLst/>
            </a:prstGeom>
          </p:spPr>
          <p:txBody>
            <a:bodyPr lIns="0" tIns="0" rIns="0" bIns="0" rtlCol="0" anchor="t">
              <a:spAutoFit/>
            </a:bodyPr>
            <a:lstStyle/>
            <a:p>
              <a:pPr algn="l">
                <a:lnSpc>
                  <a:spcPts val="1960"/>
                </a:lnSpc>
              </a:pPr>
              <a:r>
                <a:rPr lang="en-US" sz="1400" i="1">
                  <a:solidFill>
                    <a:srgbClr val="1A2A3A"/>
                  </a:solidFill>
                  <a:latin typeface="Montserrat Italics"/>
                  <a:ea typeface="Montserrat Italics"/>
                  <a:cs typeface="Montserrat Italics"/>
                  <a:sym typeface="Montserrat Italics"/>
                </a:rPr>
                <a:t>Forensic speaker analysis</a:t>
              </a:r>
            </a:p>
          </p:txBody>
        </p:sp>
        <p:sp>
          <p:nvSpPr>
            <p:cNvPr id="12" name="TextBox 12"/>
            <p:cNvSpPr txBox="1"/>
            <p:nvPr/>
          </p:nvSpPr>
          <p:spPr>
            <a:xfrm>
              <a:off x="487210" y="2268195"/>
              <a:ext cx="5324951" cy="311352"/>
            </a:xfrm>
            <a:prstGeom prst="rect">
              <a:avLst/>
            </a:prstGeom>
          </p:spPr>
          <p:txBody>
            <a:bodyPr lIns="0" tIns="0" rIns="0" bIns="0" rtlCol="0" anchor="t">
              <a:spAutoFit/>
            </a:bodyPr>
            <a:lstStyle/>
            <a:p>
              <a:pPr algn="l">
                <a:lnSpc>
                  <a:spcPts val="1960"/>
                </a:lnSpc>
              </a:pPr>
              <a:r>
                <a:rPr lang="en-US" sz="1400" i="1">
                  <a:solidFill>
                    <a:srgbClr val="1A2A3A"/>
                  </a:solidFill>
                  <a:latin typeface="Montserrat Italics"/>
                  <a:ea typeface="Montserrat Italics"/>
                  <a:cs typeface="Montserrat Italics"/>
                  <a:sym typeface="Montserrat Italics"/>
                </a:rPr>
                <a:t>Personalized feedback in language learning</a:t>
              </a:r>
            </a:p>
          </p:txBody>
        </p:sp>
      </p:grpSp>
      <p:sp>
        <p:nvSpPr>
          <p:cNvPr id="13" name="TextBox 13"/>
          <p:cNvSpPr txBox="1"/>
          <p:nvPr/>
        </p:nvSpPr>
        <p:spPr>
          <a:xfrm>
            <a:off x="685800" y="628650"/>
            <a:ext cx="10957912" cy="795030"/>
          </a:xfrm>
          <a:prstGeom prst="rect">
            <a:avLst/>
          </a:prstGeom>
        </p:spPr>
        <p:txBody>
          <a:bodyPr lIns="0" tIns="0" rIns="0" bIns="0" rtlCol="0" anchor="t">
            <a:spAutoFit/>
          </a:bodyPr>
          <a:lstStyle/>
          <a:p>
            <a:pPr algn="l">
              <a:lnSpc>
                <a:spcPts val="2092"/>
              </a:lnSpc>
            </a:pPr>
            <a:endParaRPr/>
          </a:p>
          <a:p>
            <a:pPr algn="l">
              <a:lnSpc>
                <a:spcPts val="4887"/>
              </a:lnSpc>
            </a:pPr>
            <a:r>
              <a:rPr lang="en-US" sz="2800" b="1">
                <a:solidFill>
                  <a:srgbClr val="0B2545"/>
                </a:solidFill>
                <a:latin typeface="Montserrat Bold"/>
                <a:ea typeface="Montserrat Bold"/>
                <a:cs typeface="Montserrat Bold"/>
                <a:sym typeface="Montserrat Bold"/>
              </a:rPr>
              <a:t>Identifying Language from a Few Seconds of Speech</a:t>
            </a:r>
          </a:p>
        </p:txBody>
      </p:sp>
      <p:sp>
        <p:nvSpPr>
          <p:cNvPr id="14" name="TextBox 14"/>
          <p:cNvSpPr txBox="1"/>
          <p:nvPr/>
        </p:nvSpPr>
        <p:spPr>
          <a:xfrm>
            <a:off x="685800" y="628650"/>
            <a:ext cx="4599960" cy="231329"/>
          </a:xfrm>
          <a:prstGeom prst="rect">
            <a:avLst/>
          </a:prstGeom>
        </p:spPr>
        <p:txBody>
          <a:bodyPr lIns="0" tIns="0" rIns="0" bIns="0" rtlCol="0" anchor="t">
            <a:spAutoFit/>
          </a:bodyPr>
          <a:lstStyle/>
          <a:p>
            <a:pPr algn="l">
              <a:lnSpc>
                <a:spcPts val="2092"/>
              </a:lnSpc>
            </a:pPr>
            <a:r>
              <a:rPr lang="en-US" sz="1199" b="1" spc="290">
                <a:solidFill>
                  <a:srgbClr val="1C7293"/>
                </a:solidFill>
                <a:latin typeface="Montserrat Bold"/>
                <a:ea typeface="Montserrat Bold"/>
                <a:cs typeface="Montserrat Bold"/>
                <a:sym typeface="Montserrat Bold"/>
              </a:rPr>
              <a:t>01 . PROBLEM</a:t>
            </a:r>
          </a:p>
        </p:txBody>
      </p:sp>
      <p:grpSp>
        <p:nvGrpSpPr>
          <p:cNvPr id="15" name="Group 15"/>
          <p:cNvGrpSpPr/>
          <p:nvPr/>
        </p:nvGrpSpPr>
        <p:grpSpPr>
          <a:xfrm>
            <a:off x="6647939" y="1797314"/>
            <a:ext cx="6515358" cy="4226062"/>
            <a:chOff x="0" y="0"/>
            <a:chExt cx="8687144" cy="5634749"/>
          </a:xfrm>
        </p:grpSpPr>
        <p:grpSp>
          <p:nvGrpSpPr>
            <p:cNvPr id="16" name="Group 16"/>
            <p:cNvGrpSpPr/>
            <p:nvPr/>
          </p:nvGrpSpPr>
          <p:grpSpPr>
            <a:xfrm>
              <a:off x="0" y="0"/>
              <a:ext cx="6488633" cy="5634749"/>
              <a:chOff x="0" y="0"/>
              <a:chExt cx="6488633" cy="5634749"/>
            </a:xfrm>
          </p:grpSpPr>
          <p:sp>
            <p:nvSpPr>
              <p:cNvPr id="17" name="Freeform 17"/>
              <p:cNvSpPr/>
              <p:nvPr/>
            </p:nvSpPr>
            <p:spPr>
              <a:xfrm>
                <a:off x="0" y="0"/>
                <a:ext cx="6488684" cy="5634736"/>
              </a:xfrm>
              <a:custGeom>
                <a:avLst/>
                <a:gdLst/>
                <a:ahLst/>
                <a:cxnLst/>
                <a:rect l="l" t="t" r="r" b="b"/>
                <a:pathLst>
                  <a:path w="6488684" h="5634736">
                    <a:moveTo>
                      <a:pt x="0" y="0"/>
                    </a:moveTo>
                    <a:lnTo>
                      <a:pt x="6488684" y="0"/>
                    </a:lnTo>
                    <a:lnTo>
                      <a:pt x="6488684" y="5634736"/>
                    </a:lnTo>
                    <a:lnTo>
                      <a:pt x="0" y="5634736"/>
                    </a:lnTo>
                    <a:lnTo>
                      <a:pt x="0" y="0"/>
                    </a:lnTo>
                    <a:close/>
                  </a:path>
                </a:pathLst>
              </a:custGeom>
              <a:blipFill>
                <a:blip r:embed="rId6">
                  <a:alphaModFix amt="18999"/>
                </a:blip>
                <a:stretch>
                  <a:fillRect t="-7"/>
                </a:stretch>
              </a:blipFill>
            </p:spPr>
          </p:sp>
        </p:grpSp>
        <p:sp>
          <p:nvSpPr>
            <p:cNvPr id="18" name="Freeform 18"/>
            <p:cNvSpPr/>
            <p:nvPr/>
          </p:nvSpPr>
          <p:spPr>
            <a:xfrm>
              <a:off x="135369" y="84518"/>
              <a:ext cx="6217920" cy="5364480"/>
            </a:xfrm>
            <a:custGeom>
              <a:avLst/>
              <a:gdLst/>
              <a:ahLst/>
              <a:cxnLst/>
              <a:rect l="l" t="t" r="r" b="b"/>
              <a:pathLst>
                <a:path w="6217920" h="5364480">
                  <a:moveTo>
                    <a:pt x="0" y="0"/>
                  </a:moveTo>
                  <a:lnTo>
                    <a:pt x="6217920" y="0"/>
                  </a:lnTo>
                  <a:lnTo>
                    <a:pt x="6217920" y="5364480"/>
                  </a:lnTo>
                  <a:lnTo>
                    <a:pt x="0" y="5364480"/>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19" name="TextBox 19"/>
            <p:cNvSpPr txBox="1"/>
            <p:nvPr/>
          </p:nvSpPr>
          <p:spPr>
            <a:xfrm>
              <a:off x="544050" y="4157219"/>
              <a:ext cx="5137010" cy="838200"/>
            </a:xfrm>
            <a:prstGeom prst="rect">
              <a:avLst/>
            </a:prstGeom>
          </p:spPr>
          <p:txBody>
            <a:bodyPr lIns="0" tIns="0" rIns="0" bIns="0" rtlCol="0" anchor="t">
              <a:spAutoFit/>
            </a:bodyPr>
            <a:lstStyle/>
            <a:p>
              <a:pPr algn="l">
                <a:lnSpc>
                  <a:spcPts val="1681"/>
                </a:lnSpc>
              </a:pPr>
              <a:r>
                <a:rPr lang="en-US" sz="1401" i="1">
                  <a:solidFill>
                    <a:srgbClr val="9FB8C8"/>
                  </a:solidFill>
                  <a:latin typeface="Montserrat Italics"/>
                  <a:ea typeface="Montserrat Italics"/>
                  <a:cs typeface="Montserrat Italics"/>
                  <a:sym typeface="Montserrat Italics"/>
                </a:rPr>
                <a:t>To separate these two factors, we designed a controlled, three-stage experiment.</a:t>
              </a:r>
            </a:p>
          </p:txBody>
        </p:sp>
        <p:sp>
          <p:nvSpPr>
            <p:cNvPr id="20" name="TextBox 20"/>
            <p:cNvSpPr txBox="1"/>
            <p:nvPr/>
          </p:nvSpPr>
          <p:spPr>
            <a:xfrm>
              <a:off x="544050" y="399732"/>
              <a:ext cx="6133280" cy="289389"/>
            </a:xfrm>
            <a:prstGeom prst="rect">
              <a:avLst/>
            </a:prstGeom>
          </p:spPr>
          <p:txBody>
            <a:bodyPr lIns="0" tIns="0" rIns="0" bIns="0" rtlCol="0" anchor="t">
              <a:spAutoFit/>
            </a:bodyPr>
            <a:lstStyle/>
            <a:p>
              <a:pPr algn="l">
                <a:lnSpc>
                  <a:spcPts val="2092"/>
                </a:lnSpc>
              </a:pPr>
              <a:r>
                <a:rPr lang="en-US" sz="1199" b="1" spc="290">
                  <a:solidFill>
                    <a:srgbClr val="7FE3E8"/>
                  </a:solidFill>
                  <a:latin typeface="Montserrat Bold"/>
                  <a:ea typeface="Montserrat Bold"/>
                  <a:cs typeface="Montserrat Bold"/>
                  <a:sym typeface="Montserrat Bold"/>
                </a:rPr>
                <a:t>OUR RESEARCH QUESTION</a:t>
              </a:r>
            </a:p>
          </p:txBody>
        </p:sp>
        <p:sp>
          <p:nvSpPr>
            <p:cNvPr id="21" name="TextBox 21"/>
            <p:cNvSpPr txBox="1"/>
            <p:nvPr/>
          </p:nvSpPr>
          <p:spPr>
            <a:xfrm>
              <a:off x="501129" y="955739"/>
              <a:ext cx="8186015" cy="396257"/>
            </a:xfrm>
            <a:prstGeom prst="rect">
              <a:avLst/>
            </a:prstGeom>
          </p:spPr>
          <p:txBody>
            <a:bodyPr lIns="0" tIns="0" rIns="0" bIns="0" rtlCol="0" anchor="t">
              <a:spAutoFit/>
            </a:bodyPr>
            <a:lstStyle/>
            <a:p>
              <a:pPr algn="l">
                <a:lnSpc>
                  <a:spcPts val="2519"/>
                </a:lnSpc>
              </a:pPr>
              <a:r>
                <a:rPr lang="en-US" sz="1799" b="1">
                  <a:solidFill>
                    <a:srgbClr val="FFFFFF"/>
                  </a:solidFill>
                  <a:latin typeface="Montserrat Bold"/>
                  <a:ea typeface="Montserrat Bold"/>
                  <a:cs typeface="Montserrat Bold"/>
                  <a:sym typeface="Montserrat Bold"/>
                </a:rPr>
                <a:t>What determines success?</a:t>
              </a:r>
            </a:p>
          </p:txBody>
        </p:sp>
        <p:sp>
          <p:nvSpPr>
            <p:cNvPr id="22" name="TextBox 22"/>
            <p:cNvSpPr txBox="1"/>
            <p:nvPr/>
          </p:nvSpPr>
          <p:spPr>
            <a:xfrm>
              <a:off x="501129" y="1997419"/>
              <a:ext cx="8186015" cy="311378"/>
            </a:xfrm>
            <a:prstGeom prst="rect">
              <a:avLst/>
            </a:prstGeom>
          </p:spPr>
          <p:txBody>
            <a:bodyPr lIns="0" tIns="0" rIns="0" bIns="0" rtlCol="0" anchor="t">
              <a:spAutoFit/>
            </a:bodyPr>
            <a:lstStyle/>
            <a:p>
              <a:pPr algn="l">
                <a:lnSpc>
                  <a:spcPts val="1959"/>
                </a:lnSpc>
              </a:pPr>
              <a:r>
                <a:rPr lang="en-US" sz="1399" b="1">
                  <a:solidFill>
                    <a:srgbClr val="E8A33D"/>
                  </a:solidFill>
                  <a:latin typeface="Montserrat Bold"/>
                  <a:ea typeface="Montserrat Bold"/>
                  <a:cs typeface="Montserrat Bold"/>
                  <a:sym typeface="Montserrat Bold"/>
                </a:rPr>
                <a:t>A)</a:t>
              </a:r>
              <a:r>
                <a:rPr lang="en-US" sz="1399">
                  <a:solidFill>
                    <a:srgbClr val="CFE3EC"/>
                  </a:solidFill>
                  <a:latin typeface="Montserrat"/>
                  <a:ea typeface="Montserrat"/>
                  <a:cs typeface="Montserrat"/>
                  <a:sym typeface="Montserrat"/>
                </a:rPr>
                <a:t> The learning algorithm we choose</a:t>
              </a:r>
            </a:p>
          </p:txBody>
        </p:sp>
        <p:sp>
          <p:nvSpPr>
            <p:cNvPr id="23" name="TextBox 23"/>
            <p:cNvSpPr txBox="1"/>
            <p:nvPr/>
          </p:nvSpPr>
          <p:spPr>
            <a:xfrm>
              <a:off x="501129" y="2897931"/>
              <a:ext cx="5403181" cy="641578"/>
            </a:xfrm>
            <a:prstGeom prst="rect">
              <a:avLst/>
            </a:prstGeom>
          </p:spPr>
          <p:txBody>
            <a:bodyPr lIns="0" tIns="0" rIns="0" bIns="0" rtlCol="0" anchor="t">
              <a:spAutoFit/>
            </a:bodyPr>
            <a:lstStyle/>
            <a:p>
              <a:pPr algn="l">
                <a:lnSpc>
                  <a:spcPts val="1959"/>
                </a:lnSpc>
              </a:pPr>
              <a:r>
                <a:rPr lang="en-US" sz="1399" b="1">
                  <a:solidFill>
                    <a:srgbClr val="E8A33D"/>
                  </a:solidFill>
                  <a:latin typeface="Montserrat Bold"/>
                  <a:ea typeface="Montserrat Bold"/>
                  <a:cs typeface="Montserrat Bold"/>
                  <a:sym typeface="Montserrat Bold"/>
                </a:rPr>
                <a:t>B)</a:t>
              </a:r>
              <a:r>
                <a:rPr lang="en-US" sz="1399">
                  <a:solidFill>
                    <a:srgbClr val="CFE3EC"/>
                  </a:solidFill>
                  <a:latin typeface="Montserrat"/>
                  <a:ea typeface="Montserrat"/>
                  <a:cs typeface="Montserrat"/>
                  <a:sym typeface="Montserrat"/>
                </a:rPr>
                <a:t> Or the representation in which we feed the data to the model</a:t>
              </a: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4172E"/>
        </a:solidFill>
        <a:effectLst/>
      </p:bgPr>
    </p:bg>
    <p:spTree>
      <p:nvGrpSpPr>
        <p:cNvPr id="1" name=""/>
        <p:cNvGrpSpPr/>
        <p:nvPr/>
      </p:nvGrpSpPr>
      <p:grpSpPr>
        <a:xfrm>
          <a:off x="0" y="0"/>
          <a:ext cx="0" cy="0"/>
          <a:chOff x="0" y="0"/>
          <a:chExt cx="0" cy="0"/>
        </a:xfrm>
      </p:grpSpPr>
      <p:sp>
        <p:nvSpPr>
          <p:cNvPr id="2" name="TextBox 2"/>
          <p:cNvSpPr txBox="1"/>
          <p:nvPr/>
        </p:nvSpPr>
        <p:spPr>
          <a:xfrm>
            <a:off x="685800" y="628650"/>
            <a:ext cx="10957912" cy="795030"/>
          </a:xfrm>
          <a:prstGeom prst="rect">
            <a:avLst/>
          </a:prstGeom>
        </p:spPr>
        <p:txBody>
          <a:bodyPr lIns="0" tIns="0" rIns="0" bIns="0" rtlCol="0" anchor="t">
            <a:spAutoFit/>
          </a:bodyPr>
          <a:lstStyle/>
          <a:p>
            <a:pPr algn="l">
              <a:lnSpc>
                <a:spcPts val="2092"/>
              </a:lnSpc>
            </a:pPr>
            <a:endParaRPr/>
          </a:p>
          <a:p>
            <a:pPr algn="l">
              <a:lnSpc>
                <a:spcPts val="4887"/>
              </a:lnSpc>
            </a:pPr>
            <a:r>
              <a:rPr lang="en-US" sz="2800" b="1">
                <a:solidFill>
                  <a:srgbClr val="FFFFFF"/>
                </a:solidFill>
                <a:latin typeface="Montserrat Bold"/>
                <a:ea typeface="Montserrat Bold"/>
                <a:cs typeface="Montserrat Bold"/>
                <a:sym typeface="Montserrat Bold"/>
              </a:rPr>
              <a:t>Three Languages from Mozilla Common Voice</a:t>
            </a:r>
          </a:p>
        </p:txBody>
      </p:sp>
      <p:sp>
        <p:nvSpPr>
          <p:cNvPr id="3" name="TextBox 3"/>
          <p:cNvSpPr txBox="1"/>
          <p:nvPr/>
        </p:nvSpPr>
        <p:spPr>
          <a:xfrm>
            <a:off x="685800" y="628650"/>
            <a:ext cx="4599960" cy="231329"/>
          </a:xfrm>
          <a:prstGeom prst="rect">
            <a:avLst/>
          </a:prstGeom>
        </p:spPr>
        <p:txBody>
          <a:bodyPr lIns="0" tIns="0" rIns="0" bIns="0" rtlCol="0" anchor="t">
            <a:spAutoFit/>
          </a:bodyPr>
          <a:lstStyle/>
          <a:p>
            <a:pPr algn="l">
              <a:lnSpc>
                <a:spcPts val="2092"/>
              </a:lnSpc>
            </a:pPr>
            <a:r>
              <a:rPr lang="en-US" sz="1199" b="1" spc="290">
                <a:solidFill>
                  <a:srgbClr val="FFFAF1"/>
                </a:solidFill>
                <a:latin typeface="Montserrat Bold"/>
                <a:ea typeface="Montserrat Bold"/>
                <a:cs typeface="Montserrat Bold"/>
                <a:sym typeface="Montserrat Bold"/>
              </a:rPr>
              <a:t>02 . DATA</a:t>
            </a:r>
          </a:p>
        </p:txBody>
      </p:sp>
      <p:grpSp>
        <p:nvGrpSpPr>
          <p:cNvPr id="4" name="Group 4"/>
          <p:cNvGrpSpPr/>
          <p:nvPr/>
        </p:nvGrpSpPr>
        <p:grpSpPr>
          <a:xfrm>
            <a:off x="516031" y="1805487"/>
            <a:ext cx="11159938" cy="1410743"/>
            <a:chOff x="0" y="0"/>
            <a:chExt cx="14879917" cy="1880990"/>
          </a:xfrm>
        </p:grpSpPr>
        <p:sp>
          <p:nvSpPr>
            <p:cNvPr id="5" name="Freeform 5"/>
            <p:cNvSpPr/>
            <p:nvPr/>
          </p:nvSpPr>
          <p:spPr>
            <a:xfrm>
              <a:off x="0" y="0"/>
              <a:ext cx="4682465" cy="1880990"/>
            </a:xfrm>
            <a:custGeom>
              <a:avLst/>
              <a:gdLst/>
              <a:ahLst/>
              <a:cxnLst/>
              <a:rect l="l" t="t" r="r" b="b"/>
              <a:pathLst>
                <a:path w="4682465" h="1880990">
                  <a:moveTo>
                    <a:pt x="0" y="0"/>
                  </a:moveTo>
                  <a:lnTo>
                    <a:pt x="4682465" y="0"/>
                  </a:lnTo>
                  <a:lnTo>
                    <a:pt x="4682465" y="1880990"/>
                  </a:lnTo>
                  <a:lnTo>
                    <a:pt x="0" y="188099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6" name="Freeform 6"/>
            <p:cNvSpPr/>
            <p:nvPr/>
          </p:nvSpPr>
          <p:spPr>
            <a:xfrm>
              <a:off x="5095888" y="0"/>
              <a:ext cx="4682465" cy="1880990"/>
            </a:xfrm>
            <a:custGeom>
              <a:avLst/>
              <a:gdLst/>
              <a:ahLst/>
              <a:cxnLst/>
              <a:rect l="l" t="t" r="r" b="b"/>
              <a:pathLst>
                <a:path w="4682465" h="1880990">
                  <a:moveTo>
                    <a:pt x="0" y="0"/>
                  </a:moveTo>
                  <a:lnTo>
                    <a:pt x="4682464" y="0"/>
                  </a:lnTo>
                  <a:lnTo>
                    <a:pt x="4682464" y="1880990"/>
                  </a:lnTo>
                  <a:lnTo>
                    <a:pt x="0" y="188099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7" name="Freeform 7"/>
            <p:cNvSpPr/>
            <p:nvPr/>
          </p:nvSpPr>
          <p:spPr>
            <a:xfrm>
              <a:off x="10197452" y="0"/>
              <a:ext cx="4682465" cy="1880990"/>
            </a:xfrm>
            <a:custGeom>
              <a:avLst/>
              <a:gdLst/>
              <a:ahLst/>
              <a:cxnLst/>
              <a:rect l="l" t="t" r="r" b="b"/>
              <a:pathLst>
                <a:path w="4682465" h="1880990">
                  <a:moveTo>
                    <a:pt x="0" y="0"/>
                  </a:moveTo>
                  <a:lnTo>
                    <a:pt x="4682465" y="0"/>
                  </a:lnTo>
                  <a:lnTo>
                    <a:pt x="4682465" y="1880990"/>
                  </a:lnTo>
                  <a:lnTo>
                    <a:pt x="0" y="188099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sp>
        <p:nvSpPr>
          <p:cNvPr id="8" name="TextBox 8"/>
          <p:cNvSpPr txBox="1"/>
          <p:nvPr/>
        </p:nvSpPr>
        <p:spPr>
          <a:xfrm>
            <a:off x="3135330" y="2129805"/>
            <a:ext cx="779502" cy="247663"/>
          </a:xfrm>
          <a:prstGeom prst="rect">
            <a:avLst/>
          </a:prstGeom>
        </p:spPr>
        <p:txBody>
          <a:bodyPr lIns="0" tIns="0" rIns="0" bIns="0" rtlCol="0" anchor="t">
            <a:spAutoFit/>
          </a:bodyPr>
          <a:lstStyle/>
          <a:p>
            <a:pPr algn="l">
              <a:lnSpc>
                <a:spcPts val="2099"/>
              </a:lnSpc>
            </a:pPr>
            <a:r>
              <a:rPr lang="en-US" sz="1499" b="1">
                <a:solidFill>
                  <a:srgbClr val="0B2545"/>
                </a:solidFill>
                <a:latin typeface="Montserrat Bold"/>
                <a:ea typeface="Montserrat Bold"/>
                <a:cs typeface="Montserrat Bold"/>
                <a:sym typeface="Montserrat Bold"/>
              </a:rPr>
              <a:t>ARABIC</a:t>
            </a:r>
          </a:p>
        </p:txBody>
      </p:sp>
      <p:sp>
        <p:nvSpPr>
          <p:cNvPr id="9" name="TextBox 9"/>
          <p:cNvSpPr txBox="1"/>
          <p:nvPr/>
        </p:nvSpPr>
        <p:spPr>
          <a:xfrm>
            <a:off x="685800" y="2242538"/>
            <a:ext cx="1278531" cy="326998"/>
          </a:xfrm>
          <a:prstGeom prst="rect">
            <a:avLst/>
          </a:prstGeom>
        </p:spPr>
        <p:txBody>
          <a:bodyPr lIns="0" tIns="0" rIns="0" bIns="0" rtlCol="0" anchor="t">
            <a:spAutoFit/>
          </a:bodyPr>
          <a:lstStyle/>
          <a:p>
            <a:pPr algn="l">
              <a:lnSpc>
                <a:spcPts val="1999"/>
              </a:lnSpc>
            </a:pPr>
            <a:r>
              <a:rPr lang="en-US" sz="3999" b="1">
                <a:solidFill>
                  <a:srgbClr val="1C7293"/>
                </a:solidFill>
                <a:latin typeface="Montserrat Bold"/>
                <a:ea typeface="Montserrat Bold"/>
                <a:cs typeface="Montserrat Bold"/>
                <a:sym typeface="Montserrat Bold"/>
              </a:rPr>
              <a:t>1000</a:t>
            </a:r>
          </a:p>
        </p:txBody>
      </p:sp>
      <p:sp>
        <p:nvSpPr>
          <p:cNvPr id="10" name="TextBox 10"/>
          <p:cNvSpPr txBox="1"/>
          <p:nvPr/>
        </p:nvSpPr>
        <p:spPr>
          <a:xfrm>
            <a:off x="4558432" y="2242538"/>
            <a:ext cx="1278531" cy="326998"/>
          </a:xfrm>
          <a:prstGeom prst="rect">
            <a:avLst/>
          </a:prstGeom>
        </p:spPr>
        <p:txBody>
          <a:bodyPr lIns="0" tIns="0" rIns="0" bIns="0" rtlCol="0" anchor="t">
            <a:spAutoFit/>
          </a:bodyPr>
          <a:lstStyle/>
          <a:p>
            <a:pPr algn="l">
              <a:lnSpc>
                <a:spcPts val="1999"/>
              </a:lnSpc>
            </a:pPr>
            <a:r>
              <a:rPr lang="en-US" sz="3999" b="1">
                <a:solidFill>
                  <a:srgbClr val="15616D"/>
                </a:solidFill>
                <a:latin typeface="Montserrat Bold"/>
                <a:ea typeface="Montserrat Bold"/>
                <a:cs typeface="Montserrat Bold"/>
                <a:sym typeface="Montserrat Bold"/>
              </a:rPr>
              <a:t>1000</a:t>
            </a:r>
          </a:p>
        </p:txBody>
      </p:sp>
      <p:sp>
        <p:nvSpPr>
          <p:cNvPr id="11" name="TextBox 11"/>
          <p:cNvSpPr txBox="1"/>
          <p:nvPr/>
        </p:nvSpPr>
        <p:spPr>
          <a:xfrm>
            <a:off x="8370894" y="2242538"/>
            <a:ext cx="1278531" cy="326998"/>
          </a:xfrm>
          <a:prstGeom prst="rect">
            <a:avLst/>
          </a:prstGeom>
        </p:spPr>
        <p:txBody>
          <a:bodyPr lIns="0" tIns="0" rIns="0" bIns="0" rtlCol="0" anchor="t">
            <a:spAutoFit/>
          </a:bodyPr>
          <a:lstStyle/>
          <a:p>
            <a:pPr algn="l">
              <a:lnSpc>
                <a:spcPts val="1999"/>
              </a:lnSpc>
            </a:pPr>
            <a:r>
              <a:rPr lang="en-US" sz="3999" b="1">
                <a:solidFill>
                  <a:srgbClr val="1B98A2"/>
                </a:solidFill>
                <a:latin typeface="Montserrat Bold"/>
                <a:ea typeface="Montserrat Bold"/>
                <a:cs typeface="Montserrat Bold"/>
                <a:sym typeface="Montserrat Bold"/>
              </a:rPr>
              <a:t>1000</a:t>
            </a:r>
          </a:p>
        </p:txBody>
      </p:sp>
      <p:sp>
        <p:nvSpPr>
          <p:cNvPr id="12" name="TextBox 12"/>
          <p:cNvSpPr txBox="1"/>
          <p:nvPr/>
        </p:nvSpPr>
        <p:spPr>
          <a:xfrm>
            <a:off x="6846303" y="2129805"/>
            <a:ext cx="881301" cy="247663"/>
          </a:xfrm>
          <a:prstGeom prst="rect">
            <a:avLst/>
          </a:prstGeom>
        </p:spPr>
        <p:txBody>
          <a:bodyPr lIns="0" tIns="0" rIns="0" bIns="0" rtlCol="0" anchor="t">
            <a:spAutoFit/>
          </a:bodyPr>
          <a:lstStyle/>
          <a:p>
            <a:pPr algn="l">
              <a:lnSpc>
                <a:spcPts val="2099"/>
              </a:lnSpc>
            </a:pPr>
            <a:r>
              <a:rPr lang="en-US" sz="1499" b="1">
                <a:solidFill>
                  <a:srgbClr val="0B2545"/>
                </a:solidFill>
                <a:latin typeface="Montserrat Bold"/>
                <a:ea typeface="Montserrat Bold"/>
                <a:cs typeface="Montserrat Bold"/>
                <a:sym typeface="Montserrat Bold"/>
              </a:rPr>
              <a:t>ENGLISH</a:t>
            </a:r>
          </a:p>
        </p:txBody>
      </p:sp>
      <p:sp>
        <p:nvSpPr>
          <p:cNvPr id="13" name="TextBox 13"/>
          <p:cNvSpPr txBox="1"/>
          <p:nvPr/>
        </p:nvSpPr>
        <p:spPr>
          <a:xfrm>
            <a:off x="10716225" y="2129805"/>
            <a:ext cx="836771" cy="247663"/>
          </a:xfrm>
          <a:prstGeom prst="rect">
            <a:avLst/>
          </a:prstGeom>
        </p:spPr>
        <p:txBody>
          <a:bodyPr lIns="0" tIns="0" rIns="0" bIns="0" rtlCol="0" anchor="t">
            <a:spAutoFit/>
          </a:bodyPr>
          <a:lstStyle/>
          <a:p>
            <a:pPr algn="l">
              <a:lnSpc>
                <a:spcPts val="2099"/>
              </a:lnSpc>
            </a:pPr>
            <a:r>
              <a:rPr lang="en-US" sz="1499" b="1">
                <a:solidFill>
                  <a:srgbClr val="0B2545"/>
                </a:solidFill>
                <a:latin typeface="Montserrat Bold"/>
                <a:ea typeface="Montserrat Bold"/>
                <a:cs typeface="Montserrat Bold"/>
                <a:sym typeface="Montserrat Bold"/>
              </a:rPr>
              <a:t>FRENCH</a:t>
            </a:r>
          </a:p>
        </p:txBody>
      </p:sp>
      <p:sp>
        <p:nvSpPr>
          <p:cNvPr id="14" name="TextBox 14"/>
          <p:cNvSpPr txBox="1"/>
          <p:nvPr/>
        </p:nvSpPr>
        <p:spPr>
          <a:xfrm>
            <a:off x="685800" y="2692662"/>
            <a:ext cx="1468114" cy="252698"/>
          </a:xfrm>
          <a:prstGeom prst="rect">
            <a:avLst/>
          </a:prstGeom>
        </p:spPr>
        <p:txBody>
          <a:bodyPr wrap="square" lIns="0" tIns="0" rIns="0" bIns="0" rtlCol="0" anchor="t">
            <a:spAutoFit/>
          </a:bodyPr>
          <a:lstStyle/>
          <a:p>
            <a:pPr algn="l">
              <a:lnSpc>
                <a:spcPts val="2099"/>
              </a:lnSpc>
            </a:pPr>
            <a:r>
              <a:rPr lang="en-US" sz="1499">
                <a:solidFill>
                  <a:srgbClr val="0B2545"/>
                </a:solidFill>
                <a:latin typeface="Carlito"/>
                <a:ea typeface="Carlito"/>
                <a:cs typeface="Carlito"/>
                <a:sym typeface="Carlito"/>
              </a:rPr>
              <a:t>audio clips</a:t>
            </a:r>
          </a:p>
        </p:txBody>
      </p:sp>
      <p:sp>
        <p:nvSpPr>
          <p:cNvPr id="15" name="TextBox 15"/>
          <p:cNvSpPr txBox="1"/>
          <p:nvPr/>
        </p:nvSpPr>
        <p:spPr>
          <a:xfrm>
            <a:off x="4558432" y="2692662"/>
            <a:ext cx="1948278" cy="255362"/>
          </a:xfrm>
          <a:prstGeom prst="rect">
            <a:avLst/>
          </a:prstGeom>
        </p:spPr>
        <p:txBody>
          <a:bodyPr wrap="square" lIns="0" tIns="0" rIns="0" bIns="0" rtlCol="0" anchor="t">
            <a:spAutoFit/>
          </a:bodyPr>
          <a:lstStyle/>
          <a:p>
            <a:pPr algn="l">
              <a:lnSpc>
                <a:spcPts val="2099"/>
              </a:lnSpc>
            </a:pPr>
            <a:r>
              <a:rPr lang="en-US" sz="1499">
                <a:solidFill>
                  <a:srgbClr val="0B2545"/>
                </a:solidFill>
                <a:latin typeface="Carlito"/>
                <a:ea typeface="Carlito"/>
                <a:cs typeface="Carlito"/>
                <a:sym typeface="Carlito"/>
              </a:rPr>
              <a:t>audio clips</a:t>
            </a:r>
          </a:p>
        </p:txBody>
      </p:sp>
      <p:sp>
        <p:nvSpPr>
          <p:cNvPr id="16" name="TextBox 16"/>
          <p:cNvSpPr txBox="1"/>
          <p:nvPr/>
        </p:nvSpPr>
        <p:spPr>
          <a:xfrm>
            <a:off x="8370894" y="2692662"/>
            <a:ext cx="1885648" cy="255362"/>
          </a:xfrm>
          <a:prstGeom prst="rect">
            <a:avLst/>
          </a:prstGeom>
        </p:spPr>
        <p:txBody>
          <a:bodyPr wrap="square" lIns="0" tIns="0" rIns="0" bIns="0" rtlCol="0" anchor="t">
            <a:spAutoFit/>
          </a:bodyPr>
          <a:lstStyle/>
          <a:p>
            <a:pPr algn="l">
              <a:lnSpc>
                <a:spcPts val="2099"/>
              </a:lnSpc>
            </a:pPr>
            <a:r>
              <a:rPr lang="en-US" sz="1499">
                <a:solidFill>
                  <a:srgbClr val="0B2545"/>
                </a:solidFill>
                <a:latin typeface="Carlito"/>
                <a:ea typeface="Carlito"/>
                <a:cs typeface="Carlito"/>
                <a:sym typeface="Carlito"/>
              </a:rPr>
              <a:t>audio clips</a:t>
            </a:r>
          </a:p>
        </p:txBody>
      </p:sp>
      <p:grpSp>
        <p:nvGrpSpPr>
          <p:cNvPr id="17" name="Group 17"/>
          <p:cNvGrpSpPr/>
          <p:nvPr/>
        </p:nvGrpSpPr>
        <p:grpSpPr>
          <a:xfrm>
            <a:off x="685800" y="3429000"/>
            <a:ext cx="10820400" cy="2094742"/>
            <a:chOff x="0" y="0"/>
            <a:chExt cx="14427200" cy="2792990"/>
          </a:xfrm>
        </p:grpSpPr>
        <p:sp>
          <p:nvSpPr>
            <p:cNvPr id="18" name="TextBox 18"/>
            <p:cNvSpPr txBox="1"/>
            <p:nvPr/>
          </p:nvSpPr>
          <p:spPr>
            <a:xfrm>
              <a:off x="1496973" y="849706"/>
              <a:ext cx="52667" cy="322986"/>
            </a:xfrm>
            <a:prstGeom prst="rect">
              <a:avLst/>
            </a:prstGeom>
          </p:spPr>
          <p:txBody>
            <a:bodyPr lIns="0" tIns="0" rIns="0" bIns="0" rtlCol="0" anchor="t">
              <a:spAutoFit/>
            </a:bodyPr>
            <a:lstStyle/>
            <a:p>
              <a:pPr algn="l">
                <a:lnSpc>
                  <a:spcPts val="1889"/>
                </a:lnSpc>
              </a:pPr>
              <a:r>
                <a:rPr lang="en-US" sz="1349">
                  <a:solidFill>
                    <a:srgbClr val="1A2A3A"/>
                  </a:solidFill>
                  <a:latin typeface="Carlito"/>
                  <a:ea typeface="Carlito"/>
                  <a:cs typeface="Carlito"/>
                  <a:sym typeface="Carlito"/>
                </a:rPr>
                <a:t> </a:t>
              </a:r>
            </a:p>
          </p:txBody>
        </p:sp>
        <p:sp>
          <p:nvSpPr>
            <p:cNvPr id="19" name="Freeform 19"/>
            <p:cNvSpPr/>
            <p:nvPr/>
          </p:nvSpPr>
          <p:spPr>
            <a:xfrm>
              <a:off x="0" y="0"/>
              <a:ext cx="6952762" cy="2792990"/>
            </a:xfrm>
            <a:custGeom>
              <a:avLst/>
              <a:gdLst/>
              <a:ahLst/>
              <a:cxnLst/>
              <a:rect l="l" t="t" r="r" b="b"/>
              <a:pathLst>
                <a:path w="6952762" h="2792990">
                  <a:moveTo>
                    <a:pt x="0" y="0"/>
                  </a:moveTo>
                  <a:lnTo>
                    <a:pt x="6952762" y="0"/>
                  </a:lnTo>
                  <a:lnTo>
                    <a:pt x="6952762" y="2792990"/>
                  </a:lnTo>
                  <a:lnTo>
                    <a:pt x="0" y="279299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20" name="TextBox 20"/>
            <p:cNvSpPr txBox="1"/>
            <p:nvPr/>
          </p:nvSpPr>
          <p:spPr>
            <a:xfrm>
              <a:off x="226358" y="300584"/>
              <a:ext cx="2938462" cy="364719"/>
            </a:xfrm>
            <a:prstGeom prst="rect">
              <a:avLst/>
            </a:prstGeom>
          </p:spPr>
          <p:txBody>
            <a:bodyPr lIns="0" tIns="0" rIns="0" bIns="0" rtlCol="0" anchor="t">
              <a:spAutoFit/>
            </a:bodyPr>
            <a:lstStyle/>
            <a:p>
              <a:pPr algn="l">
                <a:lnSpc>
                  <a:spcPts val="2379"/>
                </a:lnSpc>
              </a:pPr>
              <a:r>
                <a:rPr lang="en-US" sz="1699" b="1">
                  <a:solidFill>
                    <a:srgbClr val="0B2545"/>
                  </a:solidFill>
                  <a:latin typeface="Montserrat Bold"/>
                  <a:ea typeface="Montserrat Bold"/>
                  <a:cs typeface="Montserrat Bold"/>
                  <a:sym typeface="Montserrat Bold"/>
                </a:rPr>
                <a:t>Dataset at a Glance</a:t>
              </a:r>
            </a:p>
          </p:txBody>
        </p:sp>
        <p:sp>
          <p:nvSpPr>
            <p:cNvPr id="21" name="TextBox 21"/>
            <p:cNvSpPr txBox="1"/>
            <p:nvPr/>
          </p:nvSpPr>
          <p:spPr>
            <a:xfrm>
              <a:off x="254348" y="878027"/>
              <a:ext cx="8186015" cy="1349392"/>
            </a:xfrm>
            <a:prstGeom prst="rect">
              <a:avLst/>
            </a:prstGeom>
          </p:spPr>
          <p:txBody>
            <a:bodyPr lIns="0" tIns="0" rIns="0" bIns="0" rtlCol="0" anchor="t">
              <a:spAutoFit/>
            </a:bodyPr>
            <a:lstStyle/>
            <a:p>
              <a:pPr algn="l">
                <a:lnSpc>
                  <a:spcPts val="2099"/>
                </a:lnSpc>
              </a:pPr>
              <a:r>
                <a:rPr lang="en-US" sz="1499">
                  <a:solidFill>
                    <a:srgbClr val="1A2A3A"/>
                  </a:solidFill>
                  <a:latin typeface="Montserrat"/>
                  <a:ea typeface="Montserrat"/>
                  <a:cs typeface="Montserrat"/>
                  <a:sym typeface="Montserrat"/>
                </a:rPr>
                <a:t>3,000 labeled audio samples in total</a:t>
              </a:r>
            </a:p>
            <a:p>
              <a:pPr algn="l">
                <a:lnSpc>
                  <a:spcPts val="2099"/>
                </a:lnSpc>
              </a:pPr>
              <a:r>
                <a:rPr lang="en-US" sz="1499">
                  <a:solidFill>
                    <a:srgbClr val="1A2A3A"/>
                  </a:solidFill>
                  <a:latin typeface="Montserrat"/>
                  <a:ea typeface="Montserrat"/>
                  <a:cs typeface="Montserrat"/>
                  <a:sym typeface="Montserrat"/>
                </a:rPr>
                <a:t>All recordings resampled to 22.05 kHz</a:t>
              </a:r>
            </a:p>
            <a:p>
              <a:pPr algn="l">
                <a:lnSpc>
                  <a:spcPts val="2099"/>
                </a:lnSpc>
              </a:pPr>
              <a:r>
                <a:rPr lang="en-US" sz="1499">
                  <a:solidFill>
                    <a:srgbClr val="1A2A3A"/>
                  </a:solidFill>
                  <a:latin typeface="Montserrat"/>
                  <a:ea typeface="Montserrat"/>
                  <a:cs typeface="Montserrat"/>
                  <a:sym typeface="Montserrat"/>
                </a:rPr>
                <a:t>Typical clip duration ~5 seconds</a:t>
              </a:r>
            </a:p>
            <a:p>
              <a:pPr algn="l">
                <a:lnSpc>
                  <a:spcPts val="2099"/>
                </a:lnSpc>
              </a:pPr>
              <a:r>
                <a:rPr lang="en-US" sz="1499">
                  <a:solidFill>
                    <a:srgbClr val="1A2A3A"/>
                  </a:solidFill>
                  <a:latin typeface="Montserrat"/>
                  <a:ea typeface="Montserrat"/>
                  <a:cs typeface="Montserrat"/>
                  <a:sym typeface="Montserrat"/>
                </a:rPr>
                <a:t>80% train / 20% test (stratified sampling)</a:t>
              </a:r>
            </a:p>
          </p:txBody>
        </p:sp>
        <p:sp>
          <p:nvSpPr>
            <p:cNvPr id="22" name="Freeform 22"/>
            <p:cNvSpPr/>
            <p:nvPr/>
          </p:nvSpPr>
          <p:spPr>
            <a:xfrm>
              <a:off x="7474438" y="0"/>
              <a:ext cx="6952762" cy="2792990"/>
            </a:xfrm>
            <a:custGeom>
              <a:avLst/>
              <a:gdLst/>
              <a:ahLst/>
              <a:cxnLst/>
              <a:rect l="l" t="t" r="r" b="b"/>
              <a:pathLst>
                <a:path w="6952762" h="2792990">
                  <a:moveTo>
                    <a:pt x="0" y="0"/>
                  </a:moveTo>
                  <a:lnTo>
                    <a:pt x="6952762" y="0"/>
                  </a:lnTo>
                  <a:lnTo>
                    <a:pt x="6952762" y="2792990"/>
                  </a:lnTo>
                  <a:lnTo>
                    <a:pt x="0" y="279299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23" name="TextBox 23"/>
            <p:cNvSpPr txBox="1"/>
            <p:nvPr/>
          </p:nvSpPr>
          <p:spPr>
            <a:xfrm>
              <a:off x="7729267" y="342978"/>
              <a:ext cx="5350240" cy="364719"/>
            </a:xfrm>
            <a:prstGeom prst="rect">
              <a:avLst/>
            </a:prstGeom>
          </p:spPr>
          <p:txBody>
            <a:bodyPr lIns="0" tIns="0" rIns="0" bIns="0" rtlCol="0" anchor="t">
              <a:spAutoFit/>
            </a:bodyPr>
            <a:lstStyle/>
            <a:p>
              <a:pPr algn="l">
                <a:lnSpc>
                  <a:spcPts val="2379"/>
                </a:lnSpc>
              </a:pPr>
              <a:r>
                <a:rPr lang="en-US" sz="1699" b="1">
                  <a:solidFill>
                    <a:srgbClr val="0B2545"/>
                  </a:solidFill>
                  <a:latin typeface="Montserrat Bold"/>
                  <a:ea typeface="Montserrat Bold"/>
                  <a:cs typeface="Montserrat Bold"/>
                  <a:sym typeface="Montserrat Bold"/>
                </a:rPr>
                <a:t>The Key to a Fair Comparison</a:t>
              </a:r>
            </a:p>
          </p:txBody>
        </p:sp>
        <p:sp>
          <p:nvSpPr>
            <p:cNvPr id="24" name="TextBox 24"/>
            <p:cNvSpPr txBox="1"/>
            <p:nvPr/>
          </p:nvSpPr>
          <p:spPr>
            <a:xfrm>
              <a:off x="7729267" y="818016"/>
              <a:ext cx="6476881" cy="1692292"/>
            </a:xfrm>
            <a:prstGeom prst="rect">
              <a:avLst/>
            </a:prstGeom>
          </p:spPr>
          <p:txBody>
            <a:bodyPr lIns="0" tIns="0" rIns="0" bIns="0" rtlCol="0" anchor="t">
              <a:spAutoFit/>
            </a:bodyPr>
            <a:lstStyle/>
            <a:p>
              <a:pPr algn="l">
                <a:lnSpc>
                  <a:spcPts val="2099"/>
                </a:lnSpc>
              </a:pPr>
              <a:r>
                <a:rPr lang="en-US" sz="1499">
                  <a:solidFill>
                    <a:srgbClr val="1A2A3A"/>
                  </a:solidFill>
                  <a:latin typeface="Montserrat"/>
                  <a:ea typeface="Montserrat"/>
                  <a:cs typeface="Montserrat"/>
                  <a:sym typeface="Montserrat"/>
                </a:rPr>
                <a:t>All three models were evaluated on the EXACT SAME test set. Because we split the data by index, the samples that land in the test set are identical across models. This way, any performance gap comes from the model, not from chance.</a:t>
              </a: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4172E"/>
        </a:solidFill>
        <a:effectLst/>
      </p:bgPr>
    </p:bg>
    <p:spTree>
      <p:nvGrpSpPr>
        <p:cNvPr id="1" name=""/>
        <p:cNvGrpSpPr/>
        <p:nvPr/>
      </p:nvGrpSpPr>
      <p:grpSpPr>
        <a:xfrm>
          <a:off x="0" y="0"/>
          <a:ext cx="0" cy="0"/>
          <a:chOff x="0" y="0"/>
          <a:chExt cx="0" cy="0"/>
        </a:xfrm>
      </p:grpSpPr>
      <p:sp>
        <p:nvSpPr>
          <p:cNvPr id="2" name="TextBox 2"/>
          <p:cNvSpPr txBox="1"/>
          <p:nvPr/>
        </p:nvSpPr>
        <p:spPr>
          <a:xfrm>
            <a:off x="685800" y="628650"/>
            <a:ext cx="10957912" cy="795030"/>
          </a:xfrm>
          <a:prstGeom prst="rect">
            <a:avLst/>
          </a:prstGeom>
        </p:spPr>
        <p:txBody>
          <a:bodyPr lIns="0" tIns="0" rIns="0" bIns="0" rtlCol="0" anchor="t">
            <a:spAutoFit/>
          </a:bodyPr>
          <a:lstStyle/>
          <a:p>
            <a:pPr algn="l">
              <a:lnSpc>
                <a:spcPts val="2092"/>
              </a:lnSpc>
            </a:pPr>
            <a:endParaRPr/>
          </a:p>
          <a:p>
            <a:pPr algn="l">
              <a:lnSpc>
                <a:spcPts val="4887"/>
              </a:lnSpc>
            </a:pPr>
            <a:r>
              <a:rPr lang="en-US" sz="2800" b="1">
                <a:solidFill>
                  <a:srgbClr val="FFFFFF"/>
                </a:solidFill>
                <a:latin typeface="Montserrat Bold"/>
                <a:ea typeface="Montserrat Bold"/>
                <a:cs typeface="Montserrat Bold"/>
                <a:sym typeface="Montserrat Bold"/>
              </a:rPr>
              <a:t>Hitting the Disk Limit: The Road to a Pipeline </a:t>
            </a:r>
          </a:p>
        </p:txBody>
      </p:sp>
      <p:sp>
        <p:nvSpPr>
          <p:cNvPr id="3" name="TextBox 3"/>
          <p:cNvSpPr txBox="1"/>
          <p:nvPr/>
        </p:nvSpPr>
        <p:spPr>
          <a:xfrm>
            <a:off x="685800" y="628650"/>
            <a:ext cx="5058647" cy="231329"/>
          </a:xfrm>
          <a:prstGeom prst="rect">
            <a:avLst/>
          </a:prstGeom>
        </p:spPr>
        <p:txBody>
          <a:bodyPr lIns="0" tIns="0" rIns="0" bIns="0" rtlCol="0" anchor="t">
            <a:spAutoFit/>
          </a:bodyPr>
          <a:lstStyle/>
          <a:p>
            <a:pPr algn="l">
              <a:lnSpc>
                <a:spcPts val="2092"/>
              </a:lnSpc>
            </a:pPr>
            <a:r>
              <a:rPr lang="en-US" sz="1199" b="1" spc="290">
                <a:solidFill>
                  <a:srgbClr val="FCF1DE"/>
                </a:solidFill>
                <a:latin typeface="Montserrat Bold"/>
                <a:ea typeface="Montserrat Bold"/>
                <a:cs typeface="Montserrat Bold"/>
                <a:sym typeface="Montserrat Bold"/>
              </a:rPr>
              <a:t>02 . PROCESS - THE OBSTACLE WE FACED</a:t>
            </a:r>
          </a:p>
        </p:txBody>
      </p:sp>
      <p:grpSp>
        <p:nvGrpSpPr>
          <p:cNvPr id="4" name="Group 4"/>
          <p:cNvGrpSpPr/>
          <p:nvPr/>
        </p:nvGrpSpPr>
        <p:grpSpPr>
          <a:xfrm>
            <a:off x="832625" y="2305332"/>
            <a:ext cx="10526751" cy="2952331"/>
            <a:chOff x="0" y="0"/>
            <a:chExt cx="14035668" cy="3936441"/>
          </a:xfrm>
        </p:grpSpPr>
        <p:sp>
          <p:nvSpPr>
            <p:cNvPr id="5" name="TextBox 5"/>
            <p:cNvSpPr txBox="1"/>
            <p:nvPr/>
          </p:nvSpPr>
          <p:spPr>
            <a:xfrm>
              <a:off x="10404683" y="1954606"/>
              <a:ext cx="48793" cy="302743"/>
            </a:xfrm>
            <a:prstGeom prst="rect">
              <a:avLst/>
            </a:prstGeom>
          </p:spPr>
          <p:txBody>
            <a:bodyPr lIns="0" tIns="0" rIns="0" bIns="0" rtlCol="0" anchor="t">
              <a:spAutoFit/>
            </a:bodyPr>
            <a:lstStyle/>
            <a:p>
              <a:pPr algn="l">
                <a:lnSpc>
                  <a:spcPts val="1750"/>
                </a:lnSpc>
              </a:pPr>
              <a:r>
                <a:rPr lang="en-US" sz="1250">
                  <a:solidFill>
                    <a:srgbClr val="CFE0EA"/>
                  </a:solidFill>
                  <a:latin typeface="Carlito"/>
                  <a:ea typeface="Carlito"/>
                  <a:cs typeface="Carlito"/>
                  <a:sym typeface="Carlito"/>
                </a:rPr>
                <a:t> </a:t>
              </a:r>
            </a:p>
          </p:txBody>
        </p:sp>
        <p:sp>
          <p:nvSpPr>
            <p:cNvPr id="6" name="TextBox 6"/>
            <p:cNvSpPr txBox="1"/>
            <p:nvPr/>
          </p:nvSpPr>
          <p:spPr>
            <a:xfrm>
              <a:off x="4402888" y="1624965"/>
              <a:ext cx="223584" cy="635254"/>
            </a:xfrm>
            <a:prstGeom prst="rect">
              <a:avLst/>
            </a:prstGeom>
          </p:spPr>
          <p:txBody>
            <a:bodyPr lIns="0" tIns="0" rIns="0" bIns="0" rtlCol="0" anchor="t">
              <a:spAutoFit/>
            </a:bodyPr>
            <a:lstStyle/>
            <a:p>
              <a:pPr algn="l">
                <a:lnSpc>
                  <a:spcPts val="3639"/>
                </a:lnSpc>
              </a:pPr>
              <a:r>
                <a:rPr lang="en-US" sz="2599" b="1">
                  <a:solidFill>
                    <a:srgbClr val="E8A33D"/>
                  </a:solidFill>
                  <a:latin typeface="Carlito Bold"/>
                  <a:ea typeface="Carlito Bold"/>
                  <a:cs typeface="Carlito Bold"/>
                  <a:sym typeface="Carlito Bold"/>
                </a:rPr>
                <a:t>&gt;</a:t>
              </a:r>
            </a:p>
          </p:txBody>
        </p:sp>
        <p:sp>
          <p:nvSpPr>
            <p:cNvPr id="7" name="TextBox 7"/>
            <p:cNvSpPr txBox="1"/>
            <p:nvPr/>
          </p:nvSpPr>
          <p:spPr>
            <a:xfrm>
              <a:off x="9352628" y="1624965"/>
              <a:ext cx="223584" cy="635254"/>
            </a:xfrm>
            <a:prstGeom prst="rect">
              <a:avLst/>
            </a:prstGeom>
          </p:spPr>
          <p:txBody>
            <a:bodyPr lIns="0" tIns="0" rIns="0" bIns="0" rtlCol="0" anchor="t">
              <a:spAutoFit/>
            </a:bodyPr>
            <a:lstStyle/>
            <a:p>
              <a:pPr algn="l">
                <a:lnSpc>
                  <a:spcPts val="3639"/>
                </a:lnSpc>
              </a:pPr>
              <a:r>
                <a:rPr lang="en-US" sz="2599" b="1">
                  <a:solidFill>
                    <a:srgbClr val="E8A33D"/>
                  </a:solidFill>
                  <a:latin typeface="Carlito Bold"/>
                  <a:ea typeface="Carlito Bold"/>
                  <a:cs typeface="Carlito Bold"/>
                  <a:sym typeface="Carlito Bold"/>
                </a:rPr>
                <a:t>&gt;</a:t>
              </a:r>
            </a:p>
          </p:txBody>
        </p:sp>
        <p:sp>
          <p:nvSpPr>
            <p:cNvPr id="8" name="Freeform 8"/>
            <p:cNvSpPr/>
            <p:nvPr/>
          </p:nvSpPr>
          <p:spPr>
            <a:xfrm>
              <a:off x="0" y="0"/>
              <a:ext cx="4192757" cy="3936441"/>
            </a:xfrm>
            <a:custGeom>
              <a:avLst/>
              <a:gdLst/>
              <a:ahLst/>
              <a:cxnLst/>
              <a:rect l="l" t="t" r="r" b="b"/>
              <a:pathLst>
                <a:path w="4192757" h="3936441">
                  <a:moveTo>
                    <a:pt x="0" y="0"/>
                  </a:moveTo>
                  <a:lnTo>
                    <a:pt x="4192757" y="0"/>
                  </a:lnTo>
                  <a:lnTo>
                    <a:pt x="4192757" y="3936441"/>
                  </a:lnTo>
                  <a:lnTo>
                    <a:pt x="0" y="3936441"/>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9" name="TextBox 9"/>
            <p:cNvSpPr txBox="1"/>
            <p:nvPr/>
          </p:nvSpPr>
          <p:spPr>
            <a:xfrm>
              <a:off x="404659" y="1878140"/>
              <a:ext cx="3456191" cy="1051558"/>
            </a:xfrm>
            <a:prstGeom prst="rect">
              <a:avLst/>
            </a:prstGeom>
          </p:spPr>
          <p:txBody>
            <a:bodyPr lIns="0" tIns="0" rIns="0" bIns="0" rtlCol="0" anchor="t">
              <a:spAutoFit/>
            </a:bodyPr>
            <a:lstStyle/>
            <a:p>
              <a:pPr algn="l">
                <a:lnSpc>
                  <a:spcPts val="1646"/>
                </a:lnSpc>
              </a:pPr>
              <a:r>
                <a:rPr lang="en-US" sz="1250">
                  <a:solidFill>
                    <a:srgbClr val="CFE0EA"/>
                  </a:solidFill>
                  <a:latin typeface="Montserrat"/>
                  <a:ea typeface="Montserrat"/>
                  <a:cs typeface="Montserrat"/>
                  <a:sym typeface="Montserrat"/>
                </a:rPr>
                <a:t>We tried a mechanism that downloaded, processed, and deleted all data for the three languages.</a:t>
              </a:r>
            </a:p>
          </p:txBody>
        </p:sp>
        <p:sp>
          <p:nvSpPr>
            <p:cNvPr id="10" name="TextBox 10"/>
            <p:cNvSpPr txBox="1"/>
            <p:nvPr/>
          </p:nvSpPr>
          <p:spPr>
            <a:xfrm>
              <a:off x="675162" y="510196"/>
              <a:ext cx="146050" cy="484303"/>
            </a:xfrm>
            <a:prstGeom prst="rect">
              <a:avLst/>
            </a:prstGeom>
          </p:spPr>
          <p:txBody>
            <a:bodyPr lIns="0" tIns="0" rIns="0" bIns="0" rtlCol="0" anchor="t">
              <a:spAutoFit/>
            </a:bodyPr>
            <a:lstStyle/>
            <a:p>
              <a:pPr algn="l">
                <a:lnSpc>
                  <a:spcPts val="3079"/>
                </a:lnSpc>
              </a:pPr>
              <a:r>
                <a:rPr lang="en-US" sz="2199" b="1">
                  <a:solidFill>
                    <a:srgbClr val="FFFFFF"/>
                  </a:solidFill>
                  <a:latin typeface="Montserrat Bold"/>
                  <a:ea typeface="Montserrat Bold"/>
                  <a:cs typeface="Montserrat Bold"/>
                  <a:sym typeface="Montserrat Bold"/>
                </a:rPr>
                <a:t>1</a:t>
              </a:r>
            </a:p>
          </p:txBody>
        </p:sp>
        <p:sp>
          <p:nvSpPr>
            <p:cNvPr id="11" name="TextBox 11"/>
            <p:cNvSpPr txBox="1"/>
            <p:nvPr/>
          </p:nvSpPr>
          <p:spPr>
            <a:xfrm>
              <a:off x="404659" y="1277225"/>
              <a:ext cx="3383439" cy="311406"/>
            </a:xfrm>
            <a:prstGeom prst="rect">
              <a:avLst/>
            </a:prstGeom>
          </p:spPr>
          <p:txBody>
            <a:bodyPr lIns="0" tIns="0" rIns="0" bIns="0" rtlCol="0" anchor="t">
              <a:spAutoFit/>
            </a:bodyPr>
            <a:lstStyle/>
            <a:p>
              <a:pPr algn="l">
                <a:lnSpc>
                  <a:spcPts val="1958"/>
                </a:lnSpc>
              </a:pPr>
              <a:r>
                <a:rPr lang="en-US" sz="1398" b="1">
                  <a:solidFill>
                    <a:srgbClr val="FFFFFF"/>
                  </a:solidFill>
                  <a:latin typeface="Montserrat Bold"/>
                  <a:ea typeface="Montserrat Bold"/>
                  <a:cs typeface="Montserrat Bold"/>
                  <a:sym typeface="Montserrat Bold"/>
                </a:rPr>
                <a:t>First: Download Everything</a:t>
              </a:r>
            </a:p>
          </p:txBody>
        </p:sp>
        <p:sp>
          <p:nvSpPr>
            <p:cNvPr id="12" name="TextBox 12"/>
            <p:cNvSpPr txBox="1"/>
            <p:nvPr/>
          </p:nvSpPr>
          <p:spPr>
            <a:xfrm>
              <a:off x="404659" y="3115572"/>
              <a:ext cx="3179445" cy="442383"/>
            </a:xfrm>
            <a:prstGeom prst="rect">
              <a:avLst/>
            </a:prstGeom>
          </p:spPr>
          <p:txBody>
            <a:bodyPr lIns="0" tIns="0" rIns="0" bIns="0" rtlCol="0" anchor="t">
              <a:spAutoFit/>
            </a:bodyPr>
            <a:lstStyle/>
            <a:p>
              <a:pPr algn="l">
                <a:lnSpc>
                  <a:spcPts val="1399"/>
                </a:lnSpc>
              </a:pPr>
              <a:r>
                <a:rPr lang="en-US" sz="999" i="1">
                  <a:solidFill>
                    <a:srgbClr val="F3C98B"/>
                  </a:solidFill>
                  <a:latin typeface="Montserrat Italics"/>
                  <a:ea typeface="Montserrat Italics"/>
                  <a:cs typeface="Montserrat Italics"/>
                  <a:sym typeface="Montserrat Italics"/>
                </a:rPr>
                <a:t>Exceeded Google Colab's ~200 GB disk limit. </a:t>
              </a:r>
            </a:p>
          </p:txBody>
        </p:sp>
        <p:sp>
          <p:nvSpPr>
            <p:cNvPr id="13" name="Freeform 13"/>
            <p:cNvSpPr/>
            <p:nvPr/>
          </p:nvSpPr>
          <p:spPr>
            <a:xfrm>
              <a:off x="4893171" y="0"/>
              <a:ext cx="4192757" cy="3936441"/>
            </a:xfrm>
            <a:custGeom>
              <a:avLst/>
              <a:gdLst/>
              <a:ahLst/>
              <a:cxnLst/>
              <a:rect l="l" t="t" r="r" b="b"/>
              <a:pathLst>
                <a:path w="4192757" h="3936441">
                  <a:moveTo>
                    <a:pt x="0" y="0"/>
                  </a:moveTo>
                  <a:lnTo>
                    <a:pt x="4192757" y="0"/>
                  </a:lnTo>
                  <a:lnTo>
                    <a:pt x="4192757" y="3936441"/>
                  </a:lnTo>
                  <a:lnTo>
                    <a:pt x="0" y="3936441"/>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14" name="TextBox 14"/>
            <p:cNvSpPr txBox="1"/>
            <p:nvPr/>
          </p:nvSpPr>
          <p:spPr>
            <a:xfrm>
              <a:off x="5297830" y="1878140"/>
              <a:ext cx="3456191" cy="518158"/>
            </a:xfrm>
            <a:prstGeom prst="rect">
              <a:avLst/>
            </a:prstGeom>
          </p:spPr>
          <p:txBody>
            <a:bodyPr lIns="0" tIns="0" rIns="0" bIns="0" rtlCol="0" anchor="t">
              <a:spAutoFit/>
            </a:bodyPr>
            <a:lstStyle/>
            <a:p>
              <a:pPr algn="l">
                <a:lnSpc>
                  <a:spcPts val="1646"/>
                </a:lnSpc>
              </a:pPr>
              <a:r>
                <a:rPr lang="en-US" sz="1250">
                  <a:solidFill>
                    <a:srgbClr val="CFE0EA"/>
                  </a:solidFill>
                  <a:latin typeface="Montserrat"/>
                  <a:ea typeface="Montserrat"/>
                  <a:cs typeface="Montserrat"/>
                  <a:sym typeface="Montserrat"/>
                </a:rPr>
                <a:t>We tried download-process-delete one language at a time. </a:t>
              </a:r>
            </a:p>
          </p:txBody>
        </p:sp>
        <p:sp>
          <p:nvSpPr>
            <p:cNvPr id="15" name="TextBox 15"/>
            <p:cNvSpPr txBox="1"/>
            <p:nvPr/>
          </p:nvSpPr>
          <p:spPr>
            <a:xfrm>
              <a:off x="5530234" y="510196"/>
              <a:ext cx="146050" cy="484303"/>
            </a:xfrm>
            <a:prstGeom prst="rect">
              <a:avLst/>
            </a:prstGeom>
          </p:spPr>
          <p:txBody>
            <a:bodyPr lIns="0" tIns="0" rIns="0" bIns="0" rtlCol="0" anchor="t">
              <a:spAutoFit/>
            </a:bodyPr>
            <a:lstStyle/>
            <a:p>
              <a:pPr algn="l">
                <a:lnSpc>
                  <a:spcPts val="3079"/>
                </a:lnSpc>
              </a:pPr>
              <a:r>
                <a:rPr lang="en-US" sz="2199" b="1">
                  <a:solidFill>
                    <a:srgbClr val="FFFFFF"/>
                  </a:solidFill>
                  <a:latin typeface="Montserrat Bold"/>
                  <a:ea typeface="Montserrat Bold"/>
                  <a:cs typeface="Montserrat Bold"/>
                  <a:sym typeface="Montserrat Bold"/>
                </a:rPr>
                <a:t>2</a:t>
              </a:r>
            </a:p>
          </p:txBody>
        </p:sp>
        <p:sp>
          <p:nvSpPr>
            <p:cNvPr id="16" name="TextBox 16"/>
            <p:cNvSpPr txBox="1"/>
            <p:nvPr/>
          </p:nvSpPr>
          <p:spPr>
            <a:xfrm>
              <a:off x="5297830" y="1277225"/>
              <a:ext cx="3562103" cy="311406"/>
            </a:xfrm>
            <a:prstGeom prst="rect">
              <a:avLst/>
            </a:prstGeom>
          </p:spPr>
          <p:txBody>
            <a:bodyPr lIns="0" tIns="0" rIns="0" bIns="0" rtlCol="0" anchor="t">
              <a:spAutoFit/>
            </a:bodyPr>
            <a:lstStyle/>
            <a:p>
              <a:pPr algn="l">
                <a:lnSpc>
                  <a:spcPts val="1958"/>
                </a:lnSpc>
              </a:pPr>
              <a:r>
                <a:rPr lang="en-US" sz="1398" b="1">
                  <a:solidFill>
                    <a:srgbClr val="FFFFFF"/>
                  </a:solidFill>
                  <a:latin typeface="Montserrat Bold"/>
                  <a:ea typeface="Montserrat Bold"/>
                  <a:cs typeface="Montserrat Bold"/>
                  <a:sym typeface="Montserrat Bold"/>
                </a:rPr>
                <a:t>Then: Separate by Language </a:t>
              </a:r>
            </a:p>
          </p:txBody>
        </p:sp>
        <p:sp>
          <p:nvSpPr>
            <p:cNvPr id="17" name="TextBox 17"/>
            <p:cNvSpPr txBox="1"/>
            <p:nvPr/>
          </p:nvSpPr>
          <p:spPr>
            <a:xfrm>
              <a:off x="5297830" y="3115572"/>
              <a:ext cx="3179445" cy="213783"/>
            </a:xfrm>
            <a:prstGeom prst="rect">
              <a:avLst/>
            </a:prstGeom>
          </p:spPr>
          <p:txBody>
            <a:bodyPr lIns="0" tIns="0" rIns="0" bIns="0" rtlCol="0" anchor="t">
              <a:spAutoFit/>
            </a:bodyPr>
            <a:lstStyle/>
            <a:p>
              <a:pPr algn="l">
                <a:lnSpc>
                  <a:spcPts val="1399"/>
                </a:lnSpc>
              </a:pPr>
              <a:r>
                <a:rPr lang="en-US" sz="999" i="1">
                  <a:solidFill>
                    <a:srgbClr val="F3C98B"/>
                  </a:solidFill>
                  <a:latin typeface="Montserrat Italics"/>
                  <a:ea typeface="Montserrat Italics"/>
                  <a:cs typeface="Montserrat Italics"/>
                  <a:sym typeface="Montserrat Italics"/>
                </a:rPr>
                <a:t>Still hit the disk limit; not sustainable.</a:t>
              </a:r>
            </a:p>
          </p:txBody>
        </p:sp>
        <p:sp>
          <p:nvSpPr>
            <p:cNvPr id="18" name="Freeform 18"/>
            <p:cNvSpPr/>
            <p:nvPr/>
          </p:nvSpPr>
          <p:spPr>
            <a:xfrm>
              <a:off x="9842911" y="0"/>
              <a:ext cx="4192757" cy="3936441"/>
            </a:xfrm>
            <a:custGeom>
              <a:avLst/>
              <a:gdLst/>
              <a:ahLst/>
              <a:cxnLst/>
              <a:rect l="l" t="t" r="r" b="b"/>
              <a:pathLst>
                <a:path w="4192757" h="3936441">
                  <a:moveTo>
                    <a:pt x="0" y="0"/>
                  </a:moveTo>
                  <a:lnTo>
                    <a:pt x="4192757" y="0"/>
                  </a:lnTo>
                  <a:lnTo>
                    <a:pt x="4192757" y="3936441"/>
                  </a:lnTo>
                  <a:lnTo>
                    <a:pt x="0" y="3936441"/>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19" name="TextBox 19"/>
            <p:cNvSpPr txBox="1"/>
            <p:nvPr/>
          </p:nvSpPr>
          <p:spPr>
            <a:xfrm>
              <a:off x="10247570" y="1878140"/>
              <a:ext cx="3456191" cy="784858"/>
            </a:xfrm>
            <a:prstGeom prst="rect">
              <a:avLst/>
            </a:prstGeom>
          </p:spPr>
          <p:txBody>
            <a:bodyPr lIns="0" tIns="0" rIns="0" bIns="0" rtlCol="0" anchor="t">
              <a:spAutoFit/>
            </a:bodyPr>
            <a:lstStyle/>
            <a:p>
              <a:pPr algn="l">
                <a:lnSpc>
                  <a:spcPts val="1646"/>
                </a:lnSpc>
              </a:pPr>
              <a:r>
                <a:rPr lang="en-US" sz="1250">
                  <a:solidFill>
                    <a:srgbClr val="CFE0EA"/>
                  </a:solidFill>
                  <a:latin typeface="Montserrat"/>
                  <a:ea typeface="Montserrat"/>
                  <a:cs typeface="Montserrat"/>
                  <a:sym typeface="Montserrat"/>
                </a:rPr>
                <a:t>We built a stream-based pipeline that processes data without ever writing it to disk. </a:t>
              </a:r>
            </a:p>
          </p:txBody>
        </p:sp>
        <p:sp>
          <p:nvSpPr>
            <p:cNvPr id="20" name="TextBox 20"/>
            <p:cNvSpPr txBox="1"/>
            <p:nvPr/>
          </p:nvSpPr>
          <p:spPr>
            <a:xfrm>
              <a:off x="10479974" y="510196"/>
              <a:ext cx="146050" cy="484303"/>
            </a:xfrm>
            <a:prstGeom prst="rect">
              <a:avLst/>
            </a:prstGeom>
          </p:spPr>
          <p:txBody>
            <a:bodyPr lIns="0" tIns="0" rIns="0" bIns="0" rtlCol="0" anchor="t">
              <a:spAutoFit/>
            </a:bodyPr>
            <a:lstStyle/>
            <a:p>
              <a:pPr algn="l">
                <a:lnSpc>
                  <a:spcPts val="3079"/>
                </a:lnSpc>
              </a:pPr>
              <a:r>
                <a:rPr lang="en-US" sz="2199" b="1">
                  <a:solidFill>
                    <a:srgbClr val="FFFFFF"/>
                  </a:solidFill>
                  <a:latin typeface="Montserrat Bold"/>
                  <a:ea typeface="Montserrat Bold"/>
                  <a:cs typeface="Montserrat Bold"/>
                  <a:sym typeface="Montserrat Bold"/>
                </a:rPr>
                <a:t>3</a:t>
              </a:r>
            </a:p>
          </p:txBody>
        </p:sp>
        <p:sp>
          <p:nvSpPr>
            <p:cNvPr id="21" name="TextBox 21"/>
            <p:cNvSpPr txBox="1"/>
            <p:nvPr/>
          </p:nvSpPr>
          <p:spPr>
            <a:xfrm>
              <a:off x="10247570" y="1277225"/>
              <a:ext cx="3562103" cy="311406"/>
            </a:xfrm>
            <a:prstGeom prst="rect">
              <a:avLst/>
            </a:prstGeom>
          </p:spPr>
          <p:txBody>
            <a:bodyPr lIns="0" tIns="0" rIns="0" bIns="0" rtlCol="0" anchor="t">
              <a:spAutoFit/>
            </a:bodyPr>
            <a:lstStyle/>
            <a:p>
              <a:pPr algn="l">
                <a:lnSpc>
                  <a:spcPts val="1958"/>
                </a:lnSpc>
              </a:pPr>
              <a:r>
                <a:rPr lang="en-US" sz="1398" b="1">
                  <a:solidFill>
                    <a:srgbClr val="FFFFFF"/>
                  </a:solidFill>
                  <a:latin typeface="Montserrat Bold"/>
                  <a:ea typeface="Montserrat Bold"/>
                  <a:cs typeface="Montserrat Bold"/>
                  <a:sym typeface="Montserrat Bold"/>
                </a:rPr>
                <a:t>Solution: Pipeline</a:t>
              </a:r>
            </a:p>
          </p:txBody>
        </p:sp>
        <p:sp>
          <p:nvSpPr>
            <p:cNvPr id="22" name="TextBox 22"/>
            <p:cNvSpPr txBox="1"/>
            <p:nvPr/>
          </p:nvSpPr>
          <p:spPr>
            <a:xfrm>
              <a:off x="10247570" y="3115572"/>
              <a:ext cx="3179445" cy="442383"/>
            </a:xfrm>
            <a:prstGeom prst="rect">
              <a:avLst/>
            </a:prstGeom>
          </p:spPr>
          <p:txBody>
            <a:bodyPr lIns="0" tIns="0" rIns="0" bIns="0" rtlCol="0" anchor="t">
              <a:spAutoFit/>
            </a:bodyPr>
            <a:lstStyle/>
            <a:p>
              <a:pPr algn="l">
                <a:lnSpc>
                  <a:spcPts val="1399"/>
                </a:lnSpc>
              </a:pPr>
              <a:r>
                <a:rPr lang="en-US" sz="999" i="1">
                  <a:solidFill>
                    <a:srgbClr val="7FE3E8"/>
                  </a:solidFill>
                  <a:latin typeface="Montserrat Italics"/>
                  <a:ea typeface="Montserrat Italics"/>
                  <a:cs typeface="Montserrat Italics"/>
                  <a:sym typeface="Montserrat Italics"/>
                </a:rPr>
                <a:t>Disk load dropped to nearly zero - problem solved.</a:t>
              </a: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AF1"/>
        </a:solidFill>
        <a:effectLst/>
      </p:bgPr>
    </p:bg>
    <p:spTree>
      <p:nvGrpSpPr>
        <p:cNvPr id="1" name=""/>
        <p:cNvGrpSpPr/>
        <p:nvPr/>
      </p:nvGrpSpPr>
      <p:grpSpPr>
        <a:xfrm>
          <a:off x="0" y="0"/>
          <a:ext cx="0" cy="0"/>
          <a:chOff x="0" y="0"/>
          <a:chExt cx="0" cy="0"/>
        </a:xfrm>
      </p:grpSpPr>
      <p:sp>
        <p:nvSpPr>
          <p:cNvPr id="2" name="Freeform 2"/>
          <p:cNvSpPr/>
          <p:nvPr/>
        </p:nvSpPr>
        <p:spPr>
          <a:xfrm>
            <a:off x="484784" y="2084984"/>
            <a:ext cx="5476237" cy="3693157"/>
          </a:xfrm>
          <a:custGeom>
            <a:avLst/>
            <a:gdLst/>
            <a:ahLst/>
            <a:cxnLst/>
            <a:rect l="l" t="t" r="r" b="b"/>
            <a:pathLst>
              <a:path w="5476237" h="3693157">
                <a:moveTo>
                  <a:pt x="0" y="0"/>
                </a:moveTo>
                <a:lnTo>
                  <a:pt x="5476237" y="0"/>
                </a:lnTo>
                <a:lnTo>
                  <a:pt x="5476237" y="3693157"/>
                </a:lnTo>
                <a:lnTo>
                  <a:pt x="0" y="3693157"/>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6200137" y="2084984"/>
            <a:ext cx="5476237" cy="3693157"/>
          </a:xfrm>
          <a:custGeom>
            <a:avLst/>
            <a:gdLst/>
            <a:ahLst/>
            <a:cxnLst/>
            <a:rect l="l" t="t" r="r" b="b"/>
            <a:pathLst>
              <a:path w="5476237" h="3693157">
                <a:moveTo>
                  <a:pt x="0" y="0"/>
                </a:moveTo>
                <a:lnTo>
                  <a:pt x="5476237" y="0"/>
                </a:lnTo>
                <a:lnTo>
                  <a:pt x="5476237" y="3693157"/>
                </a:lnTo>
                <a:lnTo>
                  <a:pt x="0" y="3693157"/>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 name="TextBox 4"/>
          <p:cNvSpPr txBox="1"/>
          <p:nvPr/>
        </p:nvSpPr>
        <p:spPr>
          <a:xfrm>
            <a:off x="696058" y="1573959"/>
            <a:ext cx="43901" cy="286655"/>
          </a:xfrm>
          <a:prstGeom prst="rect">
            <a:avLst/>
          </a:prstGeom>
        </p:spPr>
        <p:txBody>
          <a:bodyPr lIns="0" tIns="0" rIns="0" bIns="0" rtlCol="0" anchor="t">
            <a:spAutoFit/>
          </a:bodyPr>
          <a:lstStyle/>
          <a:p>
            <a:pPr algn="l">
              <a:lnSpc>
                <a:spcPts val="2099"/>
              </a:lnSpc>
            </a:pPr>
            <a:r>
              <a:rPr lang="en-US" sz="1499">
                <a:solidFill>
                  <a:srgbClr val="1A2A3A"/>
                </a:solidFill>
                <a:latin typeface="Carlito"/>
                <a:ea typeface="Carlito"/>
                <a:cs typeface="Carlito"/>
                <a:sym typeface="Carlito"/>
              </a:rPr>
              <a:t> </a:t>
            </a:r>
          </a:p>
        </p:txBody>
      </p:sp>
      <p:sp>
        <p:nvSpPr>
          <p:cNvPr id="5" name="TextBox 5"/>
          <p:cNvSpPr txBox="1"/>
          <p:nvPr/>
        </p:nvSpPr>
        <p:spPr>
          <a:xfrm>
            <a:off x="685800" y="1570622"/>
            <a:ext cx="10736818" cy="247663"/>
          </a:xfrm>
          <a:prstGeom prst="rect">
            <a:avLst/>
          </a:prstGeom>
        </p:spPr>
        <p:txBody>
          <a:bodyPr lIns="0" tIns="0" rIns="0" bIns="0" rtlCol="0" anchor="t">
            <a:spAutoFit/>
          </a:bodyPr>
          <a:lstStyle/>
          <a:p>
            <a:pPr algn="l">
              <a:lnSpc>
                <a:spcPts val="2099"/>
              </a:lnSpc>
            </a:pPr>
            <a:r>
              <a:rPr lang="en-US" sz="1499">
                <a:solidFill>
                  <a:srgbClr val="1A2A3A"/>
                </a:solidFill>
                <a:latin typeface="Montserrat"/>
                <a:ea typeface="Montserrat"/>
                <a:cs typeface="Montserrat"/>
                <a:sym typeface="Montserrat"/>
              </a:rPr>
              <a:t>In</a:t>
            </a:r>
            <a:r>
              <a:rPr lang="en-US" sz="1499">
                <a:solidFill>
                  <a:srgbClr val="FFFFFF"/>
                </a:solidFill>
                <a:latin typeface="Montserrat"/>
                <a:ea typeface="Montserrat"/>
                <a:cs typeface="Montserrat"/>
                <a:sym typeface="Montserrat"/>
              </a:rPr>
              <a:t> </a:t>
            </a:r>
            <a:r>
              <a:rPr lang="en-US" sz="1499">
                <a:solidFill>
                  <a:srgbClr val="1A2A3A"/>
                </a:solidFill>
                <a:latin typeface="Montserrat"/>
                <a:ea typeface="Montserrat"/>
                <a:cs typeface="Montserrat"/>
                <a:sym typeface="Montserrat"/>
              </a:rPr>
              <a:t>a</a:t>
            </a:r>
            <a:r>
              <a:rPr lang="en-US" sz="1499">
                <a:solidFill>
                  <a:srgbClr val="FFFFFF"/>
                </a:solidFill>
                <a:latin typeface="Montserrat"/>
                <a:ea typeface="Montserrat"/>
                <a:cs typeface="Montserrat"/>
                <a:sym typeface="Montserrat"/>
              </a:rPr>
              <a:t> </a:t>
            </a:r>
            <a:r>
              <a:rPr lang="en-US" sz="1499">
                <a:solidFill>
                  <a:srgbClr val="1A2A3A"/>
                </a:solidFill>
                <a:latin typeface="Montserrat"/>
                <a:ea typeface="Montserrat"/>
                <a:cs typeface="Montserrat"/>
                <a:sym typeface="Montserrat"/>
              </a:rPr>
              <a:t>single</a:t>
            </a:r>
            <a:r>
              <a:rPr lang="en-US" sz="1499">
                <a:solidFill>
                  <a:srgbClr val="FFFFFF"/>
                </a:solidFill>
                <a:latin typeface="Montserrat"/>
                <a:ea typeface="Montserrat"/>
                <a:cs typeface="Montserrat"/>
                <a:sym typeface="Montserrat"/>
              </a:rPr>
              <a:t> </a:t>
            </a:r>
            <a:r>
              <a:rPr lang="en-US" sz="1499">
                <a:solidFill>
                  <a:srgbClr val="1A2A3A"/>
                </a:solidFill>
                <a:latin typeface="Montserrat"/>
                <a:ea typeface="Montserrat"/>
                <a:cs typeface="Montserrat"/>
                <a:sym typeface="Montserrat"/>
              </a:rPr>
              <a:t>decoding</a:t>
            </a:r>
            <a:r>
              <a:rPr lang="en-US" sz="1499">
                <a:solidFill>
                  <a:srgbClr val="FFFFFF"/>
                </a:solidFill>
                <a:latin typeface="Montserrat"/>
                <a:ea typeface="Montserrat"/>
                <a:cs typeface="Montserrat"/>
                <a:sym typeface="Montserrat"/>
              </a:rPr>
              <a:t> </a:t>
            </a:r>
            <a:r>
              <a:rPr lang="en-US" sz="1499">
                <a:solidFill>
                  <a:srgbClr val="1A2A3A"/>
                </a:solidFill>
                <a:latin typeface="Montserrat"/>
                <a:ea typeface="Montserrat"/>
                <a:cs typeface="Montserrat"/>
                <a:sym typeface="Montserrat"/>
              </a:rPr>
              <a:t>pass,</a:t>
            </a:r>
            <a:r>
              <a:rPr lang="en-US" sz="1499">
                <a:solidFill>
                  <a:srgbClr val="FFFFFF"/>
                </a:solidFill>
                <a:latin typeface="Montserrat"/>
                <a:ea typeface="Montserrat"/>
                <a:cs typeface="Montserrat"/>
                <a:sym typeface="Montserrat"/>
              </a:rPr>
              <a:t> </a:t>
            </a:r>
            <a:r>
              <a:rPr lang="en-US" sz="1499">
                <a:solidFill>
                  <a:srgbClr val="1A2A3A"/>
                </a:solidFill>
                <a:latin typeface="Montserrat"/>
                <a:ea typeface="Montserrat"/>
                <a:cs typeface="Montserrat"/>
                <a:sym typeface="Montserrat"/>
              </a:rPr>
              <a:t>we</a:t>
            </a:r>
            <a:r>
              <a:rPr lang="en-US" sz="1499">
                <a:solidFill>
                  <a:srgbClr val="FFFFFF"/>
                </a:solidFill>
                <a:latin typeface="Montserrat"/>
                <a:ea typeface="Montserrat"/>
                <a:cs typeface="Montserrat"/>
                <a:sym typeface="Montserrat"/>
              </a:rPr>
              <a:t> </a:t>
            </a:r>
            <a:r>
              <a:rPr lang="en-US" sz="1499">
                <a:solidFill>
                  <a:srgbClr val="1A2A3A"/>
                </a:solidFill>
                <a:latin typeface="Montserrat"/>
                <a:ea typeface="Montserrat"/>
                <a:cs typeface="Montserrat"/>
                <a:sym typeface="Montserrat"/>
              </a:rPr>
              <a:t>extract</a:t>
            </a:r>
            <a:r>
              <a:rPr lang="en-US" sz="1499">
                <a:solidFill>
                  <a:srgbClr val="FFFFFF"/>
                </a:solidFill>
                <a:latin typeface="Montserrat"/>
                <a:ea typeface="Montserrat"/>
                <a:cs typeface="Montserrat"/>
                <a:sym typeface="Montserrat"/>
              </a:rPr>
              <a:t> </a:t>
            </a:r>
            <a:r>
              <a:rPr lang="en-US" sz="1499">
                <a:solidFill>
                  <a:srgbClr val="1A2A3A"/>
                </a:solidFill>
                <a:latin typeface="Montserrat"/>
                <a:ea typeface="Montserrat"/>
                <a:cs typeface="Montserrat"/>
                <a:sym typeface="Montserrat"/>
              </a:rPr>
              <a:t>two</a:t>
            </a:r>
            <a:r>
              <a:rPr lang="en-US" sz="1499">
                <a:solidFill>
                  <a:srgbClr val="FFFFFF"/>
                </a:solidFill>
                <a:latin typeface="Montserrat"/>
                <a:ea typeface="Montserrat"/>
                <a:cs typeface="Montserrat"/>
                <a:sym typeface="Montserrat"/>
              </a:rPr>
              <a:t> </a:t>
            </a:r>
            <a:r>
              <a:rPr lang="en-US" sz="1499">
                <a:solidFill>
                  <a:srgbClr val="1A2A3A"/>
                </a:solidFill>
                <a:latin typeface="Montserrat"/>
                <a:ea typeface="Montserrat"/>
                <a:cs typeface="Montserrat"/>
                <a:sym typeface="Montserrat"/>
              </a:rPr>
              <a:t>parallel</a:t>
            </a:r>
            <a:r>
              <a:rPr lang="en-US" sz="1499">
                <a:solidFill>
                  <a:srgbClr val="FFFFFF"/>
                </a:solidFill>
                <a:latin typeface="Montserrat"/>
                <a:ea typeface="Montserrat"/>
                <a:cs typeface="Montserrat"/>
                <a:sym typeface="Montserrat"/>
              </a:rPr>
              <a:t> </a:t>
            </a:r>
            <a:r>
              <a:rPr lang="en-US" sz="1499">
                <a:solidFill>
                  <a:srgbClr val="1A2A3A"/>
                </a:solidFill>
                <a:latin typeface="Montserrat"/>
                <a:ea typeface="Montserrat"/>
                <a:cs typeface="Montserrat"/>
                <a:sym typeface="Montserrat"/>
              </a:rPr>
              <a:t>representations</a:t>
            </a:r>
            <a:r>
              <a:rPr lang="en-US" sz="1499">
                <a:solidFill>
                  <a:srgbClr val="FFFFFF"/>
                </a:solidFill>
                <a:latin typeface="Montserrat"/>
                <a:ea typeface="Montserrat"/>
                <a:cs typeface="Montserrat"/>
                <a:sym typeface="Montserrat"/>
              </a:rPr>
              <a:t> </a:t>
            </a:r>
            <a:r>
              <a:rPr lang="en-US" sz="1499">
                <a:solidFill>
                  <a:srgbClr val="1A2A3A"/>
                </a:solidFill>
                <a:latin typeface="Montserrat"/>
                <a:ea typeface="Montserrat"/>
                <a:cs typeface="Montserrat"/>
                <a:sym typeface="Montserrat"/>
              </a:rPr>
              <a:t>from</a:t>
            </a:r>
            <a:r>
              <a:rPr lang="en-US" sz="1499">
                <a:solidFill>
                  <a:srgbClr val="FFFFFF"/>
                </a:solidFill>
                <a:latin typeface="Montserrat"/>
                <a:ea typeface="Montserrat"/>
                <a:cs typeface="Montserrat"/>
                <a:sym typeface="Montserrat"/>
              </a:rPr>
              <a:t> </a:t>
            </a:r>
            <a:r>
              <a:rPr lang="en-US" sz="1499">
                <a:solidFill>
                  <a:srgbClr val="1A2A3A"/>
                </a:solidFill>
                <a:latin typeface="Montserrat"/>
                <a:ea typeface="Montserrat"/>
                <a:cs typeface="Montserrat"/>
                <a:sym typeface="Montserrat"/>
              </a:rPr>
              <a:t>each</a:t>
            </a:r>
            <a:r>
              <a:rPr lang="en-US" sz="1499">
                <a:solidFill>
                  <a:srgbClr val="FFFFFF"/>
                </a:solidFill>
                <a:latin typeface="Montserrat"/>
                <a:ea typeface="Montserrat"/>
                <a:cs typeface="Montserrat"/>
                <a:sym typeface="Montserrat"/>
              </a:rPr>
              <a:t> </a:t>
            </a:r>
            <a:r>
              <a:rPr lang="en-US" sz="1499">
                <a:solidFill>
                  <a:srgbClr val="1A2A3A"/>
                </a:solidFill>
                <a:latin typeface="Montserrat"/>
                <a:ea typeface="Montserrat"/>
                <a:cs typeface="Montserrat"/>
                <a:sym typeface="Montserrat"/>
              </a:rPr>
              <a:t>recording.</a:t>
            </a:r>
            <a:r>
              <a:rPr lang="en-US" sz="1499">
                <a:solidFill>
                  <a:srgbClr val="FFFFFF"/>
                </a:solidFill>
                <a:latin typeface="Montserrat"/>
                <a:ea typeface="Montserrat"/>
                <a:cs typeface="Montserrat"/>
                <a:sym typeface="Montserrat"/>
              </a:rPr>
              <a:t> </a:t>
            </a:r>
            <a:r>
              <a:rPr lang="en-US" sz="1499">
                <a:solidFill>
                  <a:srgbClr val="1A2A3A"/>
                </a:solidFill>
                <a:latin typeface="Montserrat"/>
                <a:ea typeface="Montserrat"/>
                <a:cs typeface="Montserrat"/>
                <a:sym typeface="Montserrat"/>
              </a:rPr>
              <a:t>Their</a:t>
            </a:r>
            <a:r>
              <a:rPr lang="en-US" sz="1499">
                <a:solidFill>
                  <a:srgbClr val="FFFFFF"/>
                </a:solidFill>
                <a:latin typeface="Montserrat"/>
                <a:ea typeface="Montserrat"/>
                <a:cs typeface="Montserrat"/>
                <a:sym typeface="Montserrat"/>
              </a:rPr>
              <a:t> </a:t>
            </a:r>
            <a:r>
              <a:rPr lang="en-US" sz="1499">
                <a:solidFill>
                  <a:srgbClr val="1A2A3A"/>
                </a:solidFill>
                <a:latin typeface="Montserrat"/>
                <a:ea typeface="Montserrat"/>
                <a:cs typeface="Montserrat"/>
                <a:sym typeface="Montserrat"/>
              </a:rPr>
              <a:t>difference</a:t>
            </a:r>
            <a:r>
              <a:rPr lang="en-US" sz="1499">
                <a:solidFill>
                  <a:srgbClr val="FFFFFF"/>
                </a:solidFill>
                <a:latin typeface="Montserrat"/>
                <a:ea typeface="Montserrat"/>
                <a:cs typeface="Montserrat"/>
                <a:sym typeface="Montserrat"/>
              </a:rPr>
              <a:t> </a:t>
            </a:r>
            <a:r>
              <a:rPr lang="en-US" sz="1499">
                <a:solidFill>
                  <a:srgbClr val="1A2A3A"/>
                </a:solidFill>
                <a:latin typeface="Montserrat"/>
                <a:ea typeface="Montserrat"/>
                <a:cs typeface="Montserrat"/>
                <a:sym typeface="Montserrat"/>
              </a:rPr>
              <a:t>is</a:t>
            </a:r>
            <a:r>
              <a:rPr lang="en-US" sz="1499">
                <a:solidFill>
                  <a:srgbClr val="FFFFFF"/>
                </a:solidFill>
                <a:latin typeface="Montserrat"/>
                <a:ea typeface="Montserrat"/>
                <a:cs typeface="Montserrat"/>
                <a:sym typeface="Montserrat"/>
              </a:rPr>
              <a:t> </a:t>
            </a:r>
            <a:r>
              <a:rPr lang="en-US" sz="1499">
                <a:solidFill>
                  <a:srgbClr val="1A2A3A"/>
                </a:solidFill>
                <a:latin typeface="Montserrat"/>
                <a:ea typeface="Montserrat"/>
                <a:cs typeface="Montserrat"/>
                <a:sym typeface="Montserrat"/>
              </a:rPr>
              <a:t>critical:</a:t>
            </a:r>
          </a:p>
        </p:txBody>
      </p:sp>
      <p:sp>
        <p:nvSpPr>
          <p:cNvPr id="6" name="TextBox 6"/>
          <p:cNvSpPr txBox="1"/>
          <p:nvPr/>
        </p:nvSpPr>
        <p:spPr>
          <a:xfrm>
            <a:off x="1416968" y="2442143"/>
            <a:ext cx="3210044" cy="306705"/>
          </a:xfrm>
          <a:prstGeom prst="rect">
            <a:avLst/>
          </a:prstGeom>
        </p:spPr>
        <p:txBody>
          <a:bodyPr lIns="0" tIns="0" rIns="0" bIns="0" rtlCol="0" anchor="t">
            <a:spAutoFit/>
          </a:bodyPr>
          <a:lstStyle/>
          <a:p>
            <a:pPr algn="l">
              <a:lnSpc>
                <a:spcPts val="2520"/>
              </a:lnSpc>
            </a:pPr>
            <a:r>
              <a:rPr lang="en-US" sz="1800" b="1">
                <a:solidFill>
                  <a:srgbClr val="0B2545"/>
                </a:solidFill>
                <a:latin typeface="Montserrat Bold"/>
                <a:ea typeface="Montserrat Bold"/>
                <a:cs typeface="Montserrat Bold"/>
                <a:sym typeface="Montserrat Bold"/>
              </a:rPr>
              <a:t>Summary-Statistics Vector</a:t>
            </a:r>
          </a:p>
        </p:txBody>
      </p:sp>
      <p:sp>
        <p:nvSpPr>
          <p:cNvPr id="7" name="TextBox 7"/>
          <p:cNvSpPr txBox="1"/>
          <p:nvPr/>
        </p:nvSpPr>
        <p:spPr>
          <a:xfrm>
            <a:off x="7131968" y="2442143"/>
            <a:ext cx="3476729" cy="297517"/>
          </a:xfrm>
          <a:prstGeom prst="rect">
            <a:avLst/>
          </a:prstGeom>
        </p:spPr>
        <p:txBody>
          <a:bodyPr wrap="square" lIns="0" tIns="0" rIns="0" bIns="0" rtlCol="0" anchor="t">
            <a:spAutoFit/>
          </a:bodyPr>
          <a:lstStyle/>
          <a:p>
            <a:pPr algn="l">
              <a:lnSpc>
                <a:spcPts val="2520"/>
              </a:lnSpc>
            </a:pPr>
            <a:r>
              <a:rPr lang="en-US" sz="1800" b="1">
                <a:solidFill>
                  <a:srgbClr val="0B2545"/>
                </a:solidFill>
                <a:latin typeface="Montserrat Bold"/>
                <a:ea typeface="Montserrat Bold"/>
                <a:cs typeface="Montserrat Bold"/>
                <a:sym typeface="Montserrat Bold"/>
              </a:rPr>
              <a:t>Time-Series MFCC Matrix</a:t>
            </a:r>
          </a:p>
        </p:txBody>
      </p:sp>
      <p:sp>
        <p:nvSpPr>
          <p:cNvPr id="8" name="TextBox 8"/>
          <p:cNvSpPr txBox="1"/>
          <p:nvPr/>
        </p:nvSpPr>
        <p:spPr>
          <a:xfrm>
            <a:off x="975841" y="2442143"/>
            <a:ext cx="145852" cy="306705"/>
          </a:xfrm>
          <a:prstGeom prst="rect">
            <a:avLst/>
          </a:prstGeom>
        </p:spPr>
        <p:txBody>
          <a:bodyPr lIns="0" tIns="0" rIns="0" bIns="0" rtlCol="0" anchor="t">
            <a:spAutoFit/>
          </a:bodyPr>
          <a:lstStyle/>
          <a:p>
            <a:pPr algn="l">
              <a:lnSpc>
                <a:spcPts val="2520"/>
              </a:lnSpc>
            </a:pPr>
            <a:r>
              <a:rPr lang="en-US" sz="1800" b="1">
                <a:solidFill>
                  <a:srgbClr val="FFFFFF"/>
                </a:solidFill>
                <a:latin typeface="Montserrat Bold"/>
                <a:ea typeface="Montserrat Bold"/>
                <a:cs typeface="Montserrat Bold"/>
                <a:sym typeface="Montserrat Bold"/>
              </a:rPr>
              <a:t>S</a:t>
            </a:r>
          </a:p>
        </p:txBody>
      </p:sp>
      <p:sp>
        <p:nvSpPr>
          <p:cNvPr id="9" name="TextBox 9"/>
          <p:cNvSpPr txBox="1"/>
          <p:nvPr/>
        </p:nvSpPr>
        <p:spPr>
          <a:xfrm>
            <a:off x="759978" y="2971333"/>
            <a:ext cx="5121132" cy="428643"/>
          </a:xfrm>
          <a:prstGeom prst="rect">
            <a:avLst/>
          </a:prstGeom>
        </p:spPr>
        <p:txBody>
          <a:bodyPr wrap="square" lIns="0" tIns="0" rIns="0" bIns="0" rtlCol="0" anchor="t">
            <a:spAutoFit/>
          </a:bodyPr>
          <a:lstStyle/>
          <a:p>
            <a:pPr algn="l">
              <a:lnSpc>
                <a:spcPts val="3639"/>
              </a:lnSpc>
            </a:pPr>
            <a:r>
              <a:rPr lang="en-US" sz="2599" b="1">
                <a:solidFill>
                  <a:srgbClr val="1C7293"/>
                </a:solidFill>
                <a:latin typeface="Montserrat Bold"/>
                <a:ea typeface="Montserrat Bold"/>
                <a:cs typeface="Montserrat Bold"/>
                <a:sym typeface="Montserrat Bold"/>
              </a:rPr>
              <a:t>54 dimensions</a:t>
            </a:r>
          </a:p>
        </p:txBody>
      </p:sp>
      <p:sp>
        <p:nvSpPr>
          <p:cNvPr id="10" name="TextBox 10"/>
          <p:cNvSpPr txBox="1"/>
          <p:nvPr/>
        </p:nvSpPr>
        <p:spPr>
          <a:xfrm>
            <a:off x="1212904" y="3619910"/>
            <a:ext cx="43339" cy="224127"/>
          </a:xfrm>
          <a:prstGeom prst="rect">
            <a:avLst/>
          </a:prstGeom>
        </p:spPr>
        <p:txBody>
          <a:bodyPr lIns="0" tIns="0" rIns="0" bIns="0" rtlCol="0" anchor="t">
            <a:spAutoFit/>
          </a:bodyPr>
          <a:lstStyle/>
          <a:p>
            <a:pPr algn="l">
              <a:lnSpc>
                <a:spcPts val="1821"/>
              </a:lnSpc>
            </a:pPr>
            <a:r>
              <a:rPr lang="en-US" sz="1301">
                <a:solidFill>
                  <a:srgbClr val="1A2A3A"/>
                </a:solidFill>
                <a:latin typeface="Montserrat"/>
                <a:ea typeface="Montserrat"/>
                <a:cs typeface="Montserrat"/>
                <a:sym typeface="Montserrat"/>
              </a:rPr>
              <a:t> </a:t>
            </a:r>
          </a:p>
        </p:txBody>
      </p:sp>
      <p:sp>
        <p:nvSpPr>
          <p:cNvPr id="11" name="TextBox 11"/>
          <p:cNvSpPr txBox="1"/>
          <p:nvPr/>
        </p:nvSpPr>
        <p:spPr>
          <a:xfrm>
            <a:off x="6698885" y="2442143"/>
            <a:ext cx="141327" cy="306705"/>
          </a:xfrm>
          <a:prstGeom prst="rect">
            <a:avLst/>
          </a:prstGeom>
        </p:spPr>
        <p:txBody>
          <a:bodyPr lIns="0" tIns="0" rIns="0" bIns="0" rtlCol="0" anchor="t">
            <a:spAutoFit/>
          </a:bodyPr>
          <a:lstStyle/>
          <a:p>
            <a:pPr algn="l">
              <a:lnSpc>
                <a:spcPts val="2520"/>
              </a:lnSpc>
            </a:pPr>
            <a:r>
              <a:rPr lang="en-US" sz="1800" b="1">
                <a:solidFill>
                  <a:srgbClr val="FFFFFF"/>
                </a:solidFill>
                <a:latin typeface="Montserrat Bold"/>
                <a:ea typeface="Montserrat Bold"/>
                <a:cs typeface="Montserrat Bold"/>
                <a:sym typeface="Montserrat Bold"/>
              </a:rPr>
              <a:t>T</a:t>
            </a:r>
          </a:p>
        </p:txBody>
      </p:sp>
      <p:sp>
        <p:nvSpPr>
          <p:cNvPr id="12" name="TextBox 12"/>
          <p:cNvSpPr txBox="1"/>
          <p:nvPr/>
        </p:nvSpPr>
        <p:spPr>
          <a:xfrm>
            <a:off x="6537608" y="2971333"/>
            <a:ext cx="3246700" cy="428362"/>
          </a:xfrm>
          <a:prstGeom prst="rect">
            <a:avLst/>
          </a:prstGeom>
        </p:spPr>
        <p:txBody>
          <a:bodyPr wrap="square" lIns="0" tIns="0" rIns="0" bIns="0" rtlCol="0" anchor="t">
            <a:spAutoFit/>
          </a:bodyPr>
          <a:lstStyle/>
          <a:p>
            <a:pPr algn="l">
              <a:lnSpc>
                <a:spcPts val="3639"/>
              </a:lnSpc>
            </a:pPr>
            <a:r>
              <a:rPr lang="en-US" sz="2599" b="1">
                <a:solidFill>
                  <a:srgbClr val="13315C"/>
                </a:solidFill>
                <a:latin typeface="Montserrat Bold"/>
                <a:ea typeface="Montserrat Bold"/>
                <a:cs typeface="Montserrat Bold"/>
                <a:sym typeface="Montserrat Bold"/>
              </a:rPr>
              <a:t>216 x 13</a:t>
            </a:r>
          </a:p>
        </p:txBody>
      </p:sp>
      <p:sp>
        <p:nvSpPr>
          <p:cNvPr id="13" name="TextBox 13"/>
          <p:cNvSpPr txBox="1"/>
          <p:nvPr/>
        </p:nvSpPr>
        <p:spPr>
          <a:xfrm>
            <a:off x="6787448" y="3619910"/>
            <a:ext cx="43339" cy="224127"/>
          </a:xfrm>
          <a:prstGeom prst="rect">
            <a:avLst/>
          </a:prstGeom>
        </p:spPr>
        <p:txBody>
          <a:bodyPr lIns="0" tIns="0" rIns="0" bIns="0" rtlCol="0" anchor="t">
            <a:spAutoFit/>
          </a:bodyPr>
          <a:lstStyle/>
          <a:p>
            <a:pPr algn="l">
              <a:lnSpc>
                <a:spcPts val="1821"/>
              </a:lnSpc>
            </a:pPr>
            <a:r>
              <a:rPr lang="en-US" sz="1301">
                <a:solidFill>
                  <a:srgbClr val="1A2A3A"/>
                </a:solidFill>
                <a:latin typeface="Montserrat"/>
                <a:ea typeface="Montserrat"/>
                <a:cs typeface="Montserrat"/>
                <a:sym typeface="Montserrat"/>
              </a:rPr>
              <a:t> </a:t>
            </a:r>
          </a:p>
        </p:txBody>
      </p:sp>
      <p:sp>
        <p:nvSpPr>
          <p:cNvPr id="14" name="TextBox 14"/>
          <p:cNvSpPr txBox="1"/>
          <p:nvPr/>
        </p:nvSpPr>
        <p:spPr>
          <a:xfrm>
            <a:off x="822608" y="3619910"/>
            <a:ext cx="4799409" cy="452727"/>
          </a:xfrm>
          <a:prstGeom prst="rect">
            <a:avLst/>
          </a:prstGeom>
        </p:spPr>
        <p:txBody>
          <a:bodyPr lIns="0" tIns="0" rIns="0" bIns="0" rtlCol="0" anchor="t">
            <a:spAutoFit/>
          </a:bodyPr>
          <a:lstStyle/>
          <a:p>
            <a:pPr algn="l">
              <a:lnSpc>
                <a:spcPts val="1821"/>
              </a:lnSpc>
            </a:pPr>
            <a:r>
              <a:rPr lang="en-US" sz="1301">
                <a:solidFill>
                  <a:srgbClr val="1A2A3A"/>
                </a:solidFill>
                <a:latin typeface="Montserrat"/>
                <a:ea typeface="Montserrat"/>
                <a:cs typeface="Montserrat"/>
                <a:sym typeface="Montserrat"/>
              </a:rPr>
              <a:t>MFCC mean + std (26), ZCR (2), spectral rolloff (1), chroma (24), RMS (1) </a:t>
            </a:r>
          </a:p>
        </p:txBody>
      </p:sp>
      <p:sp>
        <p:nvSpPr>
          <p:cNvPr id="15" name="TextBox 15"/>
          <p:cNvSpPr txBox="1"/>
          <p:nvPr/>
        </p:nvSpPr>
        <p:spPr>
          <a:xfrm>
            <a:off x="6537608" y="3619910"/>
            <a:ext cx="4683300" cy="452727"/>
          </a:xfrm>
          <a:prstGeom prst="rect">
            <a:avLst/>
          </a:prstGeom>
        </p:spPr>
        <p:txBody>
          <a:bodyPr lIns="0" tIns="0" rIns="0" bIns="0" rtlCol="0" anchor="t">
            <a:spAutoFit/>
          </a:bodyPr>
          <a:lstStyle/>
          <a:p>
            <a:pPr algn="l">
              <a:lnSpc>
                <a:spcPts val="1821"/>
              </a:lnSpc>
            </a:pPr>
            <a:r>
              <a:rPr lang="en-US" sz="1301">
                <a:solidFill>
                  <a:srgbClr val="1A2A3A"/>
                </a:solidFill>
                <a:latin typeface="Montserrat"/>
                <a:ea typeface="Montserrat"/>
                <a:cs typeface="Montserrat"/>
                <a:sym typeface="Montserrat"/>
              </a:rPr>
              <a:t>216 time frames x 13 MFCC coefficients. Shorter clips are zero-padded, longer ones truncated to 216 frames.</a:t>
            </a:r>
          </a:p>
        </p:txBody>
      </p:sp>
      <p:sp>
        <p:nvSpPr>
          <p:cNvPr id="16" name="TextBox 16"/>
          <p:cNvSpPr txBox="1"/>
          <p:nvPr/>
        </p:nvSpPr>
        <p:spPr>
          <a:xfrm>
            <a:off x="1005488" y="4914462"/>
            <a:ext cx="4373641" cy="381000"/>
          </a:xfrm>
          <a:prstGeom prst="rect">
            <a:avLst/>
          </a:prstGeom>
        </p:spPr>
        <p:txBody>
          <a:bodyPr lIns="0" tIns="0" rIns="0" bIns="0" rtlCol="0" anchor="t">
            <a:spAutoFit/>
          </a:bodyPr>
          <a:lstStyle/>
          <a:p>
            <a:pPr algn="l">
              <a:lnSpc>
                <a:spcPts val="1500"/>
              </a:lnSpc>
            </a:pPr>
            <a:r>
              <a:rPr lang="en-US" sz="1250" b="1" i="1">
                <a:solidFill>
                  <a:srgbClr val="B0492F"/>
                </a:solidFill>
                <a:latin typeface="Montserrat Bold Italics"/>
                <a:ea typeface="Montserrat Bold Italics"/>
                <a:cs typeface="Montserrat Bold Italics"/>
                <a:sym typeface="Montserrat Bold Italics"/>
              </a:rPr>
              <a:t>DISCARDS all temporal order - keeps only an 'average' summary of the audio.</a:t>
            </a:r>
          </a:p>
        </p:txBody>
      </p:sp>
      <p:sp>
        <p:nvSpPr>
          <p:cNvPr id="17" name="TextBox 17"/>
          <p:cNvSpPr txBox="1"/>
          <p:nvPr/>
        </p:nvSpPr>
        <p:spPr>
          <a:xfrm>
            <a:off x="6720488" y="4914462"/>
            <a:ext cx="4587221" cy="381000"/>
          </a:xfrm>
          <a:prstGeom prst="rect">
            <a:avLst/>
          </a:prstGeom>
        </p:spPr>
        <p:txBody>
          <a:bodyPr lIns="0" tIns="0" rIns="0" bIns="0" rtlCol="0" anchor="t">
            <a:spAutoFit/>
          </a:bodyPr>
          <a:lstStyle/>
          <a:p>
            <a:pPr algn="l">
              <a:lnSpc>
                <a:spcPts val="1500"/>
              </a:lnSpc>
            </a:pPr>
            <a:r>
              <a:rPr lang="en-US" sz="1250" b="1" i="1">
                <a:solidFill>
                  <a:srgbClr val="15616D"/>
                </a:solidFill>
                <a:latin typeface="Montserrat Bold Italics"/>
                <a:ea typeface="Montserrat Bold Italics"/>
                <a:cs typeface="Montserrat Bold Italics"/>
                <a:sym typeface="Montserrat Bold Italics"/>
              </a:rPr>
              <a:t>PRESERVES how the audio changes over time - exactly where accent is hidden.</a:t>
            </a:r>
          </a:p>
        </p:txBody>
      </p:sp>
      <p:sp>
        <p:nvSpPr>
          <p:cNvPr id="18" name="TextBox 18"/>
          <p:cNvSpPr txBox="1"/>
          <p:nvPr/>
        </p:nvSpPr>
        <p:spPr>
          <a:xfrm>
            <a:off x="685800" y="628650"/>
            <a:ext cx="10957912" cy="795030"/>
          </a:xfrm>
          <a:prstGeom prst="rect">
            <a:avLst/>
          </a:prstGeom>
        </p:spPr>
        <p:txBody>
          <a:bodyPr lIns="0" tIns="0" rIns="0" bIns="0" rtlCol="0" anchor="t">
            <a:spAutoFit/>
          </a:bodyPr>
          <a:lstStyle/>
          <a:p>
            <a:pPr algn="l">
              <a:lnSpc>
                <a:spcPts val="2092"/>
              </a:lnSpc>
            </a:pPr>
            <a:endParaRPr/>
          </a:p>
          <a:p>
            <a:pPr algn="l">
              <a:lnSpc>
                <a:spcPts val="4887"/>
              </a:lnSpc>
            </a:pPr>
            <a:r>
              <a:rPr lang="en-US" sz="2800" b="1">
                <a:solidFill>
                  <a:srgbClr val="0B2545"/>
                </a:solidFill>
                <a:latin typeface="Montserrat Bold"/>
                <a:ea typeface="Montserrat Bold"/>
                <a:cs typeface="Montserrat Bold"/>
                <a:sym typeface="Montserrat Bold"/>
              </a:rPr>
              <a:t>Identifying Language from a Few Seconds of Speech</a:t>
            </a:r>
          </a:p>
        </p:txBody>
      </p:sp>
      <p:sp>
        <p:nvSpPr>
          <p:cNvPr id="19" name="TextBox 19"/>
          <p:cNvSpPr txBox="1"/>
          <p:nvPr/>
        </p:nvSpPr>
        <p:spPr>
          <a:xfrm>
            <a:off x="685800" y="628650"/>
            <a:ext cx="4599960" cy="231329"/>
          </a:xfrm>
          <a:prstGeom prst="rect">
            <a:avLst/>
          </a:prstGeom>
        </p:spPr>
        <p:txBody>
          <a:bodyPr lIns="0" tIns="0" rIns="0" bIns="0" rtlCol="0" anchor="t">
            <a:spAutoFit/>
          </a:bodyPr>
          <a:lstStyle/>
          <a:p>
            <a:pPr algn="l">
              <a:lnSpc>
                <a:spcPts val="2092"/>
              </a:lnSpc>
            </a:pPr>
            <a:r>
              <a:rPr lang="en-US" sz="1199" b="1" spc="290">
                <a:solidFill>
                  <a:srgbClr val="1C7293"/>
                </a:solidFill>
                <a:latin typeface="Montserrat Bold"/>
                <a:ea typeface="Montserrat Bold"/>
                <a:cs typeface="Montserrat Bold"/>
                <a:sym typeface="Montserrat Bold"/>
              </a:rPr>
              <a:t>03 . DATA REPRESENTATION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B2545"/>
        </a:solidFill>
        <a:effectLst/>
      </p:bgPr>
    </p:bg>
    <p:spTree>
      <p:nvGrpSpPr>
        <p:cNvPr id="1" name=""/>
        <p:cNvGrpSpPr/>
        <p:nvPr/>
      </p:nvGrpSpPr>
      <p:grpSpPr>
        <a:xfrm>
          <a:off x="0" y="0"/>
          <a:ext cx="0" cy="0"/>
          <a:chOff x="0" y="0"/>
          <a:chExt cx="0" cy="0"/>
        </a:xfrm>
      </p:grpSpPr>
      <p:sp>
        <p:nvSpPr>
          <p:cNvPr id="2" name="Freeform 2"/>
          <p:cNvSpPr/>
          <p:nvPr/>
        </p:nvSpPr>
        <p:spPr>
          <a:xfrm>
            <a:off x="-6669893" y="1452255"/>
            <a:ext cx="18399331" cy="4762172"/>
          </a:xfrm>
          <a:custGeom>
            <a:avLst/>
            <a:gdLst/>
            <a:ahLst/>
            <a:cxnLst/>
            <a:rect l="l" t="t" r="r" b="b"/>
            <a:pathLst>
              <a:path w="18399331" h="4762172">
                <a:moveTo>
                  <a:pt x="0" y="0"/>
                </a:moveTo>
                <a:lnTo>
                  <a:pt x="18399330" y="0"/>
                </a:lnTo>
                <a:lnTo>
                  <a:pt x="18399330" y="4762172"/>
                </a:lnTo>
                <a:lnTo>
                  <a:pt x="0" y="4762172"/>
                </a:lnTo>
                <a:lnTo>
                  <a:pt x="0" y="0"/>
                </a:lnTo>
                <a:close/>
              </a:path>
            </a:pathLst>
          </a:custGeom>
          <a:blipFill>
            <a:blip>
              <a:alphaModFix amt="35000"/>
              <a:extLst>
                <a:ext uri="{96DAC541-7B7A-43D3-8B79-37D633B846F1}">
                  <asvg:svgBlip xmlns:asvg="http://schemas.microsoft.com/office/drawing/2016/SVG/main" r:embed="rId2"/>
                </a:ext>
              </a:extLst>
            </a:blip>
            <a:stretch>
              <a:fillRect/>
            </a:stretch>
          </a:blipFill>
        </p:spPr>
      </p:sp>
      <p:sp>
        <p:nvSpPr>
          <p:cNvPr id="3" name="Freeform 3"/>
          <p:cNvSpPr/>
          <p:nvPr/>
        </p:nvSpPr>
        <p:spPr>
          <a:xfrm>
            <a:off x="-15640959" y="1452255"/>
            <a:ext cx="18399331" cy="4762172"/>
          </a:xfrm>
          <a:custGeom>
            <a:avLst/>
            <a:gdLst/>
            <a:ahLst/>
            <a:cxnLst/>
            <a:rect l="l" t="t" r="r" b="b"/>
            <a:pathLst>
              <a:path w="18399331" h="4762172">
                <a:moveTo>
                  <a:pt x="0" y="0"/>
                </a:moveTo>
                <a:lnTo>
                  <a:pt x="18399331" y="0"/>
                </a:lnTo>
                <a:lnTo>
                  <a:pt x="18399331" y="4762172"/>
                </a:lnTo>
                <a:lnTo>
                  <a:pt x="0" y="4762172"/>
                </a:lnTo>
                <a:lnTo>
                  <a:pt x="0" y="0"/>
                </a:lnTo>
                <a:close/>
              </a:path>
            </a:pathLst>
          </a:custGeom>
          <a:blipFill>
            <a:blip>
              <a:alphaModFix amt="35000"/>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685800" y="3716563"/>
            <a:ext cx="1448173" cy="280683"/>
          </a:xfrm>
          <a:prstGeom prst="rect">
            <a:avLst/>
          </a:prstGeom>
        </p:spPr>
        <p:txBody>
          <a:bodyPr lIns="0" tIns="0" rIns="0" bIns="0" rtlCol="0" anchor="t">
            <a:spAutoFit/>
          </a:bodyPr>
          <a:lstStyle/>
          <a:p>
            <a:pPr algn="l">
              <a:lnSpc>
                <a:spcPts val="2379"/>
              </a:lnSpc>
            </a:pPr>
            <a:r>
              <a:rPr lang="en-US" sz="1699" b="1">
                <a:solidFill>
                  <a:srgbClr val="FFFFFF"/>
                </a:solidFill>
                <a:latin typeface="Montserrat Bold"/>
                <a:ea typeface="Montserrat Bold"/>
                <a:cs typeface="Montserrat Bold"/>
                <a:sym typeface="Montserrat Bold"/>
              </a:rPr>
              <a:t>We Tried</a:t>
            </a:r>
          </a:p>
        </p:txBody>
      </p:sp>
      <p:sp>
        <p:nvSpPr>
          <p:cNvPr id="5" name="TextBox 5"/>
          <p:cNvSpPr txBox="1"/>
          <p:nvPr/>
        </p:nvSpPr>
        <p:spPr>
          <a:xfrm>
            <a:off x="685800" y="2033915"/>
            <a:ext cx="1366018" cy="280670"/>
          </a:xfrm>
          <a:prstGeom prst="rect">
            <a:avLst/>
          </a:prstGeom>
        </p:spPr>
        <p:txBody>
          <a:bodyPr lIns="0" tIns="0" rIns="0" bIns="0" rtlCol="0" anchor="t">
            <a:spAutoFit/>
          </a:bodyPr>
          <a:lstStyle/>
          <a:p>
            <a:pPr algn="l">
              <a:lnSpc>
                <a:spcPts val="2380"/>
              </a:lnSpc>
            </a:pPr>
            <a:r>
              <a:rPr lang="en-US" sz="1700" b="1">
                <a:solidFill>
                  <a:srgbClr val="FFFFFF"/>
                </a:solidFill>
                <a:latin typeface="Montserrat Bold"/>
                <a:ea typeface="Montserrat Bold"/>
                <a:cs typeface="Montserrat Bold"/>
                <a:sym typeface="Montserrat Bold"/>
              </a:rPr>
              <a:t>Beginning</a:t>
            </a:r>
          </a:p>
        </p:txBody>
      </p:sp>
      <p:sp>
        <p:nvSpPr>
          <p:cNvPr id="6" name="TextBox 6"/>
          <p:cNvSpPr txBox="1"/>
          <p:nvPr/>
        </p:nvSpPr>
        <p:spPr>
          <a:xfrm>
            <a:off x="685800" y="5398840"/>
            <a:ext cx="1448173" cy="280683"/>
          </a:xfrm>
          <a:prstGeom prst="rect">
            <a:avLst/>
          </a:prstGeom>
        </p:spPr>
        <p:txBody>
          <a:bodyPr lIns="0" tIns="0" rIns="0" bIns="0" rtlCol="0" anchor="t">
            <a:spAutoFit/>
          </a:bodyPr>
          <a:lstStyle/>
          <a:p>
            <a:pPr algn="l">
              <a:lnSpc>
                <a:spcPts val="2379"/>
              </a:lnSpc>
            </a:pPr>
            <a:r>
              <a:rPr lang="en-US" sz="1699" b="1">
                <a:solidFill>
                  <a:srgbClr val="FFFFFF"/>
                </a:solidFill>
                <a:latin typeface="Montserrat Bold"/>
                <a:ea typeface="Montserrat Bold"/>
                <a:cs typeface="Montserrat Bold"/>
                <a:sym typeface="Montserrat Bold"/>
              </a:rPr>
              <a:t>Final Form</a:t>
            </a:r>
          </a:p>
        </p:txBody>
      </p:sp>
      <p:sp>
        <p:nvSpPr>
          <p:cNvPr id="7" name="TextBox 7"/>
          <p:cNvSpPr txBox="1"/>
          <p:nvPr/>
        </p:nvSpPr>
        <p:spPr>
          <a:xfrm>
            <a:off x="685800" y="2875239"/>
            <a:ext cx="1576388" cy="280683"/>
          </a:xfrm>
          <a:prstGeom prst="rect">
            <a:avLst/>
          </a:prstGeom>
        </p:spPr>
        <p:txBody>
          <a:bodyPr lIns="0" tIns="0" rIns="0" bIns="0" rtlCol="0" anchor="t">
            <a:spAutoFit/>
          </a:bodyPr>
          <a:lstStyle/>
          <a:p>
            <a:pPr algn="l">
              <a:lnSpc>
                <a:spcPts val="2379"/>
              </a:lnSpc>
            </a:pPr>
            <a:r>
              <a:rPr lang="en-US" sz="1699" b="1">
                <a:solidFill>
                  <a:srgbClr val="FFFFFF"/>
                </a:solidFill>
                <a:latin typeface="Montserrat Bold"/>
                <a:ea typeface="Montserrat Bold"/>
                <a:cs typeface="Montserrat Bold"/>
                <a:sym typeface="Montserrat Bold"/>
              </a:rPr>
              <a:t>We Realized</a:t>
            </a:r>
          </a:p>
        </p:txBody>
      </p:sp>
      <p:sp>
        <p:nvSpPr>
          <p:cNvPr id="8" name="TextBox 8"/>
          <p:cNvSpPr txBox="1"/>
          <p:nvPr/>
        </p:nvSpPr>
        <p:spPr>
          <a:xfrm>
            <a:off x="685800" y="4557516"/>
            <a:ext cx="1576388" cy="575958"/>
          </a:xfrm>
          <a:prstGeom prst="rect">
            <a:avLst/>
          </a:prstGeom>
        </p:spPr>
        <p:txBody>
          <a:bodyPr lIns="0" tIns="0" rIns="0" bIns="0" rtlCol="0" anchor="t">
            <a:spAutoFit/>
          </a:bodyPr>
          <a:lstStyle/>
          <a:p>
            <a:pPr algn="l">
              <a:lnSpc>
                <a:spcPts val="2379"/>
              </a:lnSpc>
            </a:pPr>
            <a:r>
              <a:rPr lang="en-US" sz="1699" b="1">
                <a:solidFill>
                  <a:srgbClr val="FFFFFF"/>
                </a:solidFill>
                <a:latin typeface="Montserrat Bold"/>
                <a:ea typeface="Montserrat Bold"/>
                <a:cs typeface="Montserrat Bold"/>
                <a:sym typeface="Montserrat Bold"/>
              </a:rPr>
              <a:t>We Understood</a:t>
            </a:r>
          </a:p>
        </p:txBody>
      </p:sp>
      <p:sp>
        <p:nvSpPr>
          <p:cNvPr id="9" name="TextBox 9"/>
          <p:cNvSpPr txBox="1"/>
          <p:nvPr/>
        </p:nvSpPr>
        <p:spPr>
          <a:xfrm>
            <a:off x="2820953" y="4561446"/>
            <a:ext cx="5961698" cy="533400"/>
          </a:xfrm>
          <a:prstGeom prst="rect">
            <a:avLst/>
          </a:prstGeom>
        </p:spPr>
        <p:txBody>
          <a:bodyPr lIns="0" tIns="0" rIns="0" bIns="0" rtlCol="0" anchor="t">
            <a:spAutoFit/>
          </a:bodyPr>
          <a:lstStyle/>
          <a:p>
            <a:pPr algn="l">
              <a:lnSpc>
                <a:spcPts val="2100"/>
              </a:lnSpc>
            </a:pPr>
            <a:r>
              <a:rPr lang="en-US" sz="1500">
                <a:solidFill>
                  <a:srgbClr val="CFE0EA"/>
                </a:solidFill>
                <a:latin typeface="Montserrat"/>
                <a:ea typeface="Montserrat"/>
                <a:cs typeface="Montserrat"/>
                <a:sym typeface="Montserrat"/>
              </a:rPr>
              <a:t>After research, we found 1D-CNNs work far better on time-series data.</a:t>
            </a:r>
          </a:p>
        </p:txBody>
      </p:sp>
      <p:sp>
        <p:nvSpPr>
          <p:cNvPr id="10" name="TextBox 10"/>
          <p:cNvSpPr txBox="1"/>
          <p:nvPr/>
        </p:nvSpPr>
        <p:spPr>
          <a:xfrm>
            <a:off x="2820953" y="5396932"/>
            <a:ext cx="7423785" cy="533400"/>
          </a:xfrm>
          <a:prstGeom prst="rect">
            <a:avLst/>
          </a:prstGeom>
        </p:spPr>
        <p:txBody>
          <a:bodyPr lIns="0" tIns="0" rIns="0" bIns="0" rtlCol="0" anchor="t">
            <a:spAutoFit/>
          </a:bodyPr>
          <a:lstStyle/>
          <a:p>
            <a:pPr algn="l">
              <a:lnSpc>
                <a:spcPts val="2100"/>
              </a:lnSpc>
            </a:pPr>
            <a:r>
              <a:rPr lang="en-US" sz="1500">
                <a:solidFill>
                  <a:srgbClr val="CFE0EA"/>
                </a:solidFill>
                <a:latin typeface="Montserrat"/>
                <a:ea typeface="Montserrat"/>
                <a:cs typeface="Montserrat"/>
                <a:sym typeface="Montserrat"/>
              </a:rPr>
              <a:t>We turned the project into a controlled experiment comparing these THREE methods.</a:t>
            </a:r>
          </a:p>
        </p:txBody>
      </p:sp>
      <p:sp>
        <p:nvSpPr>
          <p:cNvPr id="11" name="TextBox 11"/>
          <p:cNvSpPr txBox="1"/>
          <p:nvPr/>
        </p:nvSpPr>
        <p:spPr>
          <a:xfrm>
            <a:off x="2820953" y="1912944"/>
            <a:ext cx="8077552" cy="533400"/>
          </a:xfrm>
          <a:prstGeom prst="rect">
            <a:avLst/>
          </a:prstGeom>
        </p:spPr>
        <p:txBody>
          <a:bodyPr lIns="0" tIns="0" rIns="0" bIns="0" rtlCol="0" anchor="t">
            <a:spAutoFit/>
          </a:bodyPr>
          <a:lstStyle/>
          <a:p>
            <a:pPr algn="l">
              <a:lnSpc>
                <a:spcPts val="2100"/>
              </a:lnSpc>
            </a:pPr>
            <a:r>
              <a:rPr lang="en-US" sz="1500">
                <a:solidFill>
                  <a:srgbClr val="CFE0EA"/>
                </a:solidFill>
                <a:latin typeface="Montserrat"/>
                <a:ea typeface="Montserrat"/>
                <a:cs typeface="Montserrat"/>
                <a:sym typeface="Montserrat"/>
              </a:rPr>
              <a:t>It started as an XGBoost project my teammate began alone; the goal was to improve accuracy.</a:t>
            </a:r>
          </a:p>
        </p:txBody>
      </p:sp>
      <p:sp>
        <p:nvSpPr>
          <p:cNvPr id="12" name="TextBox 12"/>
          <p:cNvSpPr txBox="1"/>
          <p:nvPr/>
        </p:nvSpPr>
        <p:spPr>
          <a:xfrm>
            <a:off x="2820953" y="2880949"/>
            <a:ext cx="7982308" cy="533400"/>
          </a:xfrm>
          <a:prstGeom prst="rect">
            <a:avLst/>
          </a:prstGeom>
        </p:spPr>
        <p:txBody>
          <a:bodyPr lIns="0" tIns="0" rIns="0" bIns="0" rtlCol="0" anchor="t">
            <a:spAutoFit/>
          </a:bodyPr>
          <a:lstStyle/>
          <a:p>
            <a:pPr algn="l">
              <a:lnSpc>
                <a:spcPts val="2100"/>
              </a:lnSpc>
            </a:pPr>
            <a:r>
              <a:rPr lang="en-US" sz="1500">
                <a:solidFill>
                  <a:srgbClr val="CFE0EA"/>
                </a:solidFill>
                <a:latin typeface="Montserrat"/>
                <a:ea typeface="Montserrat"/>
                <a:cs typeface="Montserrat"/>
                <a:sym typeface="Montserrat"/>
              </a:rPr>
              <a:t>XGBoost is not a neural network - on its own, it didn't fit an 'Artificial Neural Networks' course.</a:t>
            </a:r>
          </a:p>
        </p:txBody>
      </p:sp>
      <p:sp>
        <p:nvSpPr>
          <p:cNvPr id="13" name="TextBox 13"/>
          <p:cNvSpPr txBox="1"/>
          <p:nvPr/>
        </p:nvSpPr>
        <p:spPr>
          <a:xfrm>
            <a:off x="2820953" y="3595593"/>
            <a:ext cx="8077552" cy="533400"/>
          </a:xfrm>
          <a:prstGeom prst="rect">
            <a:avLst/>
          </a:prstGeom>
        </p:spPr>
        <p:txBody>
          <a:bodyPr lIns="0" tIns="0" rIns="0" bIns="0" rtlCol="0" anchor="t">
            <a:spAutoFit/>
          </a:bodyPr>
          <a:lstStyle/>
          <a:p>
            <a:pPr algn="l">
              <a:lnSpc>
                <a:spcPts val="2100"/>
              </a:lnSpc>
            </a:pPr>
            <a:r>
              <a:rPr lang="en-US" sz="1500">
                <a:solidFill>
                  <a:srgbClr val="CFE0EA"/>
                </a:solidFill>
                <a:latin typeface="Montserrat"/>
                <a:ea typeface="Montserrat"/>
                <a:cs typeface="Montserrat"/>
                <a:sym typeface="Montserrat"/>
              </a:rPr>
              <a:t>We added a 1D-CNN. But with summary data, the CNN couldn't beat XGBoost (an interesting result).</a:t>
            </a:r>
          </a:p>
        </p:txBody>
      </p:sp>
      <p:sp>
        <p:nvSpPr>
          <p:cNvPr id="14" name="TextBox 14"/>
          <p:cNvSpPr txBox="1"/>
          <p:nvPr/>
        </p:nvSpPr>
        <p:spPr>
          <a:xfrm>
            <a:off x="685800" y="628650"/>
            <a:ext cx="10957912" cy="795030"/>
          </a:xfrm>
          <a:prstGeom prst="rect">
            <a:avLst/>
          </a:prstGeom>
        </p:spPr>
        <p:txBody>
          <a:bodyPr lIns="0" tIns="0" rIns="0" bIns="0" rtlCol="0" anchor="t">
            <a:spAutoFit/>
          </a:bodyPr>
          <a:lstStyle/>
          <a:p>
            <a:pPr algn="l">
              <a:lnSpc>
                <a:spcPts val="2092"/>
              </a:lnSpc>
            </a:pPr>
            <a:endParaRPr/>
          </a:p>
          <a:p>
            <a:pPr algn="l">
              <a:lnSpc>
                <a:spcPts val="4887"/>
              </a:lnSpc>
            </a:pPr>
            <a:r>
              <a:rPr lang="en-US" sz="2800" b="1">
                <a:solidFill>
                  <a:srgbClr val="FFFFFF"/>
                </a:solidFill>
                <a:latin typeface="Montserrat Bold"/>
                <a:ea typeface="Montserrat Bold"/>
                <a:cs typeface="Montserrat Bold"/>
                <a:sym typeface="Montserrat Bold"/>
              </a:rPr>
              <a:t>How the Project Took Its Final Shape</a:t>
            </a:r>
          </a:p>
        </p:txBody>
      </p:sp>
      <p:sp>
        <p:nvSpPr>
          <p:cNvPr id="15" name="TextBox 15"/>
          <p:cNvSpPr txBox="1"/>
          <p:nvPr/>
        </p:nvSpPr>
        <p:spPr>
          <a:xfrm>
            <a:off x="685800" y="628650"/>
            <a:ext cx="4599960" cy="231329"/>
          </a:xfrm>
          <a:prstGeom prst="rect">
            <a:avLst/>
          </a:prstGeom>
        </p:spPr>
        <p:txBody>
          <a:bodyPr lIns="0" tIns="0" rIns="0" bIns="0" rtlCol="0" anchor="t">
            <a:spAutoFit/>
          </a:bodyPr>
          <a:lstStyle/>
          <a:p>
            <a:pPr algn="l">
              <a:lnSpc>
                <a:spcPts val="2092"/>
              </a:lnSpc>
            </a:pPr>
            <a:r>
              <a:rPr lang="en-US" sz="1199" b="1" spc="290">
                <a:solidFill>
                  <a:srgbClr val="FFFAF1"/>
                </a:solidFill>
                <a:latin typeface="Montserrat Bold"/>
                <a:ea typeface="Montserrat Bold"/>
                <a:cs typeface="Montserrat Bold"/>
                <a:sym typeface="Montserrat Bold"/>
              </a:rPr>
              <a:t>THE STORY OF THE PROJECT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AF1"/>
        </a:solidFill>
        <a:effectLst/>
      </p:bgPr>
    </p:bg>
    <p:spTree>
      <p:nvGrpSpPr>
        <p:cNvPr id="1" name=""/>
        <p:cNvGrpSpPr/>
        <p:nvPr/>
      </p:nvGrpSpPr>
      <p:grpSpPr>
        <a:xfrm>
          <a:off x="0" y="0"/>
          <a:ext cx="0" cy="0"/>
          <a:chOff x="0" y="0"/>
          <a:chExt cx="0" cy="0"/>
        </a:xfrm>
      </p:grpSpPr>
      <p:grpSp>
        <p:nvGrpSpPr>
          <p:cNvPr id="2" name="Group 2"/>
          <p:cNvGrpSpPr/>
          <p:nvPr/>
        </p:nvGrpSpPr>
        <p:grpSpPr>
          <a:xfrm>
            <a:off x="573915" y="1637809"/>
            <a:ext cx="3154680" cy="4206240"/>
            <a:chOff x="0" y="0"/>
            <a:chExt cx="4206240" cy="5608320"/>
          </a:xfrm>
        </p:grpSpPr>
        <p:sp>
          <p:nvSpPr>
            <p:cNvPr id="3" name="Freeform 3"/>
            <p:cNvSpPr/>
            <p:nvPr/>
          </p:nvSpPr>
          <p:spPr>
            <a:xfrm>
              <a:off x="0" y="0"/>
              <a:ext cx="4206240" cy="5608320"/>
            </a:xfrm>
            <a:custGeom>
              <a:avLst/>
              <a:gdLst/>
              <a:ahLst/>
              <a:cxnLst/>
              <a:rect l="l" t="t" r="r" b="b"/>
              <a:pathLst>
                <a:path w="4206240" h="5608320">
                  <a:moveTo>
                    <a:pt x="0" y="0"/>
                  </a:moveTo>
                  <a:lnTo>
                    <a:pt x="4206240" y="0"/>
                  </a:lnTo>
                  <a:lnTo>
                    <a:pt x="4206240" y="5608320"/>
                  </a:lnTo>
                  <a:lnTo>
                    <a:pt x="0" y="560832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 name="TextBox 4"/>
            <p:cNvSpPr txBox="1"/>
            <p:nvPr/>
          </p:nvSpPr>
          <p:spPr>
            <a:xfrm>
              <a:off x="204152" y="181294"/>
              <a:ext cx="3797935" cy="342732"/>
            </a:xfrm>
            <a:prstGeom prst="rect">
              <a:avLst/>
            </a:prstGeom>
          </p:spPr>
          <p:txBody>
            <a:bodyPr lIns="0" tIns="0" rIns="0" bIns="0" rtlCol="0" anchor="t">
              <a:spAutoFit/>
            </a:bodyPr>
            <a:lstStyle/>
            <a:p>
              <a:pPr algn="l">
                <a:lnSpc>
                  <a:spcPts val="2238"/>
                </a:lnSpc>
              </a:pPr>
              <a:r>
                <a:rPr lang="en-US" sz="1598" b="1">
                  <a:solidFill>
                    <a:srgbClr val="13315C"/>
                  </a:solidFill>
                  <a:latin typeface="Montserrat Bold"/>
                  <a:ea typeface="Montserrat Bold"/>
                  <a:cs typeface="Montserrat Bold"/>
                  <a:sym typeface="Montserrat Bold"/>
                </a:rPr>
                <a:t>Everything in One Pipeline</a:t>
              </a:r>
            </a:p>
          </p:txBody>
        </p:sp>
        <p:sp>
          <p:nvSpPr>
            <p:cNvPr id="5" name="TextBox 5"/>
            <p:cNvSpPr txBox="1"/>
            <p:nvPr/>
          </p:nvSpPr>
          <p:spPr>
            <a:xfrm>
              <a:off x="204152" y="1159262"/>
              <a:ext cx="3171825" cy="268813"/>
            </a:xfrm>
            <a:prstGeom prst="rect">
              <a:avLst/>
            </a:prstGeom>
          </p:spPr>
          <p:txBody>
            <a:bodyPr lIns="0" tIns="0" rIns="0" bIns="0" rtlCol="0" anchor="t">
              <a:spAutoFit/>
            </a:bodyPr>
            <a:lstStyle/>
            <a:p>
              <a:pPr algn="l">
                <a:lnSpc>
                  <a:spcPts val="1750"/>
                </a:lnSpc>
              </a:pPr>
              <a:r>
                <a:rPr lang="en-US" sz="1250">
                  <a:solidFill>
                    <a:srgbClr val="1A2A3A"/>
                  </a:solidFill>
                  <a:latin typeface="Montserrat"/>
                  <a:ea typeface="Montserrat"/>
                  <a:cs typeface="Montserrat"/>
                  <a:sym typeface="Montserrat"/>
                </a:rPr>
                <a:t>Data downloaded as a stream</a:t>
              </a:r>
            </a:p>
          </p:txBody>
        </p:sp>
        <p:sp>
          <p:nvSpPr>
            <p:cNvPr id="6" name="TextBox 6"/>
            <p:cNvSpPr txBox="1"/>
            <p:nvPr/>
          </p:nvSpPr>
          <p:spPr>
            <a:xfrm>
              <a:off x="204152" y="2012702"/>
              <a:ext cx="3417888" cy="268813"/>
            </a:xfrm>
            <a:prstGeom prst="rect">
              <a:avLst/>
            </a:prstGeom>
          </p:spPr>
          <p:txBody>
            <a:bodyPr lIns="0" tIns="0" rIns="0" bIns="0" rtlCol="0" anchor="t">
              <a:spAutoFit/>
            </a:bodyPr>
            <a:lstStyle/>
            <a:p>
              <a:pPr algn="l">
                <a:lnSpc>
                  <a:spcPts val="1750"/>
                </a:lnSpc>
              </a:pPr>
              <a:r>
                <a:rPr lang="en-US" sz="1250">
                  <a:solidFill>
                    <a:srgbClr val="1A2A3A"/>
                  </a:solidFill>
                  <a:latin typeface="Montserrat"/>
                  <a:ea typeface="Montserrat"/>
                  <a:cs typeface="Montserrat"/>
                  <a:sym typeface="Montserrat"/>
                </a:rPr>
                <a:t>Two representations in one pass</a:t>
              </a:r>
            </a:p>
          </p:txBody>
        </p:sp>
        <p:sp>
          <p:nvSpPr>
            <p:cNvPr id="7" name="TextBox 7"/>
            <p:cNvSpPr txBox="1"/>
            <p:nvPr/>
          </p:nvSpPr>
          <p:spPr>
            <a:xfrm>
              <a:off x="204152" y="2866142"/>
              <a:ext cx="2962116" cy="268813"/>
            </a:xfrm>
            <a:prstGeom prst="rect">
              <a:avLst/>
            </a:prstGeom>
          </p:spPr>
          <p:txBody>
            <a:bodyPr lIns="0" tIns="0" rIns="0" bIns="0" rtlCol="0" anchor="t">
              <a:spAutoFit/>
            </a:bodyPr>
            <a:lstStyle/>
            <a:p>
              <a:pPr algn="l">
                <a:lnSpc>
                  <a:spcPts val="1750"/>
                </a:lnSpc>
              </a:pPr>
              <a:r>
                <a:rPr lang="en-US" sz="1250">
                  <a:solidFill>
                    <a:srgbClr val="1A2A3A"/>
                  </a:solidFill>
                  <a:latin typeface="Montserrat"/>
                  <a:ea typeface="Montserrat"/>
                  <a:cs typeface="Montserrat"/>
                  <a:sym typeface="Montserrat"/>
                </a:rPr>
                <a:t>Three models, same test set</a:t>
              </a:r>
            </a:p>
          </p:txBody>
        </p:sp>
        <p:sp>
          <p:nvSpPr>
            <p:cNvPr id="8" name="TextBox 8"/>
            <p:cNvSpPr txBox="1"/>
            <p:nvPr/>
          </p:nvSpPr>
          <p:spPr>
            <a:xfrm>
              <a:off x="204152" y="3719582"/>
              <a:ext cx="2538889" cy="268813"/>
            </a:xfrm>
            <a:prstGeom prst="rect">
              <a:avLst/>
            </a:prstGeom>
          </p:spPr>
          <p:txBody>
            <a:bodyPr lIns="0" tIns="0" rIns="0" bIns="0" rtlCol="0" anchor="t">
              <a:spAutoFit/>
            </a:bodyPr>
            <a:lstStyle/>
            <a:p>
              <a:pPr algn="l">
                <a:lnSpc>
                  <a:spcPts val="1750"/>
                </a:lnSpc>
              </a:pPr>
              <a:r>
                <a:rPr lang="en-US" sz="1250">
                  <a:solidFill>
                    <a:srgbClr val="1A2A3A"/>
                  </a:solidFill>
                  <a:latin typeface="Montserrat"/>
                  <a:ea typeface="Montserrat"/>
                  <a:cs typeface="Montserrat"/>
                  <a:sym typeface="Montserrat"/>
                </a:rPr>
                <a:t>Comparative evaluation</a:t>
              </a:r>
            </a:p>
          </p:txBody>
        </p:sp>
        <p:sp>
          <p:nvSpPr>
            <p:cNvPr id="9" name="TextBox 9"/>
            <p:cNvSpPr txBox="1"/>
            <p:nvPr/>
          </p:nvSpPr>
          <p:spPr>
            <a:xfrm>
              <a:off x="204152" y="4573022"/>
              <a:ext cx="2397601" cy="268813"/>
            </a:xfrm>
            <a:prstGeom prst="rect">
              <a:avLst/>
            </a:prstGeom>
          </p:spPr>
          <p:txBody>
            <a:bodyPr lIns="0" tIns="0" rIns="0" bIns="0" rtlCol="0" anchor="t">
              <a:spAutoFit/>
            </a:bodyPr>
            <a:lstStyle/>
            <a:p>
              <a:pPr algn="l">
                <a:lnSpc>
                  <a:spcPts val="1750"/>
                </a:lnSpc>
              </a:pPr>
              <a:r>
                <a:rPr lang="en-US" sz="1250">
                  <a:solidFill>
                    <a:srgbClr val="1A2A3A"/>
                  </a:solidFill>
                  <a:latin typeface="Montserrat"/>
                  <a:ea typeface="Montserrat"/>
                  <a:cs typeface="Montserrat"/>
                  <a:sym typeface="Montserrat"/>
                </a:rPr>
                <a:t>Live demo with Gradio</a:t>
              </a:r>
            </a:p>
          </p:txBody>
        </p:sp>
      </p:grpSp>
      <p:sp>
        <p:nvSpPr>
          <p:cNvPr id="10" name="Freeform 10"/>
          <p:cNvSpPr/>
          <p:nvPr/>
        </p:nvSpPr>
        <p:spPr>
          <a:xfrm>
            <a:off x="8255112" y="2306755"/>
            <a:ext cx="3324677" cy="2868348"/>
          </a:xfrm>
          <a:custGeom>
            <a:avLst/>
            <a:gdLst/>
            <a:ahLst/>
            <a:cxnLst/>
            <a:rect l="l" t="t" r="r" b="b"/>
            <a:pathLst>
              <a:path w="3324677" h="2868348">
                <a:moveTo>
                  <a:pt x="0" y="0"/>
                </a:moveTo>
                <a:lnTo>
                  <a:pt x="3324677" y="0"/>
                </a:lnTo>
                <a:lnTo>
                  <a:pt x="3324677" y="2868349"/>
                </a:lnTo>
                <a:lnTo>
                  <a:pt x="0" y="2868349"/>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1" name="TextBox 11"/>
          <p:cNvSpPr txBox="1"/>
          <p:nvPr/>
        </p:nvSpPr>
        <p:spPr>
          <a:xfrm>
            <a:off x="8423078" y="3734256"/>
            <a:ext cx="3156711" cy="523682"/>
          </a:xfrm>
          <a:prstGeom prst="rect">
            <a:avLst/>
          </a:prstGeom>
        </p:spPr>
        <p:txBody>
          <a:bodyPr lIns="0" tIns="0" rIns="0" bIns="0" rtlCol="0" anchor="t">
            <a:spAutoFit/>
          </a:bodyPr>
          <a:lstStyle/>
          <a:p>
            <a:pPr algn="l">
              <a:lnSpc>
                <a:spcPts val="1377"/>
              </a:lnSpc>
            </a:pPr>
            <a:r>
              <a:rPr lang="en-US" sz="1147">
                <a:solidFill>
                  <a:srgbClr val="FFFFFF"/>
                </a:solidFill>
                <a:latin typeface="Montserrat"/>
                <a:ea typeface="Montserrat"/>
                <a:cs typeface="Montserrat"/>
                <a:sym typeface="Montserrat"/>
              </a:rPr>
              <a:t>The only thing that changes is the input representation. So any performance gap can only come from the data.</a:t>
            </a:r>
          </a:p>
        </p:txBody>
      </p:sp>
      <p:sp>
        <p:nvSpPr>
          <p:cNvPr id="12" name="TextBox 12"/>
          <p:cNvSpPr txBox="1"/>
          <p:nvPr/>
        </p:nvSpPr>
        <p:spPr>
          <a:xfrm>
            <a:off x="8423078" y="2474858"/>
            <a:ext cx="3768922" cy="201657"/>
          </a:xfrm>
          <a:prstGeom prst="rect">
            <a:avLst/>
          </a:prstGeom>
        </p:spPr>
        <p:txBody>
          <a:bodyPr lIns="0" tIns="0" rIns="0" bIns="0" rtlCol="0" anchor="t">
            <a:spAutoFit/>
          </a:bodyPr>
          <a:lstStyle/>
          <a:p>
            <a:pPr algn="l">
              <a:lnSpc>
                <a:spcPts val="1714"/>
              </a:lnSpc>
            </a:pPr>
            <a:r>
              <a:rPr lang="en-US" sz="982" b="1">
                <a:solidFill>
                  <a:srgbClr val="7FE3E8"/>
                </a:solidFill>
                <a:latin typeface="Montserrat Bold"/>
                <a:ea typeface="Montserrat Bold"/>
                <a:cs typeface="Montserrat Bold"/>
                <a:sym typeface="Montserrat Bold"/>
              </a:rPr>
              <a:t>CONTROLLED EXPERIMENT</a:t>
            </a:r>
          </a:p>
        </p:txBody>
      </p:sp>
      <p:sp>
        <p:nvSpPr>
          <p:cNvPr id="13" name="TextBox 13"/>
          <p:cNvSpPr txBox="1"/>
          <p:nvPr/>
        </p:nvSpPr>
        <p:spPr>
          <a:xfrm>
            <a:off x="8396704" y="2833395"/>
            <a:ext cx="3400011" cy="506202"/>
          </a:xfrm>
          <a:prstGeom prst="rect">
            <a:avLst/>
          </a:prstGeom>
        </p:spPr>
        <p:txBody>
          <a:bodyPr lIns="0" tIns="0" rIns="0" bIns="0" rtlCol="0" anchor="t">
            <a:spAutoFit/>
          </a:bodyPr>
          <a:lstStyle/>
          <a:p>
            <a:pPr algn="l">
              <a:lnSpc>
                <a:spcPts val="2064"/>
              </a:lnSpc>
            </a:pPr>
            <a:r>
              <a:rPr lang="en-US" sz="1474" b="1">
                <a:solidFill>
                  <a:srgbClr val="FFFFFF"/>
                </a:solidFill>
                <a:latin typeface="Montserrat Bold"/>
                <a:ea typeface="Montserrat Bold"/>
                <a:cs typeface="Montserrat Bold"/>
                <a:sym typeface="Montserrat Bold"/>
              </a:rPr>
              <a:t>Model 2 and Model 3 share the EXACT SAME architecture. </a:t>
            </a:r>
          </a:p>
        </p:txBody>
      </p:sp>
      <p:sp>
        <p:nvSpPr>
          <p:cNvPr id="14" name="TextBox 14"/>
          <p:cNvSpPr txBox="1"/>
          <p:nvPr/>
        </p:nvSpPr>
        <p:spPr>
          <a:xfrm>
            <a:off x="8423078" y="4752367"/>
            <a:ext cx="3156711" cy="174561"/>
          </a:xfrm>
          <a:prstGeom prst="rect">
            <a:avLst/>
          </a:prstGeom>
        </p:spPr>
        <p:txBody>
          <a:bodyPr lIns="0" tIns="0" rIns="0" bIns="0" rtlCol="0" anchor="t">
            <a:spAutoFit/>
          </a:bodyPr>
          <a:lstStyle/>
          <a:p>
            <a:pPr algn="l">
              <a:lnSpc>
                <a:spcPts val="1377"/>
              </a:lnSpc>
            </a:pPr>
            <a:r>
              <a:rPr lang="en-US" sz="1147" i="1">
                <a:solidFill>
                  <a:srgbClr val="E8A33D"/>
                </a:solidFill>
                <a:latin typeface="Montserrat Italics"/>
                <a:ea typeface="Montserrat Italics"/>
                <a:cs typeface="Montserrat Italics"/>
                <a:sym typeface="Montserrat Italics"/>
              </a:rPr>
              <a:t>= A fair, interpretable comparison</a:t>
            </a:r>
          </a:p>
        </p:txBody>
      </p:sp>
      <p:sp>
        <p:nvSpPr>
          <p:cNvPr id="15" name="Freeform 15"/>
          <p:cNvSpPr/>
          <p:nvPr/>
        </p:nvSpPr>
        <p:spPr>
          <a:xfrm>
            <a:off x="3965127" y="1985351"/>
            <a:ext cx="4053452" cy="3511157"/>
          </a:xfrm>
          <a:custGeom>
            <a:avLst/>
            <a:gdLst/>
            <a:ahLst/>
            <a:cxnLst/>
            <a:rect l="l" t="t" r="r" b="b"/>
            <a:pathLst>
              <a:path w="4053452" h="3511157">
                <a:moveTo>
                  <a:pt x="0" y="0"/>
                </a:moveTo>
                <a:lnTo>
                  <a:pt x="4053452" y="0"/>
                </a:lnTo>
                <a:lnTo>
                  <a:pt x="4053452" y="3511157"/>
                </a:lnTo>
                <a:lnTo>
                  <a:pt x="0" y="3511157"/>
                </a:lnTo>
                <a:lnTo>
                  <a:pt x="0" y="0"/>
                </a:lnTo>
                <a:close/>
              </a:path>
            </a:pathLst>
          </a:custGeom>
          <a:blipFill>
            <a:blip r:embed="rId4"/>
            <a:stretch>
              <a:fillRect b="-23305"/>
            </a:stretch>
          </a:blipFill>
        </p:spPr>
      </p:sp>
      <p:sp>
        <p:nvSpPr>
          <p:cNvPr id="16" name="TextBox 16"/>
          <p:cNvSpPr txBox="1"/>
          <p:nvPr/>
        </p:nvSpPr>
        <p:spPr>
          <a:xfrm>
            <a:off x="685800" y="628650"/>
            <a:ext cx="10957912" cy="795030"/>
          </a:xfrm>
          <a:prstGeom prst="rect">
            <a:avLst/>
          </a:prstGeom>
        </p:spPr>
        <p:txBody>
          <a:bodyPr lIns="0" tIns="0" rIns="0" bIns="0" rtlCol="0" anchor="t">
            <a:spAutoFit/>
          </a:bodyPr>
          <a:lstStyle/>
          <a:p>
            <a:pPr algn="l">
              <a:lnSpc>
                <a:spcPts val="2092"/>
              </a:lnSpc>
            </a:pPr>
            <a:endParaRPr/>
          </a:p>
          <a:p>
            <a:pPr algn="l">
              <a:lnSpc>
                <a:spcPts val="4887"/>
              </a:lnSpc>
            </a:pPr>
            <a:r>
              <a:rPr lang="en-US" sz="2800" b="1">
                <a:solidFill>
                  <a:srgbClr val="0B2545"/>
                </a:solidFill>
                <a:latin typeface="Montserrat Bold"/>
                <a:ea typeface="Montserrat Bold"/>
                <a:cs typeface="Montserrat Bold"/>
                <a:sym typeface="Montserrat Bold"/>
              </a:rPr>
              <a:t>Overall System Flow</a:t>
            </a:r>
          </a:p>
        </p:txBody>
      </p:sp>
      <p:sp>
        <p:nvSpPr>
          <p:cNvPr id="17" name="TextBox 17"/>
          <p:cNvSpPr txBox="1"/>
          <p:nvPr/>
        </p:nvSpPr>
        <p:spPr>
          <a:xfrm>
            <a:off x="685800" y="628650"/>
            <a:ext cx="4599960" cy="231329"/>
          </a:xfrm>
          <a:prstGeom prst="rect">
            <a:avLst/>
          </a:prstGeom>
        </p:spPr>
        <p:txBody>
          <a:bodyPr lIns="0" tIns="0" rIns="0" bIns="0" rtlCol="0" anchor="t">
            <a:spAutoFit/>
          </a:bodyPr>
          <a:lstStyle/>
          <a:p>
            <a:pPr algn="l">
              <a:lnSpc>
                <a:spcPts val="2092"/>
              </a:lnSpc>
            </a:pPr>
            <a:r>
              <a:rPr lang="en-US" sz="1199" b="1" spc="290">
                <a:solidFill>
                  <a:srgbClr val="1C7293"/>
                </a:solidFill>
                <a:latin typeface="Montserrat Bold"/>
                <a:ea typeface="Montserrat Bold"/>
                <a:cs typeface="Montserrat Bold"/>
                <a:sym typeface="Montserrat Bold"/>
              </a:rPr>
              <a:t>04 . APPROACH</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AF1"/>
        </a:solidFill>
        <a:effectLst/>
      </p:bgPr>
    </p:bg>
    <p:spTree>
      <p:nvGrpSpPr>
        <p:cNvPr id="1" name=""/>
        <p:cNvGrpSpPr/>
        <p:nvPr/>
      </p:nvGrpSpPr>
      <p:grpSpPr>
        <a:xfrm>
          <a:off x="0" y="0"/>
          <a:ext cx="0" cy="0"/>
          <a:chOff x="0" y="0"/>
          <a:chExt cx="0" cy="0"/>
        </a:xfrm>
      </p:grpSpPr>
      <p:sp>
        <p:nvSpPr>
          <p:cNvPr id="2" name="TextBox 2"/>
          <p:cNvSpPr txBox="1"/>
          <p:nvPr/>
        </p:nvSpPr>
        <p:spPr>
          <a:xfrm>
            <a:off x="685800" y="628650"/>
            <a:ext cx="4599960" cy="231329"/>
          </a:xfrm>
          <a:prstGeom prst="rect">
            <a:avLst/>
          </a:prstGeom>
        </p:spPr>
        <p:txBody>
          <a:bodyPr lIns="0" tIns="0" rIns="0" bIns="0" rtlCol="0" anchor="t">
            <a:spAutoFit/>
          </a:bodyPr>
          <a:lstStyle/>
          <a:p>
            <a:pPr algn="l">
              <a:lnSpc>
                <a:spcPts val="2092"/>
              </a:lnSpc>
            </a:pPr>
            <a:r>
              <a:rPr lang="en-US" sz="1199" b="1" spc="290">
                <a:solidFill>
                  <a:srgbClr val="1C7293"/>
                </a:solidFill>
                <a:latin typeface="Montserrat Bold"/>
                <a:ea typeface="Montserrat Bold"/>
                <a:cs typeface="Montserrat Bold"/>
                <a:sym typeface="Montserrat Bold"/>
              </a:rPr>
              <a:t>04 . MODELS</a:t>
            </a:r>
          </a:p>
        </p:txBody>
      </p:sp>
      <p:grpSp>
        <p:nvGrpSpPr>
          <p:cNvPr id="3" name="Group 3"/>
          <p:cNvGrpSpPr/>
          <p:nvPr/>
        </p:nvGrpSpPr>
        <p:grpSpPr>
          <a:xfrm>
            <a:off x="275049" y="1765127"/>
            <a:ext cx="11641902" cy="4287879"/>
            <a:chOff x="0" y="0"/>
            <a:chExt cx="15522535" cy="5717172"/>
          </a:xfrm>
        </p:grpSpPr>
        <p:sp>
          <p:nvSpPr>
            <p:cNvPr id="4" name="Freeform 4"/>
            <p:cNvSpPr/>
            <p:nvPr/>
          </p:nvSpPr>
          <p:spPr>
            <a:xfrm>
              <a:off x="0" y="0"/>
              <a:ext cx="4985652" cy="5717172"/>
            </a:xfrm>
            <a:custGeom>
              <a:avLst/>
              <a:gdLst/>
              <a:ahLst/>
              <a:cxnLst/>
              <a:rect l="l" t="t" r="r" b="b"/>
              <a:pathLst>
                <a:path w="4985652" h="5717172">
                  <a:moveTo>
                    <a:pt x="0" y="0"/>
                  </a:moveTo>
                  <a:lnTo>
                    <a:pt x="4985652" y="0"/>
                  </a:lnTo>
                  <a:lnTo>
                    <a:pt x="4985652" y="5717172"/>
                  </a:lnTo>
                  <a:lnTo>
                    <a:pt x="0" y="5717172"/>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5" name="TextBox 5"/>
            <p:cNvSpPr txBox="1"/>
            <p:nvPr/>
          </p:nvSpPr>
          <p:spPr>
            <a:xfrm>
              <a:off x="400592" y="665459"/>
              <a:ext cx="4533349" cy="322027"/>
            </a:xfrm>
            <a:prstGeom prst="rect">
              <a:avLst/>
            </a:prstGeom>
          </p:spPr>
          <p:txBody>
            <a:bodyPr lIns="0" tIns="0" rIns="0" bIns="0" rtlCol="0" anchor="t">
              <a:spAutoFit/>
            </a:bodyPr>
            <a:lstStyle/>
            <a:p>
              <a:pPr algn="l">
                <a:lnSpc>
                  <a:spcPts val="2064"/>
                </a:lnSpc>
              </a:pPr>
              <a:r>
                <a:rPr lang="en-US" sz="1474" b="1">
                  <a:solidFill>
                    <a:srgbClr val="FFFFFF"/>
                  </a:solidFill>
                  <a:latin typeface="Montserrat Bold"/>
                  <a:ea typeface="Montserrat Bold"/>
                  <a:cs typeface="Montserrat Bold"/>
                  <a:sym typeface="Montserrat Bold"/>
                </a:rPr>
                <a:t>XG-Boost</a:t>
              </a:r>
            </a:p>
          </p:txBody>
        </p:sp>
        <p:sp>
          <p:nvSpPr>
            <p:cNvPr id="6" name="TextBox 6"/>
            <p:cNvSpPr txBox="1"/>
            <p:nvPr/>
          </p:nvSpPr>
          <p:spPr>
            <a:xfrm>
              <a:off x="400592" y="327149"/>
              <a:ext cx="5025229" cy="249826"/>
            </a:xfrm>
            <a:prstGeom prst="rect">
              <a:avLst/>
            </a:prstGeom>
          </p:spPr>
          <p:txBody>
            <a:bodyPr lIns="0" tIns="0" rIns="0" bIns="0" rtlCol="0" anchor="t">
              <a:spAutoFit/>
            </a:bodyPr>
            <a:lstStyle/>
            <a:p>
              <a:pPr algn="l">
                <a:lnSpc>
                  <a:spcPts val="1714"/>
                </a:lnSpc>
              </a:pPr>
              <a:r>
                <a:rPr lang="en-US" sz="982" b="1">
                  <a:solidFill>
                    <a:srgbClr val="7FE3E8"/>
                  </a:solidFill>
                  <a:latin typeface="Montserrat Bold"/>
                  <a:ea typeface="Montserrat Bold"/>
                  <a:cs typeface="Montserrat Bold"/>
                  <a:sym typeface="Montserrat Bold"/>
                </a:rPr>
                <a:t>MODEL 1</a:t>
              </a:r>
            </a:p>
          </p:txBody>
        </p:sp>
        <p:sp>
          <p:nvSpPr>
            <p:cNvPr id="7" name="TextBox 7"/>
            <p:cNvSpPr txBox="1"/>
            <p:nvPr/>
          </p:nvSpPr>
          <p:spPr>
            <a:xfrm>
              <a:off x="646532" y="4930642"/>
              <a:ext cx="4533349" cy="322027"/>
            </a:xfrm>
            <a:prstGeom prst="rect">
              <a:avLst/>
            </a:prstGeom>
          </p:spPr>
          <p:txBody>
            <a:bodyPr lIns="0" tIns="0" rIns="0" bIns="0" rtlCol="0" anchor="t">
              <a:spAutoFit/>
            </a:bodyPr>
            <a:lstStyle/>
            <a:p>
              <a:pPr algn="l">
                <a:lnSpc>
                  <a:spcPts val="2064"/>
                </a:lnSpc>
              </a:pPr>
              <a:r>
                <a:rPr lang="en-US" sz="1474" b="1">
                  <a:solidFill>
                    <a:srgbClr val="E8A33D"/>
                  </a:solidFill>
                  <a:latin typeface="Montserrat Bold"/>
                  <a:ea typeface="Montserrat Bold"/>
                  <a:cs typeface="Montserrat Bold"/>
                  <a:sym typeface="Montserrat Bold"/>
                </a:rPr>
                <a:t>BASELINE</a:t>
              </a:r>
            </a:p>
          </p:txBody>
        </p:sp>
        <p:sp>
          <p:nvSpPr>
            <p:cNvPr id="8" name="TextBox 8"/>
            <p:cNvSpPr txBox="1"/>
            <p:nvPr/>
          </p:nvSpPr>
          <p:spPr>
            <a:xfrm>
              <a:off x="400592" y="1581147"/>
              <a:ext cx="4208947" cy="1533525"/>
            </a:xfrm>
            <a:prstGeom prst="rect">
              <a:avLst/>
            </a:prstGeom>
          </p:spPr>
          <p:txBody>
            <a:bodyPr lIns="0" tIns="0" rIns="0" bIns="0" rtlCol="0" anchor="t">
              <a:spAutoFit/>
            </a:bodyPr>
            <a:lstStyle/>
            <a:p>
              <a:pPr algn="l">
                <a:lnSpc>
                  <a:spcPts val="1800"/>
                </a:lnSpc>
              </a:pPr>
              <a:r>
                <a:rPr lang="en-US" sz="1500">
                  <a:solidFill>
                    <a:srgbClr val="000000"/>
                  </a:solidFill>
                  <a:latin typeface="Montserrat"/>
                  <a:ea typeface="Montserrat"/>
                  <a:cs typeface="Montserrat"/>
                  <a:sym typeface="Montserrat"/>
                </a:rPr>
                <a:t>A gradient-boosted tree ensemble trained on the 54-dim summary data. SMOTE was applied only to the training set to fix imbalance.</a:t>
              </a:r>
            </a:p>
          </p:txBody>
        </p:sp>
        <p:sp>
          <p:nvSpPr>
            <p:cNvPr id="9" name="Freeform 9"/>
            <p:cNvSpPr/>
            <p:nvPr/>
          </p:nvSpPr>
          <p:spPr>
            <a:xfrm>
              <a:off x="5287571" y="0"/>
              <a:ext cx="4985652" cy="5717172"/>
            </a:xfrm>
            <a:custGeom>
              <a:avLst/>
              <a:gdLst/>
              <a:ahLst/>
              <a:cxnLst/>
              <a:rect l="l" t="t" r="r" b="b"/>
              <a:pathLst>
                <a:path w="4985652" h="5717172">
                  <a:moveTo>
                    <a:pt x="0" y="0"/>
                  </a:moveTo>
                  <a:lnTo>
                    <a:pt x="4985652" y="0"/>
                  </a:lnTo>
                  <a:lnTo>
                    <a:pt x="4985652" y="5717172"/>
                  </a:lnTo>
                  <a:lnTo>
                    <a:pt x="0" y="5717172"/>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10" name="TextBox 10"/>
            <p:cNvSpPr txBox="1"/>
            <p:nvPr/>
          </p:nvSpPr>
          <p:spPr>
            <a:xfrm>
              <a:off x="5688163" y="665459"/>
              <a:ext cx="3703851" cy="322027"/>
            </a:xfrm>
            <a:prstGeom prst="rect">
              <a:avLst/>
            </a:prstGeom>
          </p:spPr>
          <p:txBody>
            <a:bodyPr lIns="0" tIns="0" rIns="0" bIns="0" rtlCol="0" anchor="t">
              <a:spAutoFit/>
            </a:bodyPr>
            <a:lstStyle/>
            <a:p>
              <a:pPr algn="l">
                <a:lnSpc>
                  <a:spcPts val="2064"/>
                </a:lnSpc>
              </a:pPr>
              <a:r>
                <a:rPr lang="en-US" sz="1474" b="1">
                  <a:solidFill>
                    <a:srgbClr val="FFFFFF"/>
                  </a:solidFill>
                  <a:latin typeface="Montserrat Bold"/>
                  <a:ea typeface="Montserrat Bold"/>
                  <a:cs typeface="Montserrat Bold"/>
                  <a:sym typeface="Montserrat Bold"/>
                </a:rPr>
                <a:t>1D - CNN</a:t>
              </a:r>
            </a:p>
          </p:txBody>
        </p:sp>
        <p:sp>
          <p:nvSpPr>
            <p:cNvPr id="11" name="TextBox 11"/>
            <p:cNvSpPr txBox="1"/>
            <p:nvPr/>
          </p:nvSpPr>
          <p:spPr>
            <a:xfrm>
              <a:off x="5934103" y="4930642"/>
              <a:ext cx="3457910" cy="322027"/>
            </a:xfrm>
            <a:prstGeom prst="rect">
              <a:avLst/>
            </a:prstGeom>
          </p:spPr>
          <p:txBody>
            <a:bodyPr lIns="0" tIns="0" rIns="0" bIns="0" rtlCol="0" anchor="t">
              <a:spAutoFit/>
            </a:bodyPr>
            <a:lstStyle/>
            <a:p>
              <a:pPr algn="l">
                <a:lnSpc>
                  <a:spcPts val="2064"/>
                </a:lnSpc>
              </a:pPr>
              <a:r>
                <a:rPr lang="en-US" sz="1474" b="1">
                  <a:solidFill>
                    <a:srgbClr val="E8A33D"/>
                  </a:solidFill>
                  <a:latin typeface="Montserrat Bold"/>
                  <a:ea typeface="Montserrat Bold"/>
                  <a:cs typeface="Montserrat Bold"/>
                  <a:sym typeface="Montserrat Bold"/>
                </a:rPr>
                <a:t>CONTROL</a:t>
              </a:r>
            </a:p>
          </p:txBody>
        </p:sp>
        <p:sp>
          <p:nvSpPr>
            <p:cNvPr id="12" name="TextBox 12"/>
            <p:cNvSpPr txBox="1"/>
            <p:nvPr/>
          </p:nvSpPr>
          <p:spPr>
            <a:xfrm>
              <a:off x="5688163" y="1581147"/>
              <a:ext cx="4208947" cy="1533525"/>
            </a:xfrm>
            <a:prstGeom prst="rect">
              <a:avLst/>
            </a:prstGeom>
          </p:spPr>
          <p:txBody>
            <a:bodyPr lIns="0" tIns="0" rIns="0" bIns="0" rtlCol="0" anchor="t">
              <a:spAutoFit/>
            </a:bodyPr>
            <a:lstStyle/>
            <a:p>
              <a:pPr algn="l">
                <a:lnSpc>
                  <a:spcPts val="1800"/>
                </a:lnSpc>
              </a:pPr>
              <a:r>
                <a:rPr lang="en-US" sz="1500">
                  <a:solidFill>
                    <a:srgbClr val="000000"/>
                  </a:solidFill>
                  <a:latin typeface="Montserrat"/>
                  <a:ea typeface="Montserrat"/>
                  <a:cs typeface="Montserrat"/>
                  <a:sym typeface="Montserrat"/>
                </a:rPr>
                <a:t>Uses the SAME summary data as XGBoost. Question: is a neural net better on the same input? Architecture kept identical to Model 3.</a:t>
              </a:r>
            </a:p>
          </p:txBody>
        </p:sp>
        <p:sp>
          <p:nvSpPr>
            <p:cNvPr id="13" name="Freeform 13"/>
            <p:cNvSpPr/>
            <p:nvPr/>
          </p:nvSpPr>
          <p:spPr>
            <a:xfrm>
              <a:off x="10536884" y="0"/>
              <a:ext cx="4985652" cy="5717172"/>
            </a:xfrm>
            <a:custGeom>
              <a:avLst/>
              <a:gdLst/>
              <a:ahLst/>
              <a:cxnLst/>
              <a:rect l="l" t="t" r="r" b="b"/>
              <a:pathLst>
                <a:path w="4985652" h="5717172">
                  <a:moveTo>
                    <a:pt x="0" y="0"/>
                  </a:moveTo>
                  <a:lnTo>
                    <a:pt x="4985651" y="0"/>
                  </a:lnTo>
                  <a:lnTo>
                    <a:pt x="4985651" y="5717172"/>
                  </a:lnTo>
                  <a:lnTo>
                    <a:pt x="0" y="5717172"/>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14" name="TextBox 14"/>
            <p:cNvSpPr txBox="1"/>
            <p:nvPr/>
          </p:nvSpPr>
          <p:spPr>
            <a:xfrm>
              <a:off x="10937475" y="665459"/>
              <a:ext cx="3703851" cy="322027"/>
            </a:xfrm>
            <a:prstGeom prst="rect">
              <a:avLst/>
            </a:prstGeom>
          </p:spPr>
          <p:txBody>
            <a:bodyPr lIns="0" tIns="0" rIns="0" bIns="0" rtlCol="0" anchor="t">
              <a:spAutoFit/>
            </a:bodyPr>
            <a:lstStyle/>
            <a:p>
              <a:pPr algn="l">
                <a:lnSpc>
                  <a:spcPts val="2064"/>
                </a:lnSpc>
              </a:pPr>
              <a:r>
                <a:rPr lang="en-US" sz="1474" b="1">
                  <a:solidFill>
                    <a:srgbClr val="FFFFFF"/>
                  </a:solidFill>
                  <a:latin typeface="Montserrat Bold"/>
                  <a:ea typeface="Montserrat Bold"/>
                  <a:cs typeface="Montserrat Bold"/>
                  <a:sym typeface="Montserrat Bold"/>
                </a:rPr>
                <a:t>Time Series 1D - CNN</a:t>
              </a:r>
            </a:p>
          </p:txBody>
        </p:sp>
        <p:sp>
          <p:nvSpPr>
            <p:cNvPr id="15" name="TextBox 15"/>
            <p:cNvSpPr txBox="1"/>
            <p:nvPr/>
          </p:nvSpPr>
          <p:spPr>
            <a:xfrm>
              <a:off x="10937475" y="327149"/>
              <a:ext cx="4351262" cy="249826"/>
            </a:xfrm>
            <a:prstGeom prst="rect">
              <a:avLst/>
            </a:prstGeom>
          </p:spPr>
          <p:txBody>
            <a:bodyPr lIns="0" tIns="0" rIns="0" bIns="0" rtlCol="0" anchor="t">
              <a:spAutoFit/>
            </a:bodyPr>
            <a:lstStyle/>
            <a:p>
              <a:pPr algn="l">
                <a:lnSpc>
                  <a:spcPts val="1714"/>
                </a:lnSpc>
              </a:pPr>
              <a:r>
                <a:rPr lang="en-US" sz="982" b="1">
                  <a:solidFill>
                    <a:srgbClr val="7FE3E8"/>
                  </a:solidFill>
                  <a:latin typeface="Montserrat Bold"/>
                  <a:ea typeface="Montserrat Bold"/>
                  <a:cs typeface="Montserrat Bold"/>
                  <a:sym typeface="Montserrat Bold"/>
                </a:rPr>
                <a:t>MODEL 3</a:t>
              </a:r>
            </a:p>
          </p:txBody>
        </p:sp>
        <p:sp>
          <p:nvSpPr>
            <p:cNvPr id="16" name="TextBox 16"/>
            <p:cNvSpPr txBox="1"/>
            <p:nvPr/>
          </p:nvSpPr>
          <p:spPr>
            <a:xfrm>
              <a:off x="11183415" y="4930642"/>
              <a:ext cx="3457910" cy="322027"/>
            </a:xfrm>
            <a:prstGeom prst="rect">
              <a:avLst/>
            </a:prstGeom>
          </p:spPr>
          <p:txBody>
            <a:bodyPr lIns="0" tIns="0" rIns="0" bIns="0" rtlCol="0" anchor="t">
              <a:spAutoFit/>
            </a:bodyPr>
            <a:lstStyle/>
            <a:p>
              <a:pPr algn="l">
                <a:lnSpc>
                  <a:spcPts val="2064"/>
                </a:lnSpc>
              </a:pPr>
              <a:r>
                <a:rPr lang="en-US" sz="1474" b="1">
                  <a:solidFill>
                    <a:srgbClr val="15616D"/>
                  </a:solidFill>
                  <a:latin typeface="Montserrat Bold"/>
                  <a:ea typeface="Montserrat Bold"/>
                  <a:cs typeface="Montserrat Bold"/>
                  <a:sym typeface="Montserrat Bold"/>
                </a:rPr>
                <a:t>BASELINE</a:t>
              </a:r>
            </a:p>
          </p:txBody>
        </p:sp>
        <p:sp>
          <p:nvSpPr>
            <p:cNvPr id="17" name="TextBox 17"/>
            <p:cNvSpPr txBox="1"/>
            <p:nvPr/>
          </p:nvSpPr>
          <p:spPr>
            <a:xfrm>
              <a:off x="10937475" y="1581147"/>
              <a:ext cx="4208947" cy="1533525"/>
            </a:xfrm>
            <a:prstGeom prst="rect">
              <a:avLst/>
            </a:prstGeom>
          </p:spPr>
          <p:txBody>
            <a:bodyPr lIns="0" tIns="0" rIns="0" bIns="0" rtlCol="0" anchor="t">
              <a:spAutoFit/>
            </a:bodyPr>
            <a:lstStyle/>
            <a:p>
              <a:pPr algn="l">
                <a:lnSpc>
                  <a:spcPts val="1800"/>
                </a:lnSpc>
              </a:pPr>
              <a:r>
                <a:rPr lang="en-US" sz="1500">
                  <a:solidFill>
                    <a:srgbClr val="000000"/>
                  </a:solidFill>
                  <a:latin typeface="Montserrat"/>
                  <a:ea typeface="Montserrat"/>
                  <a:cs typeface="Montserrat"/>
                  <a:sym typeface="Montserrat"/>
                </a:rPr>
                <a:t>A gradient-boosted tree ensemble trained on the 54-dim summary data. SMOTE was applied only to the training set to fix imbalance.</a:t>
              </a:r>
            </a:p>
          </p:txBody>
        </p:sp>
        <p:sp>
          <p:nvSpPr>
            <p:cNvPr id="18" name="TextBox 18"/>
            <p:cNvSpPr txBox="1"/>
            <p:nvPr/>
          </p:nvSpPr>
          <p:spPr>
            <a:xfrm>
              <a:off x="5835239" y="327149"/>
              <a:ext cx="4351262" cy="249826"/>
            </a:xfrm>
            <a:prstGeom prst="rect">
              <a:avLst/>
            </a:prstGeom>
          </p:spPr>
          <p:txBody>
            <a:bodyPr lIns="0" tIns="0" rIns="0" bIns="0" rtlCol="0" anchor="t">
              <a:spAutoFit/>
            </a:bodyPr>
            <a:lstStyle/>
            <a:p>
              <a:pPr algn="l">
                <a:lnSpc>
                  <a:spcPts val="1714"/>
                </a:lnSpc>
              </a:pPr>
              <a:r>
                <a:rPr lang="en-US" sz="982" b="1">
                  <a:solidFill>
                    <a:srgbClr val="7FE3E8"/>
                  </a:solidFill>
                  <a:latin typeface="Montserrat Bold"/>
                  <a:ea typeface="Montserrat Bold"/>
                  <a:cs typeface="Montserrat Bold"/>
                  <a:sym typeface="Montserrat Bold"/>
                </a:rPr>
                <a:t>MODEL 2</a:t>
              </a:r>
            </a:p>
          </p:txBody>
        </p:sp>
      </p:grpSp>
      <p:sp>
        <p:nvSpPr>
          <p:cNvPr id="19" name="TextBox 19"/>
          <p:cNvSpPr txBox="1"/>
          <p:nvPr/>
        </p:nvSpPr>
        <p:spPr>
          <a:xfrm>
            <a:off x="685800" y="628650"/>
            <a:ext cx="10957912" cy="795030"/>
          </a:xfrm>
          <a:prstGeom prst="rect">
            <a:avLst/>
          </a:prstGeom>
        </p:spPr>
        <p:txBody>
          <a:bodyPr lIns="0" tIns="0" rIns="0" bIns="0" rtlCol="0" anchor="t">
            <a:spAutoFit/>
          </a:bodyPr>
          <a:lstStyle/>
          <a:p>
            <a:pPr algn="l">
              <a:lnSpc>
                <a:spcPts val="2092"/>
              </a:lnSpc>
            </a:pPr>
            <a:endParaRPr/>
          </a:p>
          <a:p>
            <a:pPr algn="l">
              <a:lnSpc>
                <a:spcPts val="4887"/>
              </a:lnSpc>
            </a:pPr>
            <a:r>
              <a:rPr lang="en-US" sz="2800" b="1">
                <a:solidFill>
                  <a:srgbClr val="0B2545"/>
                </a:solidFill>
                <a:latin typeface="Montserrat Bold"/>
                <a:ea typeface="Montserrat Bold"/>
                <a:cs typeface="Montserrat Bold"/>
                <a:sym typeface="Montserrat Bold"/>
              </a:rPr>
              <a:t>The Three Models We Compared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AF1"/>
        </a:solidFill>
        <a:effectLst/>
      </p:bgPr>
    </p:bg>
    <p:spTree>
      <p:nvGrpSpPr>
        <p:cNvPr id="1" name=""/>
        <p:cNvGrpSpPr/>
        <p:nvPr/>
      </p:nvGrpSpPr>
      <p:grpSpPr>
        <a:xfrm>
          <a:off x="0" y="0"/>
          <a:ext cx="0" cy="0"/>
          <a:chOff x="0" y="0"/>
          <a:chExt cx="0" cy="0"/>
        </a:xfrm>
      </p:grpSpPr>
      <p:grpSp>
        <p:nvGrpSpPr>
          <p:cNvPr id="2" name="Group 2"/>
          <p:cNvGrpSpPr/>
          <p:nvPr/>
        </p:nvGrpSpPr>
        <p:grpSpPr>
          <a:xfrm>
            <a:off x="8082353" y="1536830"/>
            <a:ext cx="3632035" cy="4363212"/>
            <a:chOff x="0" y="0"/>
            <a:chExt cx="4842713" cy="5817616"/>
          </a:xfrm>
        </p:grpSpPr>
        <p:sp>
          <p:nvSpPr>
            <p:cNvPr id="3" name="Freeform 3"/>
            <p:cNvSpPr/>
            <p:nvPr/>
          </p:nvSpPr>
          <p:spPr>
            <a:xfrm>
              <a:off x="0" y="0"/>
              <a:ext cx="4842764" cy="5817616"/>
            </a:xfrm>
            <a:custGeom>
              <a:avLst/>
              <a:gdLst/>
              <a:ahLst/>
              <a:cxnLst/>
              <a:rect l="l" t="t" r="r" b="b"/>
              <a:pathLst>
                <a:path w="4842764" h="5817616">
                  <a:moveTo>
                    <a:pt x="0" y="0"/>
                  </a:moveTo>
                  <a:lnTo>
                    <a:pt x="4842764" y="0"/>
                  </a:lnTo>
                  <a:lnTo>
                    <a:pt x="4842764" y="5817616"/>
                  </a:lnTo>
                  <a:lnTo>
                    <a:pt x="0" y="5817616"/>
                  </a:lnTo>
                  <a:lnTo>
                    <a:pt x="0" y="0"/>
                  </a:lnTo>
                  <a:close/>
                </a:path>
              </a:pathLst>
            </a:custGeom>
            <a:blipFill>
              <a:blip r:embed="rId2">
                <a:alphaModFix amt="18999"/>
              </a:blip>
              <a:stretch>
                <a:fillRect t="-7" r="1"/>
              </a:stretch>
            </a:blipFill>
          </p:spPr>
        </p:sp>
      </p:grpSp>
      <p:sp>
        <p:nvSpPr>
          <p:cNvPr id="4" name="Freeform 4"/>
          <p:cNvSpPr/>
          <p:nvPr/>
        </p:nvSpPr>
        <p:spPr>
          <a:xfrm>
            <a:off x="8246000" y="1354599"/>
            <a:ext cx="3746244" cy="4545443"/>
          </a:xfrm>
          <a:custGeom>
            <a:avLst/>
            <a:gdLst/>
            <a:ahLst/>
            <a:cxnLst/>
            <a:rect l="l" t="t" r="r" b="b"/>
            <a:pathLst>
              <a:path w="3746244" h="4545443">
                <a:moveTo>
                  <a:pt x="0" y="0"/>
                </a:moveTo>
                <a:lnTo>
                  <a:pt x="3746244" y="0"/>
                </a:lnTo>
                <a:lnTo>
                  <a:pt x="3746244" y="4545443"/>
                </a:lnTo>
                <a:lnTo>
                  <a:pt x="0" y="4545443"/>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459579" y="1548592"/>
            <a:ext cx="7534173" cy="2392100"/>
          </a:xfrm>
          <a:custGeom>
            <a:avLst/>
            <a:gdLst/>
            <a:ahLst/>
            <a:cxnLst/>
            <a:rect l="l" t="t" r="r" b="b"/>
            <a:pathLst>
              <a:path w="7534173" h="2392100">
                <a:moveTo>
                  <a:pt x="0" y="0"/>
                </a:moveTo>
                <a:lnTo>
                  <a:pt x="7534172" y="0"/>
                </a:lnTo>
                <a:lnTo>
                  <a:pt x="7534172" y="2392100"/>
                </a:lnTo>
                <a:lnTo>
                  <a:pt x="0" y="2392100"/>
                </a:lnTo>
                <a:lnTo>
                  <a:pt x="0" y="0"/>
                </a:lnTo>
                <a:close/>
              </a:path>
            </a:pathLst>
          </a:custGeom>
          <a:blipFill>
            <a:blip r:embed="rId4"/>
            <a:stretch>
              <a:fillRect/>
            </a:stretch>
          </a:blipFill>
        </p:spPr>
      </p:sp>
      <p:sp>
        <p:nvSpPr>
          <p:cNvPr id="6" name="TextBox 6"/>
          <p:cNvSpPr txBox="1"/>
          <p:nvPr/>
        </p:nvSpPr>
        <p:spPr>
          <a:xfrm>
            <a:off x="548640" y="4170817"/>
            <a:ext cx="7445111" cy="792670"/>
          </a:xfrm>
          <a:prstGeom prst="rect">
            <a:avLst/>
          </a:prstGeom>
        </p:spPr>
        <p:txBody>
          <a:bodyPr lIns="0" tIns="0" rIns="0" bIns="0" rtlCol="0" anchor="t">
            <a:spAutoFit/>
          </a:bodyPr>
          <a:lstStyle/>
          <a:p>
            <a:pPr algn="l">
              <a:lnSpc>
                <a:spcPts val="2158"/>
              </a:lnSpc>
            </a:pPr>
            <a:r>
              <a:rPr lang="en-US" sz="1500">
                <a:solidFill>
                  <a:srgbClr val="1A2A3A"/>
                </a:solidFill>
                <a:latin typeface="Montserrat"/>
                <a:ea typeface="Montserrat"/>
                <a:cs typeface="Montserrat"/>
                <a:sym typeface="Montserrat"/>
              </a:rPr>
              <a:t>Conv1D blocks (64-&gt;128-&gt;256), each with batch normalization; pooling for downsampling; global average pooling instead of flatten (fewer parameters); a 128-neuron dense layer + softmax.</a:t>
            </a:r>
          </a:p>
        </p:txBody>
      </p:sp>
      <p:sp>
        <p:nvSpPr>
          <p:cNvPr id="7" name="TextBox 7"/>
          <p:cNvSpPr txBox="1"/>
          <p:nvPr/>
        </p:nvSpPr>
        <p:spPr>
          <a:xfrm>
            <a:off x="8457848" y="1884445"/>
            <a:ext cx="2019657" cy="191140"/>
          </a:xfrm>
          <a:prstGeom prst="rect">
            <a:avLst/>
          </a:prstGeom>
        </p:spPr>
        <p:txBody>
          <a:bodyPr lIns="0" tIns="0" rIns="0" bIns="0" rtlCol="0" anchor="t">
            <a:spAutoFit/>
          </a:bodyPr>
          <a:lstStyle/>
          <a:p>
            <a:pPr algn="l">
              <a:lnSpc>
                <a:spcPts val="1539"/>
              </a:lnSpc>
            </a:pPr>
            <a:r>
              <a:rPr lang="en-US" sz="1099" b="1" spc="197">
                <a:solidFill>
                  <a:srgbClr val="1B98A2"/>
                </a:solidFill>
                <a:latin typeface="Montserrat Bold"/>
                <a:ea typeface="Montserrat Bold"/>
                <a:cs typeface="Montserrat Bold"/>
                <a:sym typeface="Montserrat Bold"/>
              </a:rPr>
              <a:t>TRAINING PROTOCOL</a:t>
            </a:r>
          </a:p>
        </p:txBody>
      </p:sp>
      <p:sp>
        <p:nvSpPr>
          <p:cNvPr id="8" name="TextBox 8"/>
          <p:cNvSpPr txBox="1"/>
          <p:nvPr/>
        </p:nvSpPr>
        <p:spPr>
          <a:xfrm>
            <a:off x="8458200" y="2312965"/>
            <a:ext cx="736402" cy="199367"/>
          </a:xfrm>
          <a:prstGeom prst="rect">
            <a:avLst/>
          </a:prstGeom>
        </p:spPr>
        <p:txBody>
          <a:bodyPr lIns="0" tIns="0" rIns="0" bIns="0" rtlCol="0" anchor="t">
            <a:spAutoFit/>
          </a:bodyPr>
          <a:lstStyle/>
          <a:p>
            <a:pPr algn="l">
              <a:lnSpc>
                <a:spcPts val="1611"/>
              </a:lnSpc>
            </a:pPr>
            <a:r>
              <a:rPr lang="en-US" sz="1150">
                <a:solidFill>
                  <a:srgbClr val="9FB8C8"/>
                </a:solidFill>
                <a:latin typeface="Montserrat"/>
                <a:ea typeface="Montserrat"/>
                <a:cs typeface="Montserrat"/>
                <a:sym typeface="Montserrat"/>
              </a:rPr>
              <a:t>Optimizer</a:t>
            </a:r>
          </a:p>
        </p:txBody>
      </p:sp>
      <p:sp>
        <p:nvSpPr>
          <p:cNvPr id="9" name="TextBox 9"/>
          <p:cNvSpPr txBox="1"/>
          <p:nvPr/>
        </p:nvSpPr>
        <p:spPr>
          <a:xfrm>
            <a:off x="8458200" y="2788520"/>
            <a:ext cx="749141" cy="199367"/>
          </a:xfrm>
          <a:prstGeom prst="rect">
            <a:avLst/>
          </a:prstGeom>
        </p:spPr>
        <p:txBody>
          <a:bodyPr lIns="0" tIns="0" rIns="0" bIns="0" rtlCol="0" anchor="t">
            <a:spAutoFit/>
          </a:bodyPr>
          <a:lstStyle/>
          <a:p>
            <a:pPr algn="l">
              <a:lnSpc>
                <a:spcPts val="1611"/>
              </a:lnSpc>
            </a:pPr>
            <a:r>
              <a:rPr lang="en-US" sz="1150">
                <a:solidFill>
                  <a:srgbClr val="9FB8C8"/>
                </a:solidFill>
                <a:latin typeface="Montserrat"/>
                <a:ea typeface="Montserrat"/>
                <a:cs typeface="Montserrat"/>
                <a:sym typeface="Montserrat"/>
              </a:rPr>
              <a:t>Batch size</a:t>
            </a:r>
          </a:p>
        </p:txBody>
      </p:sp>
      <p:sp>
        <p:nvSpPr>
          <p:cNvPr id="10" name="TextBox 10"/>
          <p:cNvSpPr txBox="1"/>
          <p:nvPr/>
        </p:nvSpPr>
        <p:spPr>
          <a:xfrm>
            <a:off x="8458200" y="3264084"/>
            <a:ext cx="320754" cy="199367"/>
          </a:xfrm>
          <a:prstGeom prst="rect">
            <a:avLst/>
          </a:prstGeom>
        </p:spPr>
        <p:txBody>
          <a:bodyPr lIns="0" tIns="0" rIns="0" bIns="0" rtlCol="0" anchor="t">
            <a:spAutoFit/>
          </a:bodyPr>
          <a:lstStyle/>
          <a:p>
            <a:pPr algn="l">
              <a:lnSpc>
                <a:spcPts val="1611"/>
              </a:lnSpc>
            </a:pPr>
            <a:r>
              <a:rPr lang="en-US" sz="1150">
                <a:solidFill>
                  <a:srgbClr val="9FB8C8"/>
                </a:solidFill>
                <a:latin typeface="Montserrat"/>
                <a:ea typeface="Montserrat"/>
                <a:cs typeface="Montserrat"/>
                <a:sym typeface="Montserrat"/>
              </a:rPr>
              <a:t>Loss</a:t>
            </a:r>
          </a:p>
        </p:txBody>
      </p:sp>
      <p:sp>
        <p:nvSpPr>
          <p:cNvPr id="11" name="TextBox 11"/>
          <p:cNvSpPr txBox="1"/>
          <p:nvPr/>
        </p:nvSpPr>
        <p:spPr>
          <a:xfrm>
            <a:off x="8458200" y="3739277"/>
            <a:ext cx="741521" cy="199367"/>
          </a:xfrm>
          <a:prstGeom prst="rect">
            <a:avLst/>
          </a:prstGeom>
        </p:spPr>
        <p:txBody>
          <a:bodyPr lIns="0" tIns="0" rIns="0" bIns="0" rtlCol="0" anchor="t">
            <a:spAutoFit/>
          </a:bodyPr>
          <a:lstStyle/>
          <a:p>
            <a:pPr algn="l">
              <a:lnSpc>
                <a:spcPts val="1611"/>
              </a:lnSpc>
            </a:pPr>
            <a:r>
              <a:rPr lang="en-US" sz="1150">
                <a:solidFill>
                  <a:srgbClr val="9FB8C8"/>
                </a:solidFill>
                <a:latin typeface="Montserrat"/>
                <a:ea typeface="Montserrat"/>
                <a:cs typeface="Montserrat"/>
                <a:sym typeface="Montserrat"/>
              </a:rPr>
              <a:t>Validation</a:t>
            </a:r>
          </a:p>
        </p:txBody>
      </p:sp>
      <p:sp>
        <p:nvSpPr>
          <p:cNvPr id="12" name="TextBox 12"/>
          <p:cNvSpPr txBox="1"/>
          <p:nvPr/>
        </p:nvSpPr>
        <p:spPr>
          <a:xfrm>
            <a:off x="8458200" y="4214841"/>
            <a:ext cx="1058585" cy="199367"/>
          </a:xfrm>
          <a:prstGeom prst="rect">
            <a:avLst/>
          </a:prstGeom>
        </p:spPr>
        <p:txBody>
          <a:bodyPr lIns="0" tIns="0" rIns="0" bIns="0" rtlCol="0" anchor="t">
            <a:spAutoFit/>
          </a:bodyPr>
          <a:lstStyle/>
          <a:p>
            <a:pPr algn="l">
              <a:lnSpc>
                <a:spcPts val="1611"/>
              </a:lnSpc>
            </a:pPr>
            <a:r>
              <a:rPr lang="en-US" sz="1150">
                <a:solidFill>
                  <a:srgbClr val="9FB8C8"/>
                </a:solidFill>
                <a:latin typeface="Montserrat"/>
                <a:ea typeface="Montserrat"/>
                <a:cs typeface="Montserrat"/>
                <a:sym typeface="Montserrat"/>
              </a:rPr>
              <a:t>Early stopping</a:t>
            </a:r>
          </a:p>
        </p:txBody>
      </p:sp>
      <p:sp>
        <p:nvSpPr>
          <p:cNvPr id="13" name="TextBox 13"/>
          <p:cNvSpPr txBox="1"/>
          <p:nvPr/>
        </p:nvSpPr>
        <p:spPr>
          <a:xfrm>
            <a:off x="8458200" y="4690405"/>
            <a:ext cx="956429" cy="199367"/>
          </a:xfrm>
          <a:prstGeom prst="rect">
            <a:avLst/>
          </a:prstGeom>
        </p:spPr>
        <p:txBody>
          <a:bodyPr lIns="0" tIns="0" rIns="0" bIns="0" rtlCol="0" anchor="t">
            <a:spAutoFit/>
          </a:bodyPr>
          <a:lstStyle/>
          <a:p>
            <a:pPr algn="l">
              <a:lnSpc>
                <a:spcPts val="1611"/>
              </a:lnSpc>
            </a:pPr>
            <a:r>
              <a:rPr lang="en-US" sz="1150" spc="1">
                <a:solidFill>
                  <a:srgbClr val="9FB8C8"/>
                </a:solidFill>
                <a:latin typeface="Montserrat"/>
                <a:ea typeface="Montserrat"/>
                <a:cs typeface="Montserrat"/>
                <a:sym typeface="Montserrat"/>
              </a:rPr>
              <a:t>LR scheduler</a:t>
            </a:r>
          </a:p>
        </p:txBody>
      </p:sp>
      <p:sp>
        <p:nvSpPr>
          <p:cNvPr id="14" name="TextBox 14"/>
          <p:cNvSpPr txBox="1"/>
          <p:nvPr/>
        </p:nvSpPr>
        <p:spPr>
          <a:xfrm>
            <a:off x="8458200" y="5165960"/>
            <a:ext cx="873919" cy="199367"/>
          </a:xfrm>
          <a:prstGeom prst="rect">
            <a:avLst/>
          </a:prstGeom>
        </p:spPr>
        <p:txBody>
          <a:bodyPr lIns="0" tIns="0" rIns="0" bIns="0" rtlCol="0" anchor="t">
            <a:spAutoFit/>
          </a:bodyPr>
          <a:lstStyle/>
          <a:p>
            <a:pPr algn="l">
              <a:lnSpc>
                <a:spcPts val="1611"/>
              </a:lnSpc>
            </a:pPr>
            <a:r>
              <a:rPr lang="en-US" sz="1150">
                <a:solidFill>
                  <a:srgbClr val="9FB8C8"/>
                </a:solidFill>
                <a:latin typeface="Montserrat"/>
                <a:ea typeface="Montserrat"/>
                <a:cs typeface="Montserrat"/>
                <a:sym typeface="Montserrat"/>
              </a:rPr>
              <a:t>Max epochs</a:t>
            </a:r>
          </a:p>
        </p:txBody>
      </p:sp>
      <p:sp>
        <p:nvSpPr>
          <p:cNvPr id="15" name="TextBox 15"/>
          <p:cNvSpPr txBox="1"/>
          <p:nvPr/>
        </p:nvSpPr>
        <p:spPr>
          <a:xfrm>
            <a:off x="9875520" y="2315013"/>
            <a:ext cx="1273016" cy="199367"/>
          </a:xfrm>
          <a:prstGeom prst="rect">
            <a:avLst/>
          </a:prstGeom>
        </p:spPr>
        <p:txBody>
          <a:bodyPr lIns="0" tIns="0" rIns="0" bIns="0" rtlCol="0" anchor="t">
            <a:spAutoFit/>
          </a:bodyPr>
          <a:lstStyle/>
          <a:p>
            <a:pPr algn="l">
              <a:lnSpc>
                <a:spcPts val="1611"/>
              </a:lnSpc>
            </a:pPr>
            <a:r>
              <a:rPr lang="en-US" sz="1150" b="1">
                <a:solidFill>
                  <a:srgbClr val="FFFFFF"/>
                </a:solidFill>
                <a:latin typeface="Montserrat Bold"/>
                <a:ea typeface="Montserrat Bold"/>
                <a:cs typeface="Montserrat Bold"/>
                <a:sym typeface="Montserrat Bold"/>
              </a:rPr>
              <a:t>Adam (lr = 0.001)</a:t>
            </a:r>
          </a:p>
        </p:txBody>
      </p:sp>
      <p:sp>
        <p:nvSpPr>
          <p:cNvPr id="16" name="TextBox 16"/>
          <p:cNvSpPr txBox="1"/>
          <p:nvPr/>
        </p:nvSpPr>
        <p:spPr>
          <a:xfrm>
            <a:off x="9875520" y="2790568"/>
            <a:ext cx="172760" cy="199367"/>
          </a:xfrm>
          <a:prstGeom prst="rect">
            <a:avLst/>
          </a:prstGeom>
        </p:spPr>
        <p:txBody>
          <a:bodyPr lIns="0" tIns="0" rIns="0" bIns="0" rtlCol="0" anchor="t">
            <a:spAutoFit/>
          </a:bodyPr>
          <a:lstStyle/>
          <a:p>
            <a:pPr algn="l">
              <a:lnSpc>
                <a:spcPts val="1611"/>
              </a:lnSpc>
            </a:pPr>
            <a:r>
              <a:rPr lang="en-US" sz="1150" b="1">
                <a:solidFill>
                  <a:srgbClr val="FFFFFF"/>
                </a:solidFill>
                <a:latin typeface="Montserrat Bold"/>
                <a:ea typeface="Montserrat Bold"/>
                <a:cs typeface="Montserrat Bold"/>
                <a:sym typeface="Montserrat Bold"/>
              </a:rPr>
              <a:t>32</a:t>
            </a:r>
          </a:p>
        </p:txBody>
      </p:sp>
      <p:sp>
        <p:nvSpPr>
          <p:cNvPr id="17" name="TextBox 17"/>
          <p:cNvSpPr txBox="1"/>
          <p:nvPr/>
        </p:nvSpPr>
        <p:spPr>
          <a:xfrm>
            <a:off x="9875520" y="3266132"/>
            <a:ext cx="1938814" cy="199367"/>
          </a:xfrm>
          <a:prstGeom prst="rect">
            <a:avLst/>
          </a:prstGeom>
        </p:spPr>
        <p:txBody>
          <a:bodyPr lIns="0" tIns="0" rIns="0" bIns="0" rtlCol="0" anchor="t">
            <a:spAutoFit/>
          </a:bodyPr>
          <a:lstStyle/>
          <a:p>
            <a:pPr algn="l">
              <a:lnSpc>
                <a:spcPts val="1611"/>
              </a:lnSpc>
            </a:pPr>
            <a:r>
              <a:rPr lang="en-US" sz="1150" b="1">
                <a:solidFill>
                  <a:srgbClr val="FFFFFF"/>
                </a:solidFill>
                <a:latin typeface="Montserrat Bold"/>
                <a:ea typeface="Montserrat Bold"/>
                <a:cs typeface="Montserrat Bold"/>
                <a:sym typeface="Montserrat Bold"/>
              </a:rPr>
              <a:t>Sparse cat. cross-entropy</a:t>
            </a:r>
          </a:p>
        </p:txBody>
      </p:sp>
      <p:sp>
        <p:nvSpPr>
          <p:cNvPr id="18" name="TextBox 18"/>
          <p:cNvSpPr txBox="1"/>
          <p:nvPr/>
        </p:nvSpPr>
        <p:spPr>
          <a:xfrm>
            <a:off x="9875520" y="3741325"/>
            <a:ext cx="1116568" cy="199367"/>
          </a:xfrm>
          <a:prstGeom prst="rect">
            <a:avLst/>
          </a:prstGeom>
        </p:spPr>
        <p:txBody>
          <a:bodyPr lIns="0" tIns="0" rIns="0" bIns="0" rtlCol="0" anchor="t">
            <a:spAutoFit/>
          </a:bodyPr>
          <a:lstStyle/>
          <a:p>
            <a:pPr algn="l">
              <a:lnSpc>
                <a:spcPts val="1611"/>
              </a:lnSpc>
            </a:pPr>
            <a:r>
              <a:rPr lang="en-US" sz="1150" b="1">
                <a:solidFill>
                  <a:srgbClr val="FFFFFF"/>
                </a:solidFill>
                <a:latin typeface="Montserrat Bold"/>
                <a:ea typeface="Montserrat Bold"/>
                <a:cs typeface="Montserrat Bold"/>
                <a:sym typeface="Montserrat Bold"/>
              </a:rPr>
              <a:t>15% of training</a:t>
            </a:r>
          </a:p>
        </p:txBody>
      </p:sp>
      <p:sp>
        <p:nvSpPr>
          <p:cNvPr id="19" name="TextBox 19"/>
          <p:cNvSpPr txBox="1"/>
          <p:nvPr/>
        </p:nvSpPr>
        <p:spPr>
          <a:xfrm>
            <a:off x="9875520" y="4216889"/>
            <a:ext cx="1644848" cy="199367"/>
          </a:xfrm>
          <a:prstGeom prst="rect">
            <a:avLst/>
          </a:prstGeom>
        </p:spPr>
        <p:txBody>
          <a:bodyPr lIns="0" tIns="0" rIns="0" bIns="0" rtlCol="0" anchor="t">
            <a:spAutoFit/>
          </a:bodyPr>
          <a:lstStyle/>
          <a:p>
            <a:pPr algn="l">
              <a:lnSpc>
                <a:spcPts val="1611"/>
              </a:lnSpc>
            </a:pPr>
            <a:r>
              <a:rPr lang="en-US" sz="1150" b="1">
                <a:solidFill>
                  <a:srgbClr val="FFFFFF"/>
                </a:solidFill>
                <a:latin typeface="Montserrat Bold"/>
                <a:ea typeface="Montserrat Bold"/>
                <a:cs typeface="Montserrat Bold"/>
                <a:sym typeface="Montserrat Bold"/>
              </a:rPr>
              <a:t>patience of 15 epochs</a:t>
            </a:r>
          </a:p>
        </p:txBody>
      </p:sp>
      <p:sp>
        <p:nvSpPr>
          <p:cNvPr id="20" name="TextBox 20"/>
          <p:cNvSpPr txBox="1"/>
          <p:nvPr/>
        </p:nvSpPr>
        <p:spPr>
          <a:xfrm>
            <a:off x="9875520" y="4692453"/>
            <a:ext cx="1626394" cy="199367"/>
          </a:xfrm>
          <a:prstGeom prst="rect">
            <a:avLst/>
          </a:prstGeom>
        </p:spPr>
        <p:txBody>
          <a:bodyPr lIns="0" tIns="0" rIns="0" bIns="0" rtlCol="0" anchor="t">
            <a:spAutoFit/>
          </a:bodyPr>
          <a:lstStyle/>
          <a:p>
            <a:pPr algn="l">
              <a:lnSpc>
                <a:spcPts val="1611"/>
              </a:lnSpc>
            </a:pPr>
            <a:r>
              <a:rPr lang="en-US" sz="1150" b="1">
                <a:solidFill>
                  <a:srgbClr val="FFFFFF"/>
                </a:solidFill>
                <a:latin typeface="Montserrat Bold"/>
                <a:ea typeface="Montserrat Bold"/>
                <a:cs typeface="Montserrat Bold"/>
                <a:sym typeface="Montserrat Bold"/>
              </a:rPr>
              <a:t>halves after 7 epochs</a:t>
            </a:r>
          </a:p>
        </p:txBody>
      </p:sp>
      <p:sp>
        <p:nvSpPr>
          <p:cNvPr id="21" name="TextBox 21"/>
          <p:cNvSpPr txBox="1"/>
          <p:nvPr/>
        </p:nvSpPr>
        <p:spPr>
          <a:xfrm>
            <a:off x="9875520" y="5168008"/>
            <a:ext cx="243602" cy="199367"/>
          </a:xfrm>
          <a:prstGeom prst="rect">
            <a:avLst/>
          </a:prstGeom>
        </p:spPr>
        <p:txBody>
          <a:bodyPr lIns="0" tIns="0" rIns="0" bIns="0" rtlCol="0" anchor="t">
            <a:spAutoFit/>
          </a:bodyPr>
          <a:lstStyle/>
          <a:p>
            <a:pPr algn="l">
              <a:lnSpc>
                <a:spcPts val="1611"/>
              </a:lnSpc>
            </a:pPr>
            <a:r>
              <a:rPr lang="en-US" sz="1150" b="1">
                <a:solidFill>
                  <a:srgbClr val="FFFFFF"/>
                </a:solidFill>
                <a:latin typeface="Montserrat Bold"/>
                <a:ea typeface="Montserrat Bold"/>
                <a:cs typeface="Montserrat Bold"/>
                <a:sym typeface="Montserrat Bold"/>
              </a:rPr>
              <a:t>150</a:t>
            </a:r>
          </a:p>
        </p:txBody>
      </p:sp>
      <p:sp>
        <p:nvSpPr>
          <p:cNvPr id="22" name="TextBox 22"/>
          <p:cNvSpPr txBox="1"/>
          <p:nvPr/>
        </p:nvSpPr>
        <p:spPr>
          <a:xfrm>
            <a:off x="685800" y="628650"/>
            <a:ext cx="10957912" cy="795030"/>
          </a:xfrm>
          <a:prstGeom prst="rect">
            <a:avLst/>
          </a:prstGeom>
        </p:spPr>
        <p:txBody>
          <a:bodyPr lIns="0" tIns="0" rIns="0" bIns="0" rtlCol="0" anchor="t">
            <a:spAutoFit/>
          </a:bodyPr>
          <a:lstStyle/>
          <a:p>
            <a:pPr algn="l">
              <a:lnSpc>
                <a:spcPts val="2092"/>
              </a:lnSpc>
            </a:pPr>
            <a:endParaRPr/>
          </a:p>
          <a:p>
            <a:pPr algn="l">
              <a:lnSpc>
                <a:spcPts val="4887"/>
              </a:lnSpc>
            </a:pPr>
            <a:r>
              <a:rPr lang="en-US" sz="2800" b="1">
                <a:solidFill>
                  <a:srgbClr val="0B2545"/>
                </a:solidFill>
                <a:latin typeface="Montserrat Bold"/>
                <a:ea typeface="Montserrat Bold"/>
                <a:cs typeface="Montserrat Bold"/>
                <a:sym typeface="Montserrat Bold"/>
              </a:rPr>
              <a:t>The Proposed Time-Series 1D-CNN</a:t>
            </a:r>
          </a:p>
        </p:txBody>
      </p:sp>
      <p:sp>
        <p:nvSpPr>
          <p:cNvPr id="23" name="TextBox 23"/>
          <p:cNvSpPr txBox="1"/>
          <p:nvPr/>
        </p:nvSpPr>
        <p:spPr>
          <a:xfrm>
            <a:off x="685800" y="628650"/>
            <a:ext cx="4599960" cy="231329"/>
          </a:xfrm>
          <a:prstGeom prst="rect">
            <a:avLst/>
          </a:prstGeom>
        </p:spPr>
        <p:txBody>
          <a:bodyPr lIns="0" tIns="0" rIns="0" bIns="0" rtlCol="0" anchor="t">
            <a:spAutoFit/>
          </a:bodyPr>
          <a:lstStyle/>
          <a:p>
            <a:pPr algn="l">
              <a:lnSpc>
                <a:spcPts val="2092"/>
              </a:lnSpc>
            </a:pPr>
            <a:r>
              <a:rPr lang="en-US" sz="1199" b="1" spc="290">
                <a:solidFill>
                  <a:srgbClr val="1C7293"/>
                </a:solidFill>
                <a:latin typeface="Montserrat Bold"/>
                <a:ea typeface="Montserrat Bold"/>
                <a:cs typeface="Montserrat Bold"/>
                <a:sym typeface="Montserrat Bold"/>
              </a:rPr>
              <a:t>04 . ARCHITECTURE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AF1"/>
        </a:solidFill>
        <a:effectLst/>
      </p:bgPr>
    </p:bg>
    <p:spTree>
      <p:nvGrpSpPr>
        <p:cNvPr id="1" name=""/>
        <p:cNvGrpSpPr/>
        <p:nvPr/>
      </p:nvGrpSpPr>
      <p:grpSpPr>
        <a:xfrm>
          <a:off x="0" y="0"/>
          <a:ext cx="0" cy="0"/>
          <a:chOff x="0" y="0"/>
          <a:chExt cx="0" cy="0"/>
        </a:xfrm>
      </p:grpSpPr>
      <p:sp>
        <p:nvSpPr>
          <p:cNvPr id="2" name="Freeform 2"/>
          <p:cNvSpPr/>
          <p:nvPr/>
        </p:nvSpPr>
        <p:spPr>
          <a:xfrm>
            <a:off x="6903720" y="4160520"/>
            <a:ext cx="4709160" cy="1051560"/>
          </a:xfrm>
          <a:custGeom>
            <a:avLst/>
            <a:gdLst/>
            <a:ahLst/>
            <a:cxnLst/>
            <a:rect l="l" t="t" r="r" b="b"/>
            <a:pathLst>
              <a:path w="4709160" h="1051560">
                <a:moveTo>
                  <a:pt x="0" y="0"/>
                </a:moveTo>
                <a:lnTo>
                  <a:pt x="4709160" y="0"/>
                </a:lnTo>
                <a:lnTo>
                  <a:pt x="4709160" y="1051560"/>
                </a:lnTo>
                <a:lnTo>
                  <a:pt x="0" y="105156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6903720" y="5349240"/>
            <a:ext cx="4709160" cy="567004"/>
          </a:xfrm>
          <a:custGeom>
            <a:avLst/>
            <a:gdLst/>
            <a:ahLst/>
            <a:cxnLst/>
            <a:rect l="l" t="t" r="r" b="b"/>
            <a:pathLst>
              <a:path w="4709160" h="567004">
                <a:moveTo>
                  <a:pt x="0" y="0"/>
                </a:moveTo>
                <a:lnTo>
                  <a:pt x="4709160" y="0"/>
                </a:lnTo>
                <a:lnTo>
                  <a:pt x="4709160" y="567004"/>
                </a:lnTo>
                <a:lnTo>
                  <a:pt x="0" y="567004"/>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a:off x="6903720" y="2903220"/>
            <a:ext cx="4709160" cy="1123148"/>
          </a:xfrm>
          <a:custGeom>
            <a:avLst/>
            <a:gdLst/>
            <a:ahLst/>
            <a:cxnLst/>
            <a:rect l="l" t="t" r="r" b="b"/>
            <a:pathLst>
              <a:path w="4709160" h="1123148">
                <a:moveTo>
                  <a:pt x="0" y="0"/>
                </a:moveTo>
                <a:lnTo>
                  <a:pt x="4709160" y="0"/>
                </a:lnTo>
                <a:lnTo>
                  <a:pt x="4709160" y="1123148"/>
                </a:lnTo>
                <a:lnTo>
                  <a:pt x="0" y="1123148"/>
                </a:lnTo>
                <a:lnTo>
                  <a:pt x="0" y="0"/>
                </a:lnTo>
                <a:close/>
              </a:path>
            </a:pathLst>
          </a:custGeom>
          <a:blipFill>
            <a:blip>
              <a:extLst>
                <a:ext uri="{96DAC541-7B7A-43D3-8B79-37D633B846F1}">
                  <asvg:svgBlip xmlns:asvg="http://schemas.microsoft.com/office/drawing/2016/SVG/main" r:embed="rId4"/>
                </a:ext>
              </a:extLst>
            </a:blip>
            <a:stretch>
              <a:fillRect l="-3403" r="-3403"/>
            </a:stretch>
          </a:blipFill>
        </p:spPr>
      </p:sp>
      <p:sp>
        <p:nvSpPr>
          <p:cNvPr id="5" name="Freeform 5"/>
          <p:cNvSpPr/>
          <p:nvPr/>
        </p:nvSpPr>
        <p:spPr>
          <a:xfrm>
            <a:off x="6903720" y="1613535"/>
            <a:ext cx="4709160" cy="1123148"/>
          </a:xfrm>
          <a:custGeom>
            <a:avLst/>
            <a:gdLst/>
            <a:ahLst/>
            <a:cxnLst/>
            <a:rect l="l" t="t" r="r" b="b"/>
            <a:pathLst>
              <a:path w="4709160" h="1123148">
                <a:moveTo>
                  <a:pt x="0" y="0"/>
                </a:moveTo>
                <a:lnTo>
                  <a:pt x="4709160" y="0"/>
                </a:lnTo>
                <a:lnTo>
                  <a:pt x="4709160" y="1123148"/>
                </a:lnTo>
                <a:lnTo>
                  <a:pt x="0" y="1123148"/>
                </a:lnTo>
                <a:lnTo>
                  <a:pt x="0" y="0"/>
                </a:lnTo>
                <a:close/>
              </a:path>
            </a:pathLst>
          </a:custGeom>
          <a:blipFill>
            <a:blip>
              <a:extLst>
                <a:ext uri="{96DAC541-7B7A-43D3-8B79-37D633B846F1}">
                  <asvg:svgBlip xmlns:asvg="http://schemas.microsoft.com/office/drawing/2016/SVG/main" r:embed="rId4"/>
                </a:ext>
              </a:extLst>
            </a:blip>
            <a:stretch>
              <a:fillRect l="-3403" r="-3403"/>
            </a:stretch>
          </a:blipFill>
        </p:spPr>
      </p:sp>
      <p:sp>
        <p:nvSpPr>
          <p:cNvPr id="6" name="Freeform 6"/>
          <p:cNvSpPr/>
          <p:nvPr/>
        </p:nvSpPr>
        <p:spPr>
          <a:xfrm>
            <a:off x="400558" y="1780533"/>
            <a:ext cx="6275117" cy="3812134"/>
          </a:xfrm>
          <a:custGeom>
            <a:avLst/>
            <a:gdLst/>
            <a:ahLst/>
            <a:cxnLst/>
            <a:rect l="l" t="t" r="r" b="b"/>
            <a:pathLst>
              <a:path w="6275117" h="3812134">
                <a:moveTo>
                  <a:pt x="0" y="0"/>
                </a:moveTo>
                <a:lnTo>
                  <a:pt x="6275117" y="0"/>
                </a:lnTo>
                <a:lnTo>
                  <a:pt x="6275117" y="3812134"/>
                </a:lnTo>
                <a:lnTo>
                  <a:pt x="0" y="3812134"/>
                </a:lnTo>
                <a:lnTo>
                  <a:pt x="0" y="0"/>
                </a:lnTo>
                <a:close/>
              </a:path>
            </a:pathLst>
          </a:custGeom>
          <a:blipFill>
            <a:blip r:embed="rId5"/>
            <a:stretch>
              <a:fillRect/>
            </a:stretch>
          </a:blipFill>
        </p:spPr>
      </p:sp>
      <p:sp>
        <p:nvSpPr>
          <p:cNvPr id="7" name="TextBox 7"/>
          <p:cNvSpPr txBox="1"/>
          <p:nvPr/>
        </p:nvSpPr>
        <p:spPr>
          <a:xfrm>
            <a:off x="7199995" y="4009600"/>
            <a:ext cx="1831655" cy="934300"/>
          </a:xfrm>
          <a:prstGeom prst="rect">
            <a:avLst/>
          </a:prstGeom>
        </p:spPr>
        <p:txBody>
          <a:bodyPr lIns="0" tIns="0" rIns="0" bIns="0" rtlCol="0" anchor="t">
            <a:spAutoFit/>
          </a:bodyPr>
          <a:lstStyle/>
          <a:p>
            <a:pPr algn="just">
              <a:lnSpc>
                <a:spcPts val="8496"/>
              </a:lnSpc>
            </a:pPr>
            <a:r>
              <a:rPr lang="en-US" sz="3398" b="1">
                <a:solidFill>
                  <a:srgbClr val="E8A33D"/>
                </a:solidFill>
                <a:latin typeface="Montserrat Bold"/>
                <a:ea typeface="Montserrat Bold"/>
                <a:cs typeface="Montserrat Bold"/>
                <a:sym typeface="Montserrat Bold"/>
              </a:rPr>
              <a:t>% 93.67</a:t>
            </a:r>
          </a:p>
        </p:txBody>
      </p:sp>
      <p:sp>
        <p:nvSpPr>
          <p:cNvPr id="8" name="TextBox 8"/>
          <p:cNvSpPr txBox="1"/>
          <p:nvPr/>
        </p:nvSpPr>
        <p:spPr>
          <a:xfrm>
            <a:off x="7560707" y="5403866"/>
            <a:ext cx="36595" cy="238963"/>
          </a:xfrm>
          <a:prstGeom prst="rect">
            <a:avLst/>
          </a:prstGeom>
        </p:spPr>
        <p:txBody>
          <a:bodyPr lIns="0" tIns="0" rIns="0" bIns="0" rtlCol="0" anchor="t">
            <a:spAutoFit/>
          </a:bodyPr>
          <a:lstStyle/>
          <a:p>
            <a:pPr algn="l">
              <a:lnSpc>
                <a:spcPts val="1750"/>
              </a:lnSpc>
            </a:pPr>
            <a:r>
              <a:rPr lang="en-US" sz="1250" b="1">
                <a:solidFill>
                  <a:srgbClr val="FFFFFF"/>
                </a:solidFill>
                <a:latin typeface="Carlito Bold"/>
                <a:ea typeface="Carlito Bold"/>
                <a:cs typeface="Carlito Bold"/>
                <a:sym typeface="Carlito Bold"/>
              </a:rPr>
              <a:t> </a:t>
            </a:r>
          </a:p>
        </p:txBody>
      </p:sp>
      <p:sp>
        <p:nvSpPr>
          <p:cNvPr id="9" name="TextBox 9"/>
          <p:cNvSpPr txBox="1"/>
          <p:nvPr/>
        </p:nvSpPr>
        <p:spPr>
          <a:xfrm>
            <a:off x="9144000" y="4590040"/>
            <a:ext cx="2294453" cy="206372"/>
          </a:xfrm>
          <a:prstGeom prst="rect">
            <a:avLst/>
          </a:prstGeom>
        </p:spPr>
        <p:txBody>
          <a:bodyPr lIns="0" tIns="0" rIns="0" bIns="0" rtlCol="0" anchor="t">
            <a:spAutoFit/>
          </a:bodyPr>
          <a:lstStyle/>
          <a:p>
            <a:pPr algn="l">
              <a:lnSpc>
                <a:spcPts val="1750"/>
              </a:lnSpc>
            </a:pPr>
            <a:r>
              <a:rPr lang="en-US" sz="1250" b="1">
                <a:solidFill>
                  <a:srgbClr val="1A2A3A"/>
                </a:solidFill>
                <a:latin typeface="Montserrat Bold"/>
                <a:ea typeface="Montserrat Bold"/>
                <a:cs typeface="Montserrat Bold"/>
                <a:sym typeface="Montserrat Bold"/>
              </a:rPr>
              <a:t>Model 3 — Time-Series CNN</a:t>
            </a:r>
          </a:p>
        </p:txBody>
      </p:sp>
      <p:sp>
        <p:nvSpPr>
          <p:cNvPr id="10" name="TextBox 10"/>
          <p:cNvSpPr txBox="1"/>
          <p:nvPr/>
        </p:nvSpPr>
        <p:spPr>
          <a:xfrm>
            <a:off x="7031718" y="5419382"/>
            <a:ext cx="4453165" cy="407670"/>
          </a:xfrm>
          <a:prstGeom prst="rect">
            <a:avLst/>
          </a:prstGeom>
        </p:spPr>
        <p:txBody>
          <a:bodyPr lIns="0" tIns="0" rIns="0" bIns="0" rtlCol="0" anchor="t">
            <a:spAutoFit/>
          </a:bodyPr>
          <a:lstStyle/>
          <a:p>
            <a:pPr algn="l">
              <a:lnSpc>
                <a:spcPts val="1679"/>
              </a:lnSpc>
            </a:pPr>
            <a:r>
              <a:rPr lang="en-US" sz="1200">
                <a:solidFill>
                  <a:srgbClr val="FFFFFF"/>
                </a:solidFill>
                <a:latin typeface="Montserrat"/>
                <a:ea typeface="Montserrat"/>
                <a:cs typeface="Montserrat"/>
                <a:sym typeface="Montserrat"/>
              </a:rPr>
              <a:t>+4.67 points: the gain comes from TEMPORAL STRUCTURE, not the neural net.</a:t>
            </a:r>
          </a:p>
        </p:txBody>
      </p:sp>
      <p:sp>
        <p:nvSpPr>
          <p:cNvPr id="11" name="TextBox 11"/>
          <p:cNvSpPr txBox="1"/>
          <p:nvPr/>
        </p:nvSpPr>
        <p:spPr>
          <a:xfrm>
            <a:off x="685800" y="628650"/>
            <a:ext cx="10957912" cy="795030"/>
          </a:xfrm>
          <a:prstGeom prst="rect">
            <a:avLst/>
          </a:prstGeom>
        </p:spPr>
        <p:txBody>
          <a:bodyPr lIns="0" tIns="0" rIns="0" bIns="0" rtlCol="0" anchor="t">
            <a:spAutoFit/>
          </a:bodyPr>
          <a:lstStyle/>
          <a:p>
            <a:pPr algn="l">
              <a:lnSpc>
                <a:spcPts val="2092"/>
              </a:lnSpc>
            </a:pPr>
            <a:endParaRPr/>
          </a:p>
          <a:p>
            <a:pPr algn="l">
              <a:lnSpc>
                <a:spcPts val="4887"/>
              </a:lnSpc>
            </a:pPr>
            <a:r>
              <a:rPr lang="en-US" sz="2800" b="1">
                <a:solidFill>
                  <a:srgbClr val="0B2545"/>
                </a:solidFill>
                <a:latin typeface="Montserrat Bold"/>
                <a:ea typeface="Montserrat Bold"/>
                <a:cs typeface="Montserrat Bold"/>
                <a:sym typeface="Montserrat Bold"/>
              </a:rPr>
              <a:t>Overall Accuracy: Data Is the Decisive Factor</a:t>
            </a:r>
          </a:p>
        </p:txBody>
      </p:sp>
      <p:sp>
        <p:nvSpPr>
          <p:cNvPr id="12" name="TextBox 12"/>
          <p:cNvSpPr txBox="1"/>
          <p:nvPr/>
        </p:nvSpPr>
        <p:spPr>
          <a:xfrm>
            <a:off x="685800" y="628650"/>
            <a:ext cx="4599960" cy="231329"/>
          </a:xfrm>
          <a:prstGeom prst="rect">
            <a:avLst/>
          </a:prstGeom>
        </p:spPr>
        <p:txBody>
          <a:bodyPr lIns="0" tIns="0" rIns="0" bIns="0" rtlCol="0" anchor="t">
            <a:spAutoFit/>
          </a:bodyPr>
          <a:lstStyle/>
          <a:p>
            <a:pPr algn="l">
              <a:lnSpc>
                <a:spcPts val="2092"/>
              </a:lnSpc>
            </a:pPr>
            <a:r>
              <a:rPr lang="en-US" sz="1199" b="1" spc="290">
                <a:solidFill>
                  <a:srgbClr val="1C7293"/>
                </a:solidFill>
                <a:latin typeface="Montserrat Bold"/>
                <a:ea typeface="Montserrat Bold"/>
                <a:cs typeface="Montserrat Bold"/>
                <a:sym typeface="Montserrat Bold"/>
              </a:rPr>
              <a:t>05 . RESULTS</a:t>
            </a:r>
          </a:p>
        </p:txBody>
      </p:sp>
      <p:sp>
        <p:nvSpPr>
          <p:cNvPr id="13" name="TextBox 13"/>
          <p:cNvSpPr txBox="1"/>
          <p:nvPr/>
        </p:nvSpPr>
        <p:spPr>
          <a:xfrm>
            <a:off x="9144000" y="3242545"/>
            <a:ext cx="2294453" cy="425447"/>
          </a:xfrm>
          <a:prstGeom prst="rect">
            <a:avLst/>
          </a:prstGeom>
        </p:spPr>
        <p:txBody>
          <a:bodyPr lIns="0" tIns="0" rIns="0" bIns="0" rtlCol="0" anchor="t">
            <a:spAutoFit/>
          </a:bodyPr>
          <a:lstStyle/>
          <a:p>
            <a:pPr algn="l">
              <a:lnSpc>
                <a:spcPts val="1750"/>
              </a:lnSpc>
            </a:pPr>
            <a:r>
              <a:rPr lang="en-US" sz="1250" b="1">
                <a:solidFill>
                  <a:srgbClr val="1A2A3A"/>
                </a:solidFill>
                <a:latin typeface="Montserrat Bold"/>
                <a:ea typeface="Montserrat Bold"/>
                <a:cs typeface="Montserrat Bold"/>
                <a:sym typeface="Montserrat Bold"/>
              </a:rPr>
              <a:t>Model 2 — Summary CNN (didn't beat baseline) </a:t>
            </a:r>
          </a:p>
        </p:txBody>
      </p:sp>
      <p:sp>
        <p:nvSpPr>
          <p:cNvPr id="14" name="TextBox 14"/>
          <p:cNvSpPr txBox="1"/>
          <p:nvPr/>
        </p:nvSpPr>
        <p:spPr>
          <a:xfrm>
            <a:off x="7199995" y="2752300"/>
            <a:ext cx="1831655" cy="934300"/>
          </a:xfrm>
          <a:prstGeom prst="rect">
            <a:avLst/>
          </a:prstGeom>
        </p:spPr>
        <p:txBody>
          <a:bodyPr lIns="0" tIns="0" rIns="0" bIns="0" rtlCol="0" anchor="t">
            <a:spAutoFit/>
          </a:bodyPr>
          <a:lstStyle/>
          <a:p>
            <a:pPr algn="just">
              <a:lnSpc>
                <a:spcPts val="8496"/>
              </a:lnSpc>
            </a:pPr>
            <a:r>
              <a:rPr lang="en-US" sz="3398" b="1">
                <a:solidFill>
                  <a:srgbClr val="15616D"/>
                </a:solidFill>
                <a:latin typeface="Montserrat Bold"/>
                <a:ea typeface="Montserrat Bold"/>
                <a:cs typeface="Montserrat Bold"/>
                <a:sym typeface="Montserrat Bold"/>
              </a:rPr>
              <a:t>% 86.50</a:t>
            </a:r>
          </a:p>
        </p:txBody>
      </p:sp>
      <p:sp>
        <p:nvSpPr>
          <p:cNvPr id="15" name="TextBox 15"/>
          <p:cNvSpPr txBox="1"/>
          <p:nvPr/>
        </p:nvSpPr>
        <p:spPr>
          <a:xfrm>
            <a:off x="7199995" y="1462615"/>
            <a:ext cx="1831655" cy="934300"/>
          </a:xfrm>
          <a:prstGeom prst="rect">
            <a:avLst/>
          </a:prstGeom>
        </p:spPr>
        <p:txBody>
          <a:bodyPr lIns="0" tIns="0" rIns="0" bIns="0" rtlCol="0" anchor="t">
            <a:spAutoFit/>
          </a:bodyPr>
          <a:lstStyle/>
          <a:p>
            <a:pPr algn="just">
              <a:lnSpc>
                <a:spcPts val="8496"/>
              </a:lnSpc>
            </a:pPr>
            <a:r>
              <a:rPr lang="en-US" sz="3398" b="1">
                <a:solidFill>
                  <a:srgbClr val="5B6B7B"/>
                </a:solidFill>
                <a:latin typeface="Montserrat Bold"/>
                <a:ea typeface="Montserrat Bold"/>
                <a:cs typeface="Montserrat Bold"/>
                <a:sym typeface="Montserrat Bold"/>
              </a:rPr>
              <a:t>% 89.00</a:t>
            </a:r>
          </a:p>
        </p:txBody>
      </p:sp>
      <p:sp>
        <p:nvSpPr>
          <p:cNvPr id="16" name="TextBox 16"/>
          <p:cNvSpPr txBox="1"/>
          <p:nvPr/>
        </p:nvSpPr>
        <p:spPr>
          <a:xfrm>
            <a:off x="9144000" y="1952860"/>
            <a:ext cx="2294453" cy="425447"/>
          </a:xfrm>
          <a:prstGeom prst="rect">
            <a:avLst/>
          </a:prstGeom>
        </p:spPr>
        <p:txBody>
          <a:bodyPr lIns="0" tIns="0" rIns="0" bIns="0" rtlCol="0" anchor="t">
            <a:spAutoFit/>
          </a:bodyPr>
          <a:lstStyle/>
          <a:p>
            <a:pPr algn="l">
              <a:lnSpc>
                <a:spcPts val="1750"/>
              </a:lnSpc>
            </a:pPr>
            <a:r>
              <a:rPr lang="en-US" sz="1250" b="1">
                <a:solidFill>
                  <a:srgbClr val="1A2A3A"/>
                </a:solidFill>
                <a:latin typeface="Montserrat Bold"/>
                <a:ea typeface="Montserrat Bold"/>
                <a:cs typeface="Montserrat Bold"/>
                <a:sym typeface="Montserrat Bold"/>
              </a:rPr>
              <a:t>Model 1 — XGBoost (baseline)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AF1"/>
        </a:solidFill>
        <a:effectLst/>
      </p:bgPr>
    </p:bg>
    <p:spTree>
      <p:nvGrpSpPr>
        <p:cNvPr id="1" name=""/>
        <p:cNvGrpSpPr/>
        <p:nvPr/>
      </p:nvGrpSpPr>
      <p:grpSpPr>
        <a:xfrm>
          <a:off x="0" y="0"/>
          <a:ext cx="0" cy="0"/>
          <a:chOff x="0" y="0"/>
          <a:chExt cx="0" cy="0"/>
        </a:xfrm>
      </p:grpSpPr>
      <p:grpSp>
        <p:nvGrpSpPr>
          <p:cNvPr id="2" name="Group 2"/>
          <p:cNvGrpSpPr/>
          <p:nvPr/>
        </p:nvGrpSpPr>
        <p:grpSpPr>
          <a:xfrm>
            <a:off x="8905313" y="1536830"/>
            <a:ext cx="2809075" cy="4363212"/>
            <a:chOff x="0" y="0"/>
            <a:chExt cx="3745433" cy="5817616"/>
          </a:xfrm>
        </p:grpSpPr>
        <p:sp>
          <p:nvSpPr>
            <p:cNvPr id="3" name="Freeform 3"/>
            <p:cNvSpPr/>
            <p:nvPr/>
          </p:nvSpPr>
          <p:spPr>
            <a:xfrm>
              <a:off x="0" y="0"/>
              <a:ext cx="3745484" cy="5817616"/>
            </a:xfrm>
            <a:custGeom>
              <a:avLst/>
              <a:gdLst/>
              <a:ahLst/>
              <a:cxnLst/>
              <a:rect l="l" t="t" r="r" b="b"/>
              <a:pathLst>
                <a:path w="3745484" h="5817616">
                  <a:moveTo>
                    <a:pt x="0" y="0"/>
                  </a:moveTo>
                  <a:lnTo>
                    <a:pt x="3745484" y="0"/>
                  </a:lnTo>
                  <a:lnTo>
                    <a:pt x="3745484" y="5817616"/>
                  </a:lnTo>
                  <a:lnTo>
                    <a:pt x="0" y="5817616"/>
                  </a:lnTo>
                  <a:lnTo>
                    <a:pt x="0" y="0"/>
                  </a:lnTo>
                  <a:close/>
                </a:path>
              </a:pathLst>
            </a:custGeom>
            <a:blipFill>
              <a:blip r:embed="rId2">
                <a:alphaModFix amt="18999"/>
              </a:blip>
              <a:stretch>
                <a:fillRect t="-7" r="1"/>
              </a:stretch>
            </a:blipFill>
          </p:spPr>
        </p:sp>
      </p:grpSp>
      <p:sp>
        <p:nvSpPr>
          <p:cNvPr id="4" name="Freeform 4"/>
          <p:cNvSpPr/>
          <p:nvPr/>
        </p:nvSpPr>
        <p:spPr>
          <a:xfrm>
            <a:off x="8943337" y="1536697"/>
            <a:ext cx="2733037" cy="4287517"/>
          </a:xfrm>
          <a:custGeom>
            <a:avLst/>
            <a:gdLst/>
            <a:ahLst/>
            <a:cxnLst/>
            <a:rect l="l" t="t" r="r" b="b"/>
            <a:pathLst>
              <a:path w="2733037" h="4287517">
                <a:moveTo>
                  <a:pt x="0" y="0"/>
                </a:moveTo>
                <a:lnTo>
                  <a:pt x="2733037" y="0"/>
                </a:lnTo>
                <a:lnTo>
                  <a:pt x="2733037" y="4287517"/>
                </a:lnTo>
                <a:lnTo>
                  <a:pt x="0" y="4287517"/>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441902" y="2227760"/>
            <a:ext cx="8248261" cy="2660064"/>
          </a:xfrm>
          <a:custGeom>
            <a:avLst/>
            <a:gdLst/>
            <a:ahLst/>
            <a:cxnLst/>
            <a:rect l="l" t="t" r="r" b="b"/>
            <a:pathLst>
              <a:path w="8248261" h="2660064">
                <a:moveTo>
                  <a:pt x="0" y="0"/>
                </a:moveTo>
                <a:lnTo>
                  <a:pt x="8248261" y="0"/>
                </a:lnTo>
                <a:lnTo>
                  <a:pt x="8248261" y="2660064"/>
                </a:lnTo>
                <a:lnTo>
                  <a:pt x="0" y="2660064"/>
                </a:lnTo>
                <a:lnTo>
                  <a:pt x="0" y="0"/>
                </a:lnTo>
                <a:close/>
              </a:path>
            </a:pathLst>
          </a:custGeom>
          <a:blipFill>
            <a:blip r:embed="rId4"/>
            <a:stretch>
              <a:fillRect/>
            </a:stretch>
          </a:blipFill>
        </p:spPr>
      </p:sp>
      <p:sp>
        <p:nvSpPr>
          <p:cNvPr id="6" name="TextBox 6"/>
          <p:cNvSpPr txBox="1"/>
          <p:nvPr/>
        </p:nvSpPr>
        <p:spPr>
          <a:xfrm>
            <a:off x="9235088" y="1825400"/>
            <a:ext cx="1182767" cy="264193"/>
          </a:xfrm>
          <a:prstGeom prst="rect">
            <a:avLst/>
          </a:prstGeom>
        </p:spPr>
        <p:txBody>
          <a:bodyPr lIns="0" tIns="0" rIns="0" bIns="0" rtlCol="0" anchor="t">
            <a:spAutoFit/>
          </a:bodyPr>
          <a:lstStyle/>
          <a:p>
            <a:pPr algn="l">
              <a:lnSpc>
                <a:spcPts val="2238"/>
              </a:lnSpc>
            </a:pPr>
            <a:r>
              <a:rPr lang="en-US" sz="1598" b="1">
                <a:solidFill>
                  <a:srgbClr val="13315C"/>
                </a:solidFill>
                <a:latin typeface="Montserrat Bold"/>
                <a:ea typeface="Montserrat Bold"/>
                <a:cs typeface="Montserrat Bold"/>
                <a:sym typeface="Montserrat Bold"/>
              </a:rPr>
              <a:t>Takeaways</a:t>
            </a:r>
          </a:p>
        </p:txBody>
      </p:sp>
      <p:sp>
        <p:nvSpPr>
          <p:cNvPr id="7" name="TextBox 7"/>
          <p:cNvSpPr txBox="1"/>
          <p:nvPr/>
        </p:nvSpPr>
        <p:spPr>
          <a:xfrm>
            <a:off x="10039664" y="2249900"/>
            <a:ext cx="46792" cy="224127"/>
          </a:xfrm>
          <a:prstGeom prst="rect">
            <a:avLst/>
          </a:prstGeom>
        </p:spPr>
        <p:txBody>
          <a:bodyPr lIns="0" tIns="0" rIns="0" bIns="0" rtlCol="0" anchor="t">
            <a:spAutoFit/>
          </a:bodyPr>
          <a:lstStyle/>
          <a:p>
            <a:pPr algn="l">
              <a:lnSpc>
                <a:spcPts val="1821"/>
              </a:lnSpc>
            </a:pPr>
            <a:r>
              <a:rPr lang="en-US" sz="1301" b="1">
                <a:solidFill>
                  <a:srgbClr val="0B2545"/>
                </a:solidFill>
                <a:latin typeface="Montserrat Bold"/>
                <a:ea typeface="Montserrat Bold"/>
                <a:cs typeface="Montserrat Bold"/>
                <a:sym typeface="Montserrat Bold"/>
              </a:rPr>
              <a:t> </a:t>
            </a:r>
          </a:p>
        </p:txBody>
      </p:sp>
      <p:sp>
        <p:nvSpPr>
          <p:cNvPr id="8" name="TextBox 8"/>
          <p:cNvSpPr txBox="1"/>
          <p:nvPr/>
        </p:nvSpPr>
        <p:spPr>
          <a:xfrm>
            <a:off x="9506877" y="3435756"/>
            <a:ext cx="1712610" cy="214354"/>
          </a:xfrm>
          <a:prstGeom prst="rect">
            <a:avLst/>
          </a:prstGeom>
        </p:spPr>
        <p:txBody>
          <a:bodyPr wrap="square" lIns="0" tIns="0" rIns="0" bIns="0" rtlCol="0" anchor="t">
            <a:spAutoFit/>
          </a:bodyPr>
          <a:lstStyle/>
          <a:p>
            <a:pPr algn="l">
              <a:lnSpc>
                <a:spcPts val="1821"/>
              </a:lnSpc>
            </a:pPr>
            <a:r>
              <a:rPr lang="en-US" sz="1301" b="1">
                <a:solidFill>
                  <a:srgbClr val="0B2545"/>
                </a:solidFill>
                <a:latin typeface="Montserrat Bold"/>
                <a:ea typeface="Montserrat Bold"/>
                <a:cs typeface="Montserrat Bold"/>
                <a:sym typeface="Montserrat Bold"/>
              </a:rPr>
              <a:t>Arabic is easiest</a:t>
            </a:r>
          </a:p>
        </p:txBody>
      </p:sp>
      <p:sp>
        <p:nvSpPr>
          <p:cNvPr id="9" name="TextBox 9"/>
          <p:cNvSpPr txBox="1"/>
          <p:nvPr/>
        </p:nvSpPr>
        <p:spPr>
          <a:xfrm>
            <a:off x="9487138" y="3789683"/>
            <a:ext cx="38338" cy="199367"/>
          </a:xfrm>
          <a:prstGeom prst="rect">
            <a:avLst/>
          </a:prstGeom>
        </p:spPr>
        <p:txBody>
          <a:bodyPr lIns="0" tIns="0" rIns="0" bIns="0" rtlCol="0" anchor="t">
            <a:spAutoFit/>
          </a:bodyPr>
          <a:lstStyle/>
          <a:p>
            <a:pPr algn="l">
              <a:lnSpc>
                <a:spcPts val="1611"/>
              </a:lnSpc>
            </a:pPr>
            <a:r>
              <a:rPr lang="en-US" sz="1150">
                <a:solidFill>
                  <a:srgbClr val="1A2A3A"/>
                </a:solidFill>
                <a:latin typeface="Montserrat"/>
                <a:ea typeface="Montserrat"/>
                <a:cs typeface="Montserrat"/>
                <a:sym typeface="Montserrat"/>
              </a:rPr>
              <a:t> </a:t>
            </a:r>
          </a:p>
        </p:txBody>
      </p:sp>
      <p:sp>
        <p:nvSpPr>
          <p:cNvPr id="10" name="TextBox 10"/>
          <p:cNvSpPr txBox="1"/>
          <p:nvPr/>
        </p:nvSpPr>
        <p:spPr>
          <a:xfrm>
            <a:off x="9506877" y="2229024"/>
            <a:ext cx="1965264" cy="214354"/>
          </a:xfrm>
          <a:prstGeom prst="rect">
            <a:avLst/>
          </a:prstGeom>
        </p:spPr>
        <p:txBody>
          <a:bodyPr wrap="square" lIns="0" tIns="0" rIns="0" bIns="0" rtlCol="0" anchor="t">
            <a:spAutoFit/>
          </a:bodyPr>
          <a:lstStyle/>
          <a:p>
            <a:pPr algn="l">
              <a:lnSpc>
                <a:spcPts val="1821"/>
              </a:lnSpc>
            </a:pPr>
            <a:r>
              <a:rPr lang="en-US" sz="1300" b="1">
                <a:solidFill>
                  <a:srgbClr val="0B2545"/>
                </a:solidFill>
                <a:latin typeface="Montserrat Bold"/>
                <a:ea typeface="Montserrat Bold"/>
                <a:cs typeface="Montserrat Bold"/>
                <a:sym typeface="Montserrat Bold"/>
              </a:rPr>
              <a:t>Eng-Fre</a:t>
            </a:r>
            <a:r>
              <a:rPr lang="en-US" sz="1300" b="1" dirty="0">
                <a:solidFill>
                  <a:srgbClr val="000000"/>
                </a:solidFill>
                <a:latin typeface="Montserrat Bold"/>
                <a:ea typeface="Montserrat Bold"/>
                <a:cs typeface="Montserrat Bold"/>
                <a:sym typeface="Montserrat Bold"/>
              </a:rPr>
              <a:t> </a:t>
            </a:r>
            <a:r>
              <a:rPr lang="en-US" sz="1300" b="1">
                <a:solidFill>
                  <a:srgbClr val="0B2545"/>
                </a:solidFill>
                <a:latin typeface="Montserrat Bold"/>
                <a:ea typeface="Montserrat Bold"/>
                <a:cs typeface="Montserrat Bold"/>
                <a:sym typeface="Montserrat Bold"/>
              </a:rPr>
              <a:t>confusion</a:t>
            </a:r>
          </a:p>
        </p:txBody>
      </p:sp>
      <p:sp>
        <p:nvSpPr>
          <p:cNvPr id="11" name="TextBox 11"/>
          <p:cNvSpPr txBox="1"/>
          <p:nvPr/>
        </p:nvSpPr>
        <p:spPr>
          <a:xfrm>
            <a:off x="9455125" y="2582599"/>
            <a:ext cx="38338" cy="199367"/>
          </a:xfrm>
          <a:prstGeom prst="rect">
            <a:avLst/>
          </a:prstGeom>
        </p:spPr>
        <p:txBody>
          <a:bodyPr lIns="0" tIns="0" rIns="0" bIns="0" rtlCol="0" anchor="t">
            <a:spAutoFit/>
          </a:bodyPr>
          <a:lstStyle/>
          <a:p>
            <a:pPr algn="l">
              <a:lnSpc>
                <a:spcPts val="1611"/>
              </a:lnSpc>
            </a:pPr>
            <a:r>
              <a:rPr lang="en-US" sz="1150">
                <a:solidFill>
                  <a:srgbClr val="1A2A3A"/>
                </a:solidFill>
                <a:latin typeface="Montserrat"/>
                <a:ea typeface="Montserrat"/>
                <a:cs typeface="Montserrat"/>
                <a:sym typeface="Montserrat"/>
              </a:rPr>
              <a:t> </a:t>
            </a:r>
          </a:p>
        </p:txBody>
      </p:sp>
      <p:sp>
        <p:nvSpPr>
          <p:cNvPr id="12" name="TextBox 12"/>
          <p:cNvSpPr txBox="1"/>
          <p:nvPr/>
        </p:nvSpPr>
        <p:spPr>
          <a:xfrm>
            <a:off x="9506877" y="4663697"/>
            <a:ext cx="1862709" cy="214354"/>
          </a:xfrm>
          <a:prstGeom prst="rect">
            <a:avLst/>
          </a:prstGeom>
        </p:spPr>
        <p:txBody>
          <a:bodyPr wrap="square" lIns="0" tIns="0" rIns="0" bIns="0" rtlCol="0" anchor="t">
            <a:spAutoFit/>
          </a:bodyPr>
          <a:lstStyle/>
          <a:p>
            <a:pPr algn="l">
              <a:lnSpc>
                <a:spcPts val="1821"/>
              </a:lnSpc>
            </a:pPr>
            <a:r>
              <a:rPr lang="en-US" sz="1301" b="1">
                <a:solidFill>
                  <a:srgbClr val="0B2545"/>
                </a:solidFill>
                <a:latin typeface="Montserrat Bold"/>
                <a:ea typeface="Montserrat Bold"/>
                <a:cs typeface="Montserrat Bold"/>
                <a:sym typeface="Montserrat Bold"/>
              </a:rPr>
              <a:t>Errors down to 38</a:t>
            </a:r>
          </a:p>
        </p:txBody>
      </p:sp>
      <p:sp>
        <p:nvSpPr>
          <p:cNvPr id="13" name="TextBox 13"/>
          <p:cNvSpPr txBox="1"/>
          <p:nvPr/>
        </p:nvSpPr>
        <p:spPr>
          <a:xfrm>
            <a:off x="9908962" y="4996767"/>
            <a:ext cx="38338" cy="199367"/>
          </a:xfrm>
          <a:prstGeom prst="rect">
            <a:avLst/>
          </a:prstGeom>
        </p:spPr>
        <p:txBody>
          <a:bodyPr lIns="0" tIns="0" rIns="0" bIns="0" rtlCol="0" anchor="t">
            <a:spAutoFit/>
          </a:bodyPr>
          <a:lstStyle/>
          <a:p>
            <a:pPr algn="l">
              <a:lnSpc>
                <a:spcPts val="1611"/>
              </a:lnSpc>
            </a:pPr>
            <a:r>
              <a:rPr lang="en-US" sz="1150">
                <a:solidFill>
                  <a:srgbClr val="1A2A3A"/>
                </a:solidFill>
                <a:latin typeface="Montserrat"/>
                <a:ea typeface="Montserrat"/>
                <a:cs typeface="Montserrat"/>
                <a:sym typeface="Montserrat"/>
              </a:rPr>
              <a:t> </a:t>
            </a:r>
          </a:p>
        </p:txBody>
      </p:sp>
      <p:sp>
        <p:nvSpPr>
          <p:cNvPr id="14" name="TextBox 14"/>
          <p:cNvSpPr txBox="1"/>
          <p:nvPr/>
        </p:nvSpPr>
        <p:spPr>
          <a:xfrm>
            <a:off x="9235440" y="4996767"/>
            <a:ext cx="2239889" cy="599417"/>
          </a:xfrm>
          <a:prstGeom prst="rect">
            <a:avLst/>
          </a:prstGeom>
        </p:spPr>
        <p:txBody>
          <a:bodyPr lIns="0" tIns="0" rIns="0" bIns="0" rtlCol="0" anchor="t">
            <a:spAutoFit/>
          </a:bodyPr>
          <a:lstStyle/>
          <a:p>
            <a:pPr algn="l">
              <a:lnSpc>
                <a:spcPts val="1611"/>
              </a:lnSpc>
            </a:pPr>
            <a:r>
              <a:rPr lang="en-US" sz="1150">
                <a:solidFill>
                  <a:srgbClr val="1A2A3A"/>
                </a:solidFill>
                <a:latin typeface="Montserrat"/>
                <a:ea typeface="Montserrat"/>
                <a:cs typeface="Montserrat"/>
                <a:sym typeface="Montserrat"/>
              </a:rPr>
              <a:t>Total errors dropped from 66 and 81 to 38; the biggest gain is on the hard Eng-Fre pair.</a:t>
            </a:r>
          </a:p>
        </p:txBody>
      </p:sp>
      <p:sp>
        <p:nvSpPr>
          <p:cNvPr id="15" name="TextBox 15"/>
          <p:cNvSpPr txBox="1"/>
          <p:nvPr/>
        </p:nvSpPr>
        <p:spPr>
          <a:xfrm>
            <a:off x="9235440" y="2582599"/>
            <a:ext cx="2239889" cy="799442"/>
          </a:xfrm>
          <a:prstGeom prst="rect">
            <a:avLst/>
          </a:prstGeom>
        </p:spPr>
        <p:txBody>
          <a:bodyPr lIns="0" tIns="0" rIns="0" bIns="0" rtlCol="0" anchor="t">
            <a:spAutoFit/>
          </a:bodyPr>
          <a:lstStyle/>
          <a:p>
            <a:pPr algn="l">
              <a:lnSpc>
                <a:spcPts val="1611"/>
              </a:lnSpc>
            </a:pPr>
            <a:r>
              <a:rPr lang="en-US" sz="1150">
                <a:solidFill>
                  <a:srgbClr val="1A2A3A"/>
                </a:solidFill>
                <a:latin typeface="Montserrat"/>
                <a:ea typeface="Montserrat"/>
                <a:cs typeface="Montserrat"/>
                <a:sym typeface="Montserrat"/>
              </a:rPr>
              <a:t>The dominant error in all models; the phonetic closeness of the two languages makes it plausible.</a:t>
            </a:r>
          </a:p>
        </p:txBody>
      </p:sp>
      <p:sp>
        <p:nvSpPr>
          <p:cNvPr id="16" name="TextBox 16"/>
          <p:cNvSpPr txBox="1"/>
          <p:nvPr/>
        </p:nvSpPr>
        <p:spPr>
          <a:xfrm>
            <a:off x="9235440" y="3789683"/>
            <a:ext cx="2146871" cy="399392"/>
          </a:xfrm>
          <a:prstGeom prst="rect">
            <a:avLst/>
          </a:prstGeom>
        </p:spPr>
        <p:txBody>
          <a:bodyPr lIns="0" tIns="0" rIns="0" bIns="0" rtlCol="0" anchor="t">
            <a:spAutoFit/>
          </a:bodyPr>
          <a:lstStyle/>
          <a:p>
            <a:pPr algn="l">
              <a:lnSpc>
                <a:spcPts val="1611"/>
              </a:lnSpc>
            </a:pPr>
            <a:r>
              <a:rPr lang="en-US" sz="1150">
                <a:solidFill>
                  <a:srgbClr val="1A2A3A"/>
                </a:solidFill>
                <a:latin typeface="Montserrat"/>
                <a:ea typeface="Montserrat"/>
                <a:cs typeface="Montserrat"/>
                <a:sym typeface="Montserrat"/>
              </a:rPr>
              <a:t>97% recall with the proposed model.</a:t>
            </a:r>
          </a:p>
        </p:txBody>
      </p:sp>
      <p:sp>
        <p:nvSpPr>
          <p:cNvPr id="17" name="TextBox 17"/>
          <p:cNvSpPr txBox="1"/>
          <p:nvPr/>
        </p:nvSpPr>
        <p:spPr>
          <a:xfrm>
            <a:off x="685800" y="628650"/>
            <a:ext cx="10957912" cy="795030"/>
          </a:xfrm>
          <a:prstGeom prst="rect">
            <a:avLst/>
          </a:prstGeom>
        </p:spPr>
        <p:txBody>
          <a:bodyPr lIns="0" tIns="0" rIns="0" bIns="0" rtlCol="0" anchor="t">
            <a:spAutoFit/>
          </a:bodyPr>
          <a:lstStyle/>
          <a:p>
            <a:pPr algn="l">
              <a:lnSpc>
                <a:spcPts val="2092"/>
              </a:lnSpc>
            </a:pPr>
            <a:endParaRPr/>
          </a:p>
          <a:p>
            <a:pPr algn="l">
              <a:lnSpc>
                <a:spcPts val="4887"/>
              </a:lnSpc>
            </a:pPr>
            <a:r>
              <a:rPr lang="en-US" sz="2800" b="1">
                <a:solidFill>
                  <a:srgbClr val="0B2545"/>
                </a:solidFill>
                <a:latin typeface="Montserrat Bold"/>
                <a:ea typeface="Montserrat Bold"/>
                <a:cs typeface="Montserrat Bold"/>
                <a:sym typeface="Montserrat Bold"/>
              </a:rPr>
              <a:t>Where Do the Errors Concentrate? </a:t>
            </a:r>
          </a:p>
        </p:txBody>
      </p:sp>
      <p:sp>
        <p:nvSpPr>
          <p:cNvPr id="18" name="TextBox 18"/>
          <p:cNvSpPr txBox="1"/>
          <p:nvPr/>
        </p:nvSpPr>
        <p:spPr>
          <a:xfrm>
            <a:off x="685800" y="628650"/>
            <a:ext cx="4599960" cy="231329"/>
          </a:xfrm>
          <a:prstGeom prst="rect">
            <a:avLst/>
          </a:prstGeom>
        </p:spPr>
        <p:txBody>
          <a:bodyPr lIns="0" tIns="0" rIns="0" bIns="0" rtlCol="0" anchor="t">
            <a:spAutoFit/>
          </a:bodyPr>
          <a:lstStyle/>
          <a:p>
            <a:pPr algn="l">
              <a:lnSpc>
                <a:spcPts val="2092"/>
              </a:lnSpc>
            </a:pPr>
            <a:r>
              <a:rPr lang="en-US" sz="1199" b="1" spc="290">
                <a:solidFill>
                  <a:srgbClr val="1C7293"/>
                </a:solidFill>
                <a:latin typeface="Montserrat Bold"/>
                <a:ea typeface="Montserrat Bold"/>
                <a:cs typeface="Montserrat Bold"/>
                <a:sym typeface="Montserrat Bold"/>
              </a:rPr>
              <a:t>05 . ERROR ANALYSIS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AF1"/>
        </a:solidFill>
        <a:effectLst/>
      </p:bgPr>
    </p:bg>
    <p:spTree>
      <p:nvGrpSpPr>
        <p:cNvPr id="1" name=""/>
        <p:cNvGrpSpPr/>
        <p:nvPr/>
      </p:nvGrpSpPr>
      <p:grpSpPr>
        <a:xfrm>
          <a:off x="0" y="0"/>
          <a:ext cx="0" cy="0"/>
          <a:chOff x="0" y="0"/>
          <a:chExt cx="0" cy="0"/>
        </a:xfrm>
      </p:grpSpPr>
      <p:grpSp>
        <p:nvGrpSpPr>
          <p:cNvPr id="2" name="Group 2"/>
          <p:cNvGrpSpPr/>
          <p:nvPr/>
        </p:nvGrpSpPr>
        <p:grpSpPr>
          <a:xfrm>
            <a:off x="8265233" y="1719339"/>
            <a:ext cx="3449155" cy="3768862"/>
            <a:chOff x="0" y="0"/>
            <a:chExt cx="4598873" cy="5025149"/>
          </a:xfrm>
        </p:grpSpPr>
        <p:sp>
          <p:nvSpPr>
            <p:cNvPr id="3" name="Freeform 3"/>
            <p:cNvSpPr/>
            <p:nvPr/>
          </p:nvSpPr>
          <p:spPr>
            <a:xfrm>
              <a:off x="0" y="0"/>
              <a:ext cx="4598924" cy="5025136"/>
            </a:xfrm>
            <a:custGeom>
              <a:avLst/>
              <a:gdLst/>
              <a:ahLst/>
              <a:cxnLst/>
              <a:rect l="l" t="t" r="r" b="b"/>
              <a:pathLst>
                <a:path w="4598924" h="5025136">
                  <a:moveTo>
                    <a:pt x="0" y="0"/>
                  </a:moveTo>
                  <a:lnTo>
                    <a:pt x="4598924" y="0"/>
                  </a:lnTo>
                  <a:lnTo>
                    <a:pt x="4598924" y="5025136"/>
                  </a:lnTo>
                  <a:lnTo>
                    <a:pt x="0" y="5025136"/>
                  </a:lnTo>
                  <a:lnTo>
                    <a:pt x="0" y="0"/>
                  </a:lnTo>
                  <a:close/>
                </a:path>
              </a:pathLst>
            </a:custGeom>
            <a:blipFill>
              <a:blip r:embed="rId2">
                <a:alphaModFix amt="18999"/>
              </a:blip>
              <a:stretch>
                <a:fillRect t="-8" r="1"/>
              </a:stretch>
            </a:blipFill>
          </p:spPr>
        </p:sp>
      </p:grpSp>
      <p:sp>
        <p:nvSpPr>
          <p:cNvPr id="4" name="Freeform 4"/>
          <p:cNvSpPr/>
          <p:nvPr/>
        </p:nvSpPr>
        <p:spPr>
          <a:xfrm>
            <a:off x="8366760" y="1782728"/>
            <a:ext cx="3246120" cy="3566160"/>
          </a:xfrm>
          <a:custGeom>
            <a:avLst/>
            <a:gdLst/>
            <a:ahLst/>
            <a:cxnLst/>
            <a:rect l="l" t="t" r="r" b="b"/>
            <a:pathLst>
              <a:path w="3246120" h="3566160">
                <a:moveTo>
                  <a:pt x="0" y="0"/>
                </a:moveTo>
                <a:lnTo>
                  <a:pt x="3246120" y="0"/>
                </a:lnTo>
                <a:lnTo>
                  <a:pt x="3246120" y="3566160"/>
                </a:lnTo>
                <a:lnTo>
                  <a:pt x="0" y="356616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782466" y="1598109"/>
            <a:ext cx="7002497" cy="4822970"/>
          </a:xfrm>
          <a:custGeom>
            <a:avLst/>
            <a:gdLst/>
            <a:ahLst/>
            <a:cxnLst/>
            <a:rect l="l" t="t" r="r" b="b"/>
            <a:pathLst>
              <a:path w="7002497" h="4822970">
                <a:moveTo>
                  <a:pt x="0" y="0"/>
                </a:moveTo>
                <a:lnTo>
                  <a:pt x="7002497" y="0"/>
                </a:lnTo>
                <a:lnTo>
                  <a:pt x="7002497" y="4822970"/>
                </a:lnTo>
                <a:lnTo>
                  <a:pt x="0" y="4822970"/>
                </a:lnTo>
                <a:lnTo>
                  <a:pt x="0" y="0"/>
                </a:lnTo>
                <a:close/>
              </a:path>
            </a:pathLst>
          </a:custGeom>
          <a:blipFill>
            <a:blip r:embed="rId4"/>
            <a:stretch>
              <a:fillRect/>
            </a:stretch>
          </a:blipFill>
        </p:spPr>
      </p:sp>
      <p:sp>
        <p:nvSpPr>
          <p:cNvPr id="6" name="TextBox 6"/>
          <p:cNvSpPr txBox="1"/>
          <p:nvPr/>
        </p:nvSpPr>
        <p:spPr>
          <a:xfrm>
            <a:off x="8595008" y="2031673"/>
            <a:ext cx="2600438" cy="262188"/>
          </a:xfrm>
          <a:prstGeom prst="rect">
            <a:avLst/>
          </a:prstGeom>
        </p:spPr>
        <p:txBody>
          <a:bodyPr wrap="square" lIns="0" tIns="0" rIns="0" bIns="0" rtlCol="0" anchor="t">
            <a:spAutoFit/>
          </a:bodyPr>
          <a:lstStyle/>
          <a:p>
            <a:pPr algn="l">
              <a:lnSpc>
                <a:spcPts val="2238"/>
              </a:lnSpc>
            </a:pPr>
            <a:r>
              <a:rPr lang="en-US" sz="1598" b="1">
                <a:solidFill>
                  <a:srgbClr val="13315C"/>
                </a:solidFill>
                <a:latin typeface="Montserrat Bold"/>
                <a:ea typeface="Montserrat Bold"/>
                <a:cs typeface="Montserrat Bold"/>
                <a:sym typeface="Montserrat Bold"/>
              </a:rPr>
              <a:t>What Do We See?</a:t>
            </a:r>
          </a:p>
        </p:txBody>
      </p:sp>
      <p:sp>
        <p:nvSpPr>
          <p:cNvPr id="7" name="TextBox 7"/>
          <p:cNvSpPr txBox="1"/>
          <p:nvPr/>
        </p:nvSpPr>
        <p:spPr>
          <a:xfrm>
            <a:off x="9689716" y="2439343"/>
            <a:ext cx="41672" cy="206372"/>
          </a:xfrm>
          <a:prstGeom prst="rect">
            <a:avLst/>
          </a:prstGeom>
        </p:spPr>
        <p:txBody>
          <a:bodyPr lIns="0" tIns="0" rIns="0" bIns="0" rtlCol="0" anchor="t">
            <a:spAutoFit/>
          </a:bodyPr>
          <a:lstStyle/>
          <a:p>
            <a:pPr algn="l">
              <a:lnSpc>
                <a:spcPts val="1750"/>
              </a:lnSpc>
            </a:pPr>
            <a:r>
              <a:rPr lang="en-US" sz="1250">
                <a:solidFill>
                  <a:srgbClr val="1A2A3A"/>
                </a:solidFill>
                <a:latin typeface="Montserrat"/>
                <a:ea typeface="Montserrat"/>
                <a:cs typeface="Montserrat"/>
                <a:sym typeface="Montserrat"/>
              </a:rPr>
              <a:t> </a:t>
            </a:r>
          </a:p>
        </p:txBody>
      </p:sp>
      <p:sp>
        <p:nvSpPr>
          <p:cNvPr id="8" name="TextBox 8"/>
          <p:cNvSpPr txBox="1"/>
          <p:nvPr/>
        </p:nvSpPr>
        <p:spPr>
          <a:xfrm>
            <a:off x="8595008" y="2533004"/>
            <a:ext cx="2598245" cy="2178047"/>
          </a:xfrm>
          <a:prstGeom prst="rect">
            <a:avLst/>
          </a:prstGeom>
        </p:spPr>
        <p:txBody>
          <a:bodyPr lIns="0" tIns="0" rIns="0" bIns="0" rtlCol="0" anchor="t">
            <a:spAutoFit/>
          </a:bodyPr>
          <a:lstStyle/>
          <a:p>
            <a:pPr algn="l">
              <a:lnSpc>
                <a:spcPts val="1750"/>
              </a:lnSpc>
            </a:pPr>
            <a:r>
              <a:rPr lang="en-US" sz="1250">
                <a:solidFill>
                  <a:srgbClr val="1A2A3A"/>
                </a:solidFill>
                <a:latin typeface="Montserrat"/>
                <a:ea typeface="Montserrat"/>
                <a:cs typeface="Montserrat"/>
                <a:sym typeface="Montserrat"/>
              </a:rPr>
              <a:t>Validation curves closely track the training curves - no overfitting.</a:t>
            </a:r>
          </a:p>
          <a:p>
            <a:pPr algn="l">
              <a:lnSpc>
                <a:spcPts val="1750"/>
              </a:lnSpc>
            </a:pPr>
            <a:endParaRPr lang="en-US" sz="1250">
              <a:solidFill>
                <a:srgbClr val="1A2A3A"/>
              </a:solidFill>
              <a:latin typeface="Montserrat"/>
              <a:ea typeface="Montserrat"/>
              <a:cs typeface="Montserrat"/>
              <a:sym typeface="Montserrat"/>
            </a:endParaRPr>
          </a:p>
          <a:p>
            <a:pPr algn="l">
              <a:lnSpc>
                <a:spcPts val="1750"/>
              </a:lnSpc>
            </a:pPr>
            <a:r>
              <a:rPr lang="en-US" sz="1250">
                <a:solidFill>
                  <a:srgbClr val="1A2A3A"/>
                </a:solidFill>
                <a:latin typeface="Montserrat"/>
                <a:ea typeface="Montserrat"/>
                <a:cs typeface="Montserrat"/>
                <a:sym typeface="Montserrat"/>
              </a:rPr>
              <a:t>Early stopping fixes the weights at the best epoch (dashed line).</a:t>
            </a:r>
          </a:p>
          <a:p>
            <a:pPr algn="l">
              <a:lnSpc>
                <a:spcPts val="1750"/>
              </a:lnSpc>
            </a:pPr>
            <a:endParaRPr lang="en-US" sz="1250">
              <a:solidFill>
                <a:srgbClr val="1A2A3A"/>
              </a:solidFill>
              <a:latin typeface="Montserrat"/>
              <a:ea typeface="Montserrat"/>
              <a:cs typeface="Montserrat"/>
              <a:sym typeface="Montserrat"/>
            </a:endParaRPr>
          </a:p>
          <a:p>
            <a:pPr algn="l">
              <a:lnSpc>
                <a:spcPts val="1750"/>
              </a:lnSpc>
            </a:pPr>
            <a:r>
              <a:rPr lang="en-US" sz="1250">
                <a:solidFill>
                  <a:srgbClr val="1A2A3A"/>
                </a:solidFill>
                <a:latin typeface="Montserrat"/>
                <a:ea typeface="Montserrat"/>
                <a:cs typeface="Montserrat"/>
                <a:sym typeface="Montserrat"/>
              </a:rPr>
              <a:t>Dropout + batch norm provide enough regularization for our data size. </a:t>
            </a:r>
          </a:p>
        </p:txBody>
      </p:sp>
      <p:sp>
        <p:nvSpPr>
          <p:cNvPr id="9" name="TextBox 9"/>
          <p:cNvSpPr txBox="1"/>
          <p:nvPr/>
        </p:nvSpPr>
        <p:spPr>
          <a:xfrm>
            <a:off x="685800" y="628650"/>
            <a:ext cx="10957912" cy="795030"/>
          </a:xfrm>
          <a:prstGeom prst="rect">
            <a:avLst/>
          </a:prstGeom>
        </p:spPr>
        <p:txBody>
          <a:bodyPr lIns="0" tIns="0" rIns="0" bIns="0" rtlCol="0" anchor="t">
            <a:spAutoFit/>
          </a:bodyPr>
          <a:lstStyle/>
          <a:p>
            <a:pPr algn="l">
              <a:lnSpc>
                <a:spcPts val="2092"/>
              </a:lnSpc>
            </a:pPr>
            <a:endParaRPr/>
          </a:p>
          <a:p>
            <a:pPr algn="l">
              <a:lnSpc>
                <a:spcPts val="4887"/>
              </a:lnSpc>
            </a:pPr>
            <a:r>
              <a:rPr lang="en-US" sz="2800" b="1">
                <a:solidFill>
                  <a:srgbClr val="0B2545"/>
                </a:solidFill>
                <a:latin typeface="Montserrat Bold"/>
                <a:ea typeface="Montserrat Bold"/>
                <a:cs typeface="Montserrat Bold"/>
                <a:sym typeface="Montserrat Bold"/>
              </a:rPr>
              <a:t>Learning Curves and Early Stopping</a:t>
            </a:r>
          </a:p>
        </p:txBody>
      </p:sp>
      <p:sp>
        <p:nvSpPr>
          <p:cNvPr id="10" name="TextBox 10"/>
          <p:cNvSpPr txBox="1"/>
          <p:nvPr/>
        </p:nvSpPr>
        <p:spPr>
          <a:xfrm>
            <a:off x="685800" y="628650"/>
            <a:ext cx="4599960" cy="231329"/>
          </a:xfrm>
          <a:prstGeom prst="rect">
            <a:avLst/>
          </a:prstGeom>
        </p:spPr>
        <p:txBody>
          <a:bodyPr lIns="0" tIns="0" rIns="0" bIns="0" rtlCol="0" anchor="t">
            <a:spAutoFit/>
          </a:bodyPr>
          <a:lstStyle/>
          <a:p>
            <a:pPr algn="l">
              <a:lnSpc>
                <a:spcPts val="2092"/>
              </a:lnSpc>
            </a:pPr>
            <a:r>
              <a:rPr lang="en-US" sz="1199" b="1" spc="290">
                <a:solidFill>
                  <a:srgbClr val="1C7293"/>
                </a:solidFill>
                <a:latin typeface="Montserrat Bold"/>
                <a:ea typeface="Montserrat Bold"/>
                <a:cs typeface="Montserrat Bold"/>
                <a:sym typeface="Montserrat Bold"/>
              </a:rPr>
              <a:t>05 . TRAINING BEHAVIOR</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4172E"/>
        </a:solidFill>
        <a:effectLst/>
      </p:bgPr>
    </p:bg>
    <p:spTree>
      <p:nvGrpSpPr>
        <p:cNvPr id="1" name=""/>
        <p:cNvGrpSpPr/>
        <p:nvPr/>
      </p:nvGrpSpPr>
      <p:grpSpPr>
        <a:xfrm>
          <a:off x="0" y="0"/>
          <a:ext cx="0" cy="0"/>
          <a:chOff x="0" y="0"/>
          <a:chExt cx="0" cy="0"/>
        </a:xfrm>
      </p:grpSpPr>
      <p:grpSp>
        <p:nvGrpSpPr>
          <p:cNvPr id="2" name="Group 2"/>
          <p:cNvGrpSpPr/>
          <p:nvPr/>
        </p:nvGrpSpPr>
        <p:grpSpPr>
          <a:xfrm>
            <a:off x="7853401" y="2039379"/>
            <a:ext cx="3860635" cy="3860302"/>
            <a:chOff x="0" y="0"/>
            <a:chExt cx="5147513" cy="5147069"/>
          </a:xfrm>
        </p:grpSpPr>
        <p:sp>
          <p:nvSpPr>
            <p:cNvPr id="3" name="Freeform 3"/>
            <p:cNvSpPr/>
            <p:nvPr/>
          </p:nvSpPr>
          <p:spPr>
            <a:xfrm>
              <a:off x="0" y="0"/>
              <a:ext cx="5147564" cy="5147056"/>
            </a:xfrm>
            <a:custGeom>
              <a:avLst/>
              <a:gdLst/>
              <a:ahLst/>
              <a:cxnLst/>
              <a:rect l="l" t="t" r="r" b="b"/>
              <a:pathLst>
                <a:path w="5147564" h="5147056">
                  <a:moveTo>
                    <a:pt x="0" y="0"/>
                  </a:moveTo>
                  <a:lnTo>
                    <a:pt x="5147564" y="0"/>
                  </a:lnTo>
                  <a:lnTo>
                    <a:pt x="5147564" y="5147056"/>
                  </a:lnTo>
                  <a:lnTo>
                    <a:pt x="0" y="5147056"/>
                  </a:lnTo>
                  <a:lnTo>
                    <a:pt x="0" y="0"/>
                  </a:lnTo>
                  <a:close/>
                </a:path>
              </a:pathLst>
            </a:custGeom>
            <a:blipFill>
              <a:blip r:embed="rId2">
                <a:alphaModFix amt="18999"/>
              </a:blip>
              <a:stretch>
                <a:fillRect t="-8"/>
              </a:stretch>
            </a:blipFill>
          </p:spPr>
        </p:sp>
      </p:grpSp>
      <p:sp>
        <p:nvSpPr>
          <p:cNvPr id="4" name="Freeform 4"/>
          <p:cNvSpPr/>
          <p:nvPr/>
        </p:nvSpPr>
        <p:spPr>
          <a:xfrm>
            <a:off x="7954928" y="2102768"/>
            <a:ext cx="3657600" cy="3657600"/>
          </a:xfrm>
          <a:custGeom>
            <a:avLst/>
            <a:gdLst/>
            <a:ahLst/>
            <a:cxnLst/>
            <a:rect l="l" t="t" r="r" b="b"/>
            <a:pathLst>
              <a:path w="3657600" h="3657600">
                <a:moveTo>
                  <a:pt x="0" y="0"/>
                </a:moveTo>
                <a:lnTo>
                  <a:pt x="3657600" y="0"/>
                </a:lnTo>
                <a:lnTo>
                  <a:pt x="3657600" y="3657600"/>
                </a:lnTo>
                <a:lnTo>
                  <a:pt x="0" y="36576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TextBox 5"/>
          <p:cNvSpPr txBox="1"/>
          <p:nvPr/>
        </p:nvSpPr>
        <p:spPr>
          <a:xfrm>
            <a:off x="796471" y="2108787"/>
            <a:ext cx="46806" cy="320897"/>
          </a:xfrm>
          <a:prstGeom prst="rect">
            <a:avLst/>
          </a:prstGeom>
        </p:spPr>
        <p:txBody>
          <a:bodyPr lIns="0" tIns="0" rIns="0" bIns="0" rtlCol="0" anchor="t">
            <a:spAutoFit/>
          </a:bodyPr>
          <a:lstStyle/>
          <a:p>
            <a:pPr algn="l">
              <a:lnSpc>
                <a:spcPts val="2238"/>
              </a:lnSpc>
            </a:pPr>
            <a:r>
              <a:rPr lang="en-US" sz="1598">
                <a:solidFill>
                  <a:srgbClr val="DCE8F0"/>
                </a:solidFill>
                <a:latin typeface="Carlito"/>
                <a:ea typeface="Carlito"/>
                <a:cs typeface="Carlito"/>
                <a:sym typeface="Carlito"/>
              </a:rPr>
              <a:t> </a:t>
            </a:r>
          </a:p>
        </p:txBody>
      </p:sp>
      <p:sp>
        <p:nvSpPr>
          <p:cNvPr id="6" name="TextBox 6"/>
          <p:cNvSpPr txBox="1"/>
          <p:nvPr/>
        </p:nvSpPr>
        <p:spPr>
          <a:xfrm>
            <a:off x="639728" y="2156412"/>
            <a:ext cx="6992188" cy="1092868"/>
          </a:xfrm>
          <a:prstGeom prst="rect">
            <a:avLst/>
          </a:prstGeom>
        </p:spPr>
        <p:txBody>
          <a:bodyPr lIns="0" tIns="0" rIns="0" bIns="0" rtlCol="0" anchor="t">
            <a:spAutoFit/>
          </a:bodyPr>
          <a:lstStyle/>
          <a:p>
            <a:pPr algn="l">
              <a:lnSpc>
                <a:spcPts val="2238"/>
              </a:lnSpc>
            </a:pPr>
            <a:r>
              <a:rPr lang="en-US" sz="1598">
                <a:solidFill>
                  <a:srgbClr val="DCE8F0"/>
                </a:solidFill>
                <a:latin typeface="Montserrat"/>
                <a:ea typeface="Montserrat"/>
                <a:cs typeface="Montserrat"/>
                <a:sym typeface="Montserrat"/>
              </a:rPr>
              <a:t>In our Gradio-based web interface, the user records or uploads a 5-second clip, then selects one of the three models. The clip is passed through the same preprocessing chain used in that model's training, and class probabilities are displayed instantly.</a:t>
            </a:r>
          </a:p>
        </p:txBody>
      </p:sp>
      <p:grpSp>
        <p:nvGrpSpPr>
          <p:cNvPr id="7" name="Group 7"/>
          <p:cNvGrpSpPr/>
          <p:nvPr/>
        </p:nvGrpSpPr>
        <p:grpSpPr>
          <a:xfrm>
            <a:off x="685448" y="4160168"/>
            <a:ext cx="6492866" cy="1371600"/>
            <a:chOff x="0" y="0"/>
            <a:chExt cx="8657155" cy="1828800"/>
          </a:xfrm>
        </p:grpSpPr>
        <p:sp>
          <p:nvSpPr>
            <p:cNvPr id="8" name="Freeform 8"/>
            <p:cNvSpPr/>
            <p:nvPr/>
          </p:nvSpPr>
          <p:spPr>
            <a:xfrm>
              <a:off x="0" y="0"/>
              <a:ext cx="365760" cy="365760"/>
            </a:xfrm>
            <a:custGeom>
              <a:avLst/>
              <a:gdLst/>
              <a:ahLst/>
              <a:cxnLst/>
              <a:rect l="l" t="t" r="r" b="b"/>
              <a:pathLst>
                <a:path w="365760" h="365760">
                  <a:moveTo>
                    <a:pt x="0" y="0"/>
                  </a:moveTo>
                  <a:lnTo>
                    <a:pt x="365760" y="0"/>
                  </a:lnTo>
                  <a:lnTo>
                    <a:pt x="365760" y="365760"/>
                  </a:lnTo>
                  <a:lnTo>
                    <a:pt x="0" y="365760"/>
                  </a:lnTo>
                  <a:lnTo>
                    <a:pt x="0" y="0"/>
                  </a:lnTo>
                  <a:close/>
                </a:path>
              </a:pathLst>
            </a:custGeom>
            <a:blipFill>
              <a:blip>
                <a:alphaModFix amt="18999"/>
                <a:extLst>
                  <a:ext uri="{96DAC541-7B7A-43D3-8B79-37D633B846F1}">
                    <asvg:svgBlip xmlns:asvg="http://schemas.microsoft.com/office/drawing/2016/SVG/main" r:embed="rId4"/>
                  </a:ext>
                </a:extLst>
              </a:blip>
              <a:stretch>
                <a:fillRect/>
              </a:stretch>
            </a:blipFill>
          </p:spPr>
        </p:sp>
        <p:sp>
          <p:nvSpPr>
            <p:cNvPr id="9" name="Freeform 9"/>
            <p:cNvSpPr/>
            <p:nvPr/>
          </p:nvSpPr>
          <p:spPr>
            <a:xfrm>
              <a:off x="0" y="731520"/>
              <a:ext cx="365760" cy="365760"/>
            </a:xfrm>
            <a:custGeom>
              <a:avLst/>
              <a:gdLst/>
              <a:ahLst/>
              <a:cxnLst/>
              <a:rect l="l" t="t" r="r" b="b"/>
              <a:pathLst>
                <a:path w="365760" h="365760">
                  <a:moveTo>
                    <a:pt x="0" y="0"/>
                  </a:moveTo>
                  <a:lnTo>
                    <a:pt x="365760" y="0"/>
                  </a:lnTo>
                  <a:lnTo>
                    <a:pt x="365760" y="365760"/>
                  </a:lnTo>
                  <a:lnTo>
                    <a:pt x="0" y="365760"/>
                  </a:lnTo>
                  <a:lnTo>
                    <a:pt x="0" y="0"/>
                  </a:lnTo>
                  <a:close/>
                </a:path>
              </a:pathLst>
            </a:custGeom>
            <a:blipFill>
              <a:blip>
                <a:alphaModFix amt="18999"/>
                <a:extLst>
                  <a:ext uri="{96DAC541-7B7A-43D3-8B79-37D633B846F1}">
                    <asvg:svgBlip xmlns:asvg="http://schemas.microsoft.com/office/drawing/2016/SVG/main" r:embed="rId5"/>
                  </a:ext>
                </a:extLst>
              </a:blip>
              <a:stretch>
                <a:fillRect/>
              </a:stretch>
            </a:blipFill>
          </p:spPr>
        </p:sp>
        <p:sp>
          <p:nvSpPr>
            <p:cNvPr id="10" name="Freeform 10"/>
            <p:cNvSpPr/>
            <p:nvPr/>
          </p:nvSpPr>
          <p:spPr>
            <a:xfrm>
              <a:off x="0" y="1463040"/>
              <a:ext cx="365760" cy="365760"/>
            </a:xfrm>
            <a:custGeom>
              <a:avLst/>
              <a:gdLst/>
              <a:ahLst/>
              <a:cxnLst/>
              <a:rect l="l" t="t" r="r" b="b"/>
              <a:pathLst>
                <a:path w="365760" h="365760">
                  <a:moveTo>
                    <a:pt x="0" y="0"/>
                  </a:moveTo>
                  <a:lnTo>
                    <a:pt x="365760" y="0"/>
                  </a:lnTo>
                  <a:lnTo>
                    <a:pt x="365760" y="365760"/>
                  </a:lnTo>
                  <a:lnTo>
                    <a:pt x="0" y="365760"/>
                  </a:lnTo>
                  <a:lnTo>
                    <a:pt x="0" y="0"/>
                  </a:lnTo>
                  <a:close/>
                </a:path>
              </a:pathLst>
            </a:custGeom>
            <a:blipFill>
              <a:blip>
                <a:alphaModFix amt="18999"/>
                <a:extLst>
                  <a:ext uri="{96DAC541-7B7A-43D3-8B79-37D633B846F1}">
                    <asvg:svgBlip xmlns:asvg="http://schemas.microsoft.com/office/drawing/2016/SVG/main" r:embed="rId6"/>
                  </a:ext>
                </a:extLst>
              </a:blip>
              <a:stretch>
                <a:fillRect/>
              </a:stretch>
            </a:blipFill>
          </p:spPr>
        </p:sp>
        <p:sp>
          <p:nvSpPr>
            <p:cNvPr id="11" name="TextBox 11"/>
            <p:cNvSpPr txBox="1"/>
            <p:nvPr/>
          </p:nvSpPr>
          <p:spPr>
            <a:xfrm>
              <a:off x="548640" y="15309"/>
              <a:ext cx="7827627" cy="300681"/>
            </a:xfrm>
            <a:prstGeom prst="rect">
              <a:avLst/>
            </a:prstGeom>
          </p:spPr>
          <p:txBody>
            <a:bodyPr wrap="square" lIns="0" tIns="0" rIns="0" bIns="0" rtlCol="0" anchor="t">
              <a:spAutoFit/>
            </a:bodyPr>
            <a:lstStyle/>
            <a:p>
              <a:pPr algn="l">
                <a:lnSpc>
                  <a:spcPts val="1889"/>
                </a:lnSpc>
              </a:pPr>
              <a:r>
                <a:rPr lang="en-US" sz="1349" b="1">
                  <a:solidFill>
                    <a:srgbClr val="FFFFFF"/>
                  </a:solidFill>
                  <a:latin typeface="Montserrat Bold"/>
                  <a:ea typeface="Montserrat Bold"/>
                  <a:cs typeface="Montserrat Bold"/>
                  <a:sym typeface="Montserrat Bold"/>
                </a:rPr>
                <a:t>Microphone or file </a:t>
              </a:r>
              <a:r>
                <a:rPr lang="en-US" sz="1349">
                  <a:solidFill>
                    <a:srgbClr val="9FB8C8"/>
                  </a:solidFill>
                  <a:latin typeface="Montserrat"/>
                  <a:ea typeface="Montserrat"/>
                  <a:cs typeface="Montserrat"/>
                  <a:sym typeface="Montserrat"/>
                </a:rPr>
                <a:t>— Both input methods supported</a:t>
              </a:r>
            </a:p>
          </p:txBody>
        </p:sp>
        <p:sp>
          <p:nvSpPr>
            <p:cNvPr id="12" name="TextBox 12"/>
            <p:cNvSpPr txBox="1"/>
            <p:nvPr/>
          </p:nvSpPr>
          <p:spPr>
            <a:xfrm>
              <a:off x="548640" y="759448"/>
              <a:ext cx="8108515" cy="298629"/>
            </a:xfrm>
            <a:prstGeom prst="rect">
              <a:avLst/>
            </a:prstGeom>
          </p:spPr>
          <p:txBody>
            <a:bodyPr wrap="square" lIns="0" tIns="0" rIns="0" bIns="0" rtlCol="0" anchor="t">
              <a:spAutoFit/>
            </a:bodyPr>
            <a:lstStyle/>
            <a:p>
              <a:pPr algn="l">
                <a:lnSpc>
                  <a:spcPts val="1889"/>
                </a:lnSpc>
              </a:pPr>
              <a:r>
                <a:rPr lang="en-US" sz="1300" b="1" dirty="0">
                  <a:solidFill>
                    <a:srgbClr val="FFFFFF"/>
                  </a:solidFill>
                  <a:latin typeface="Montserrat Bold"/>
                  <a:ea typeface="Montserrat Bold"/>
                  <a:cs typeface="Montserrat Bold"/>
                  <a:sym typeface="Montserrat Bold"/>
                </a:rPr>
                <a:t>Model selection </a:t>
              </a:r>
              <a:r>
                <a:rPr lang="en-US" sz="1300" dirty="0">
                  <a:solidFill>
                    <a:srgbClr val="9FB8C8"/>
                  </a:solidFill>
                  <a:latin typeface="Montserrat"/>
                  <a:ea typeface="Montserrat"/>
                  <a:cs typeface="Montserrat"/>
                  <a:sym typeface="Montserrat"/>
                </a:rPr>
                <a:t>— </a:t>
              </a:r>
              <a:r>
                <a:rPr lang="en-US" sz="1300" dirty="0" err="1">
                  <a:solidFill>
                    <a:srgbClr val="9FB8C8"/>
                  </a:solidFill>
                  <a:latin typeface="Montserrat"/>
                  <a:ea typeface="Montserrat"/>
                  <a:cs typeface="Montserrat"/>
                  <a:sym typeface="Montserrat"/>
                </a:rPr>
                <a:t>XGBoost</a:t>
              </a:r>
              <a:r>
                <a:rPr lang="en-US" sz="1300" dirty="0">
                  <a:solidFill>
                    <a:srgbClr val="9FB8C8"/>
                  </a:solidFill>
                  <a:latin typeface="Montserrat"/>
                  <a:ea typeface="Montserrat"/>
                  <a:cs typeface="Montserrat"/>
                  <a:sym typeface="Montserrat"/>
                </a:rPr>
                <a:t> / Summary-CNN / Time-Series CNN</a:t>
              </a:r>
            </a:p>
          </p:txBody>
        </p:sp>
        <p:sp>
          <p:nvSpPr>
            <p:cNvPr id="13" name="TextBox 13"/>
            <p:cNvSpPr txBox="1"/>
            <p:nvPr/>
          </p:nvSpPr>
          <p:spPr>
            <a:xfrm>
              <a:off x="548640" y="1490968"/>
              <a:ext cx="7053262" cy="290854"/>
            </a:xfrm>
            <a:prstGeom prst="rect">
              <a:avLst/>
            </a:prstGeom>
          </p:spPr>
          <p:txBody>
            <a:bodyPr lIns="0" tIns="0" rIns="0" bIns="0" rtlCol="0" anchor="t">
              <a:spAutoFit/>
            </a:bodyPr>
            <a:lstStyle/>
            <a:p>
              <a:pPr algn="l">
                <a:lnSpc>
                  <a:spcPts val="1889"/>
                </a:lnSpc>
              </a:pPr>
              <a:r>
                <a:rPr lang="en-US" sz="1349" b="1">
                  <a:solidFill>
                    <a:srgbClr val="FFFFFF"/>
                  </a:solidFill>
                  <a:latin typeface="Montserrat Bold"/>
                  <a:ea typeface="Montserrat Bold"/>
                  <a:cs typeface="Montserrat Bold"/>
                  <a:sym typeface="Montserrat Bold"/>
                </a:rPr>
                <a:t>Probabilistic output </a:t>
              </a:r>
              <a:r>
                <a:rPr lang="en-US" sz="1349">
                  <a:solidFill>
                    <a:srgbClr val="9FB8C8"/>
                  </a:solidFill>
                  <a:latin typeface="Montserrat"/>
                  <a:ea typeface="Montserrat"/>
                  <a:cs typeface="Montserrat"/>
                  <a:sym typeface="Montserrat"/>
                </a:rPr>
                <a:t>— A confidence score for each language</a:t>
              </a:r>
            </a:p>
          </p:txBody>
        </p:sp>
      </p:grpSp>
      <p:sp>
        <p:nvSpPr>
          <p:cNvPr id="14" name="TextBox 14"/>
          <p:cNvSpPr txBox="1"/>
          <p:nvPr/>
        </p:nvSpPr>
        <p:spPr>
          <a:xfrm>
            <a:off x="8663216" y="2387365"/>
            <a:ext cx="39529" cy="191140"/>
          </a:xfrm>
          <a:prstGeom prst="rect">
            <a:avLst/>
          </a:prstGeom>
        </p:spPr>
        <p:txBody>
          <a:bodyPr lIns="0" tIns="0" rIns="0" bIns="0" rtlCol="0" anchor="t">
            <a:spAutoFit/>
          </a:bodyPr>
          <a:lstStyle/>
          <a:p>
            <a:pPr algn="l">
              <a:lnSpc>
                <a:spcPts val="1539"/>
              </a:lnSpc>
            </a:pPr>
            <a:r>
              <a:rPr lang="en-US" sz="1099" b="1">
                <a:solidFill>
                  <a:srgbClr val="1B98A2"/>
                </a:solidFill>
                <a:latin typeface="Montserrat Bold"/>
                <a:ea typeface="Montserrat Bold"/>
                <a:cs typeface="Montserrat Bold"/>
                <a:sym typeface="Montserrat Bold"/>
              </a:rPr>
              <a:t> </a:t>
            </a:r>
          </a:p>
        </p:txBody>
      </p:sp>
      <p:sp>
        <p:nvSpPr>
          <p:cNvPr id="15" name="TextBox 15"/>
          <p:cNvSpPr txBox="1"/>
          <p:nvPr/>
        </p:nvSpPr>
        <p:spPr>
          <a:xfrm>
            <a:off x="8229248" y="2619232"/>
            <a:ext cx="3057058" cy="1615556"/>
          </a:xfrm>
          <a:prstGeom prst="rect">
            <a:avLst/>
          </a:prstGeom>
        </p:spPr>
        <p:txBody>
          <a:bodyPr lIns="0" tIns="0" rIns="0" bIns="0" rtlCol="0" anchor="t">
            <a:spAutoFit/>
          </a:bodyPr>
          <a:lstStyle/>
          <a:p>
            <a:pPr algn="l">
              <a:lnSpc>
                <a:spcPts val="3373"/>
              </a:lnSpc>
            </a:pPr>
            <a:r>
              <a:rPr lang="en-US" sz="1349">
                <a:solidFill>
                  <a:srgbClr val="DCE8F0"/>
                </a:solidFill>
                <a:latin typeface="Montserrat"/>
                <a:ea typeface="Montserrat"/>
                <a:cs typeface="Montserrat"/>
                <a:sym typeface="Montserrat"/>
              </a:rPr>
              <a:t>A live audio recording</a:t>
            </a:r>
          </a:p>
          <a:p>
            <a:pPr algn="l">
              <a:lnSpc>
                <a:spcPts val="3373"/>
              </a:lnSpc>
            </a:pPr>
            <a:r>
              <a:rPr lang="en-US" sz="1349">
                <a:solidFill>
                  <a:srgbClr val="DCE8F0"/>
                </a:solidFill>
                <a:latin typeface="Montserrat"/>
                <a:ea typeface="Montserrat"/>
                <a:cs typeface="Montserrat"/>
                <a:sym typeface="Montserrat"/>
              </a:rPr>
              <a:t>All three models on the same audio</a:t>
            </a:r>
          </a:p>
          <a:p>
            <a:pPr algn="l">
              <a:lnSpc>
                <a:spcPts val="3373"/>
              </a:lnSpc>
            </a:pPr>
            <a:r>
              <a:rPr lang="en-US" sz="1349" b="1">
                <a:solidFill>
                  <a:srgbClr val="E8A33D"/>
                </a:solidFill>
                <a:latin typeface="Montserrat Bold"/>
                <a:ea typeface="Montserrat Bold"/>
                <a:cs typeface="Montserrat Bold"/>
                <a:sym typeface="Montserrat Bold"/>
              </a:rPr>
              <a:t>The difference the Time-Series CNN makes</a:t>
            </a:r>
          </a:p>
        </p:txBody>
      </p:sp>
      <p:sp>
        <p:nvSpPr>
          <p:cNvPr id="16" name="TextBox 16"/>
          <p:cNvSpPr txBox="1"/>
          <p:nvPr/>
        </p:nvSpPr>
        <p:spPr>
          <a:xfrm>
            <a:off x="8229248" y="2387365"/>
            <a:ext cx="1755577" cy="191140"/>
          </a:xfrm>
          <a:prstGeom prst="rect">
            <a:avLst/>
          </a:prstGeom>
        </p:spPr>
        <p:txBody>
          <a:bodyPr lIns="0" tIns="0" rIns="0" bIns="0" rtlCol="0" anchor="t">
            <a:spAutoFit/>
          </a:bodyPr>
          <a:lstStyle/>
          <a:p>
            <a:pPr algn="l">
              <a:lnSpc>
                <a:spcPts val="1539"/>
              </a:lnSpc>
            </a:pPr>
            <a:r>
              <a:rPr lang="en-US" sz="1099" b="1" spc="140">
                <a:solidFill>
                  <a:srgbClr val="1B98A2"/>
                </a:solidFill>
                <a:latin typeface="Montserrat Bold"/>
                <a:ea typeface="Montserrat Bold"/>
                <a:cs typeface="Montserrat Bold"/>
                <a:sym typeface="Montserrat Bold"/>
              </a:rPr>
              <a:t>WHAT</a:t>
            </a:r>
            <a:r>
              <a:rPr lang="en-US" sz="1099" b="1" spc="140">
                <a:solidFill>
                  <a:srgbClr val="FFFFFF"/>
                </a:solidFill>
                <a:latin typeface="Montserrat Bold"/>
                <a:ea typeface="Montserrat Bold"/>
                <a:cs typeface="Montserrat Bold"/>
                <a:sym typeface="Montserrat Bold"/>
              </a:rPr>
              <a:t> </a:t>
            </a:r>
            <a:r>
              <a:rPr lang="en-US" sz="1099" b="1" spc="140">
                <a:solidFill>
                  <a:srgbClr val="1B98A2"/>
                </a:solidFill>
                <a:latin typeface="Montserrat Bold"/>
                <a:ea typeface="Montserrat Bold"/>
                <a:cs typeface="Montserrat Bold"/>
                <a:sym typeface="Montserrat Bold"/>
              </a:rPr>
              <a:t>WE'LL</a:t>
            </a:r>
            <a:r>
              <a:rPr lang="en-US" sz="1099" b="1" spc="140">
                <a:solidFill>
                  <a:srgbClr val="FFFFFF"/>
                </a:solidFill>
                <a:latin typeface="Montserrat Bold"/>
                <a:ea typeface="Montserrat Bold"/>
                <a:cs typeface="Montserrat Bold"/>
                <a:sym typeface="Montserrat Bold"/>
              </a:rPr>
              <a:t> </a:t>
            </a:r>
            <a:r>
              <a:rPr lang="en-US" sz="1099" b="1" spc="140">
                <a:solidFill>
                  <a:srgbClr val="1B98A2"/>
                </a:solidFill>
                <a:latin typeface="Montserrat Bold"/>
                <a:ea typeface="Montserrat Bold"/>
                <a:cs typeface="Montserrat Bold"/>
                <a:sym typeface="Montserrat Bold"/>
              </a:rPr>
              <a:t>SHOW</a:t>
            </a:r>
          </a:p>
        </p:txBody>
      </p:sp>
      <p:sp>
        <p:nvSpPr>
          <p:cNvPr id="17" name="TextBox 17"/>
          <p:cNvSpPr txBox="1"/>
          <p:nvPr/>
        </p:nvSpPr>
        <p:spPr>
          <a:xfrm>
            <a:off x="685800" y="628650"/>
            <a:ext cx="10957912" cy="795030"/>
          </a:xfrm>
          <a:prstGeom prst="rect">
            <a:avLst/>
          </a:prstGeom>
        </p:spPr>
        <p:txBody>
          <a:bodyPr lIns="0" tIns="0" rIns="0" bIns="0" rtlCol="0" anchor="t">
            <a:spAutoFit/>
          </a:bodyPr>
          <a:lstStyle/>
          <a:p>
            <a:pPr algn="l">
              <a:lnSpc>
                <a:spcPts val="2092"/>
              </a:lnSpc>
            </a:pPr>
            <a:endParaRPr/>
          </a:p>
          <a:p>
            <a:pPr algn="l">
              <a:lnSpc>
                <a:spcPts val="4887"/>
              </a:lnSpc>
            </a:pPr>
            <a:r>
              <a:rPr lang="en-US" sz="2800" b="1">
                <a:solidFill>
                  <a:srgbClr val="FFFFFF"/>
                </a:solidFill>
                <a:latin typeface="Montserrat Bold"/>
                <a:ea typeface="Montserrat Bold"/>
                <a:cs typeface="Montserrat Bold"/>
                <a:sym typeface="Montserrat Bold"/>
              </a:rPr>
              <a:t>Real-Time Accent Identification</a:t>
            </a:r>
          </a:p>
        </p:txBody>
      </p:sp>
      <p:sp>
        <p:nvSpPr>
          <p:cNvPr id="18" name="TextBox 18"/>
          <p:cNvSpPr txBox="1"/>
          <p:nvPr/>
        </p:nvSpPr>
        <p:spPr>
          <a:xfrm>
            <a:off x="685800" y="628650"/>
            <a:ext cx="5058647" cy="231329"/>
          </a:xfrm>
          <a:prstGeom prst="rect">
            <a:avLst/>
          </a:prstGeom>
        </p:spPr>
        <p:txBody>
          <a:bodyPr lIns="0" tIns="0" rIns="0" bIns="0" rtlCol="0" anchor="t">
            <a:spAutoFit/>
          </a:bodyPr>
          <a:lstStyle/>
          <a:p>
            <a:pPr algn="l">
              <a:lnSpc>
                <a:spcPts val="2092"/>
              </a:lnSpc>
            </a:pPr>
            <a:r>
              <a:rPr lang="en-US" sz="1199" b="1" spc="290">
                <a:solidFill>
                  <a:srgbClr val="FCF1DE"/>
                </a:solidFill>
                <a:latin typeface="Montserrat Bold"/>
                <a:ea typeface="Montserrat Bold"/>
                <a:cs typeface="Montserrat Bold"/>
                <a:sym typeface="Montserrat Bold"/>
              </a:rPr>
              <a:t>06 . LIVE DEMO</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AF1"/>
        </a:solidFill>
        <a:effectLst/>
      </p:bgPr>
    </p:bg>
    <p:spTree>
      <p:nvGrpSpPr>
        <p:cNvPr id="1" name=""/>
        <p:cNvGrpSpPr/>
        <p:nvPr/>
      </p:nvGrpSpPr>
      <p:grpSpPr>
        <a:xfrm>
          <a:off x="0" y="0"/>
          <a:ext cx="0" cy="0"/>
          <a:chOff x="0" y="0"/>
          <a:chExt cx="0" cy="0"/>
        </a:xfrm>
      </p:grpSpPr>
      <p:sp>
        <p:nvSpPr>
          <p:cNvPr id="2" name="Freeform 2"/>
          <p:cNvSpPr/>
          <p:nvPr/>
        </p:nvSpPr>
        <p:spPr>
          <a:xfrm>
            <a:off x="7388857" y="1536697"/>
            <a:ext cx="4287517" cy="4287517"/>
          </a:xfrm>
          <a:custGeom>
            <a:avLst/>
            <a:gdLst/>
            <a:ahLst/>
            <a:cxnLst/>
            <a:rect l="l" t="t" r="r" b="b"/>
            <a:pathLst>
              <a:path w="4287517" h="4287517">
                <a:moveTo>
                  <a:pt x="0" y="0"/>
                </a:moveTo>
                <a:lnTo>
                  <a:pt x="4287517" y="0"/>
                </a:lnTo>
                <a:lnTo>
                  <a:pt x="4287517" y="4287517"/>
                </a:lnTo>
                <a:lnTo>
                  <a:pt x="0" y="4287517"/>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708367" y="1617974"/>
            <a:ext cx="6296401" cy="4206240"/>
          </a:xfrm>
          <a:custGeom>
            <a:avLst/>
            <a:gdLst/>
            <a:ahLst/>
            <a:cxnLst/>
            <a:rect l="l" t="t" r="r" b="b"/>
            <a:pathLst>
              <a:path w="6296401" h="4206240">
                <a:moveTo>
                  <a:pt x="0" y="0"/>
                </a:moveTo>
                <a:lnTo>
                  <a:pt x="6296401" y="0"/>
                </a:lnTo>
                <a:lnTo>
                  <a:pt x="6296401" y="4206240"/>
                </a:lnTo>
                <a:lnTo>
                  <a:pt x="0" y="4206240"/>
                </a:lnTo>
                <a:lnTo>
                  <a:pt x="0" y="0"/>
                </a:lnTo>
                <a:close/>
              </a:path>
            </a:pathLst>
          </a:custGeom>
          <a:blipFill>
            <a:blip>
              <a:extLst>
                <a:ext uri="{96DAC541-7B7A-43D3-8B79-37D633B846F1}">
                  <asvg:svgBlip xmlns:asvg="http://schemas.microsoft.com/office/drawing/2016/SVG/main" r:embed="rId3"/>
                </a:ext>
              </a:extLst>
            </a:blip>
            <a:stretch>
              <a:fillRect t="-49794" b="-49794"/>
            </a:stretch>
          </a:blipFill>
        </p:spPr>
      </p:sp>
      <p:sp>
        <p:nvSpPr>
          <p:cNvPr id="4" name="TextBox 4"/>
          <p:cNvSpPr txBox="1"/>
          <p:nvPr/>
        </p:nvSpPr>
        <p:spPr>
          <a:xfrm>
            <a:off x="1331585" y="3547491"/>
            <a:ext cx="39500" cy="254146"/>
          </a:xfrm>
          <a:prstGeom prst="rect">
            <a:avLst/>
          </a:prstGeom>
        </p:spPr>
        <p:txBody>
          <a:bodyPr lIns="0" tIns="0" rIns="0" bIns="0" rtlCol="0" anchor="t">
            <a:spAutoFit/>
          </a:bodyPr>
          <a:lstStyle/>
          <a:p>
            <a:pPr algn="l">
              <a:lnSpc>
                <a:spcPts val="1889"/>
              </a:lnSpc>
            </a:pPr>
            <a:r>
              <a:rPr lang="en-US" sz="1349">
                <a:solidFill>
                  <a:srgbClr val="DCE8F0"/>
                </a:solidFill>
                <a:latin typeface="Carlito"/>
                <a:ea typeface="Carlito"/>
                <a:cs typeface="Carlito"/>
                <a:sym typeface="Carlito"/>
              </a:rPr>
              <a:t> </a:t>
            </a:r>
          </a:p>
        </p:txBody>
      </p:sp>
      <p:sp>
        <p:nvSpPr>
          <p:cNvPr id="5" name="TextBox 5"/>
          <p:cNvSpPr txBox="1"/>
          <p:nvPr/>
        </p:nvSpPr>
        <p:spPr>
          <a:xfrm>
            <a:off x="1187954" y="2526276"/>
            <a:ext cx="5337227" cy="871220"/>
          </a:xfrm>
          <a:prstGeom prst="rect">
            <a:avLst/>
          </a:prstGeom>
        </p:spPr>
        <p:txBody>
          <a:bodyPr lIns="0" tIns="0" rIns="0" bIns="0" rtlCol="0" anchor="t">
            <a:spAutoFit/>
          </a:bodyPr>
          <a:lstStyle/>
          <a:p>
            <a:pPr algn="l">
              <a:lnSpc>
                <a:spcPts val="2380"/>
              </a:lnSpc>
            </a:pPr>
            <a:r>
              <a:rPr lang="en-US" sz="1700" b="1">
                <a:solidFill>
                  <a:srgbClr val="DCE8F0"/>
                </a:solidFill>
                <a:latin typeface="Montserrat Bold"/>
                <a:ea typeface="Montserrat Bold"/>
                <a:cs typeface="Montserrat Bold"/>
                <a:sym typeface="Montserrat Bold"/>
              </a:rPr>
              <a:t>For this task, the decisive factor is not the use of deep learning, but preserving the temporal structure in the input. </a:t>
            </a:r>
          </a:p>
        </p:txBody>
      </p:sp>
      <p:sp>
        <p:nvSpPr>
          <p:cNvPr id="6" name="TextBox 6"/>
          <p:cNvSpPr txBox="1"/>
          <p:nvPr/>
        </p:nvSpPr>
        <p:spPr>
          <a:xfrm>
            <a:off x="8046368" y="4773311"/>
            <a:ext cx="2716543" cy="225511"/>
          </a:xfrm>
          <a:prstGeom prst="rect">
            <a:avLst/>
          </a:prstGeom>
        </p:spPr>
        <p:txBody>
          <a:bodyPr wrap="square" lIns="0" tIns="0" rIns="0" bIns="0" rtlCol="0" anchor="t">
            <a:spAutoFit/>
          </a:bodyPr>
          <a:lstStyle/>
          <a:p>
            <a:pPr algn="l">
              <a:lnSpc>
                <a:spcPts val="1889"/>
              </a:lnSpc>
            </a:pPr>
            <a:r>
              <a:rPr lang="en-US" sz="1349" b="1">
                <a:solidFill>
                  <a:srgbClr val="0B2545"/>
                </a:solidFill>
                <a:latin typeface="Montserrat Bold"/>
                <a:ea typeface="Montserrat Bold"/>
                <a:cs typeface="Montserrat Bold"/>
                <a:sym typeface="Montserrat Bold"/>
              </a:rPr>
              <a:t>Scaling up</a:t>
            </a:r>
          </a:p>
        </p:txBody>
      </p:sp>
      <p:sp>
        <p:nvSpPr>
          <p:cNvPr id="7" name="TextBox 7"/>
          <p:cNvSpPr txBox="1"/>
          <p:nvPr/>
        </p:nvSpPr>
        <p:spPr>
          <a:xfrm>
            <a:off x="8369246" y="4965811"/>
            <a:ext cx="38338" cy="199367"/>
          </a:xfrm>
          <a:prstGeom prst="rect">
            <a:avLst/>
          </a:prstGeom>
        </p:spPr>
        <p:txBody>
          <a:bodyPr lIns="0" tIns="0" rIns="0" bIns="0" rtlCol="0" anchor="t">
            <a:spAutoFit/>
          </a:bodyPr>
          <a:lstStyle/>
          <a:p>
            <a:pPr algn="l">
              <a:lnSpc>
                <a:spcPts val="1611"/>
              </a:lnSpc>
            </a:pPr>
            <a:r>
              <a:rPr lang="en-US" sz="1150">
                <a:solidFill>
                  <a:srgbClr val="5B6B7B"/>
                </a:solidFill>
                <a:latin typeface="Montserrat"/>
                <a:ea typeface="Montserrat"/>
                <a:cs typeface="Montserrat"/>
                <a:sym typeface="Montserrat"/>
              </a:rPr>
              <a:t> </a:t>
            </a:r>
          </a:p>
        </p:txBody>
      </p:sp>
      <p:sp>
        <p:nvSpPr>
          <p:cNvPr id="8" name="TextBox 8"/>
          <p:cNvSpPr txBox="1"/>
          <p:nvPr/>
        </p:nvSpPr>
        <p:spPr>
          <a:xfrm>
            <a:off x="8046368" y="3091024"/>
            <a:ext cx="3116457" cy="225511"/>
          </a:xfrm>
          <a:prstGeom prst="rect">
            <a:avLst/>
          </a:prstGeom>
        </p:spPr>
        <p:txBody>
          <a:bodyPr wrap="square" lIns="0" tIns="0" rIns="0" bIns="0" rtlCol="0" anchor="t">
            <a:spAutoFit/>
          </a:bodyPr>
          <a:lstStyle/>
          <a:p>
            <a:pPr algn="l">
              <a:lnSpc>
                <a:spcPts val="1889"/>
              </a:lnSpc>
            </a:pPr>
            <a:r>
              <a:rPr lang="en-US" sz="1349" b="1">
                <a:solidFill>
                  <a:srgbClr val="0B2545"/>
                </a:solidFill>
                <a:latin typeface="Montserrat Bold"/>
                <a:ea typeface="Montserrat Bold"/>
                <a:cs typeface="Montserrat Bold"/>
                <a:sym typeface="Montserrat Bold"/>
              </a:rPr>
              <a:t>New architectures</a:t>
            </a:r>
          </a:p>
        </p:txBody>
      </p:sp>
      <p:sp>
        <p:nvSpPr>
          <p:cNvPr id="9" name="TextBox 9"/>
          <p:cNvSpPr txBox="1"/>
          <p:nvPr/>
        </p:nvSpPr>
        <p:spPr>
          <a:xfrm>
            <a:off x="8314430" y="3283525"/>
            <a:ext cx="38338" cy="199367"/>
          </a:xfrm>
          <a:prstGeom prst="rect">
            <a:avLst/>
          </a:prstGeom>
        </p:spPr>
        <p:txBody>
          <a:bodyPr lIns="0" tIns="0" rIns="0" bIns="0" rtlCol="0" anchor="t">
            <a:spAutoFit/>
          </a:bodyPr>
          <a:lstStyle/>
          <a:p>
            <a:pPr algn="l">
              <a:lnSpc>
                <a:spcPts val="1611"/>
              </a:lnSpc>
            </a:pPr>
            <a:r>
              <a:rPr lang="en-US" sz="1150">
                <a:solidFill>
                  <a:srgbClr val="5B6B7B"/>
                </a:solidFill>
                <a:latin typeface="Montserrat"/>
                <a:ea typeface="Montserrat"/>
                <a:cs typeface="Montserrat"/>
                <a:sym typeface="Montserrat"/>
              </a:rPr>
              <a:t> </a:t>
            </a:r>
          </a:p>
        </p:txBody>
      </p:sp>
      <p:sp>
        <p:nvSpPr>
          <p:cNvPr id="10" name="TextBox 10"/>
          <p:cNvSpPr txBox="1"/>
          <p:nvPr/>
        </p:nvSpPr>
        <p:spPr>
          <a:xfrm>
            <a:off x="8385991" y="1887255"/>
            <a:ext cx="61198" cy="280650"/>
          </a:xfrm>
          <a:prstGeom prst="rect">
            <a:avLst/>
          </a:prstGeom>
        </p:spPr>
        <p:txBody>
          <a:bodyPr lIns="0" tIns="0" rIns="0" bIns="0" rtlCol="0" anchor="t">
            <a:spAutoFit/>
          </a:bodyPr>
          <a:lstStyle/>
          <a:p>
            <a:pPr algn="l">
              <a:lnSpc>
                <a:spcPts val="2381"/>
              </a:lnSpc>
            </a:pPr>
            <a:r>
              <a:rPr lang="en-US" sz="1700" b="1">
                <a:solidFill>
                  <a:srgbClr val="0B2545"/>
                </a:solidFill>
                <a:latin typeface="Montserrat Bold"/>
                <a:ea typeface="Montserrat Bold"/>
                <a:cs typeface="Montserrat Bold"/>
                <a:sym typeface="Montserrat Bold"/>
              </a:rPr>
              <a:t> </a:t>
            </a:r>
          </a:p>
        </p:txBody>
      </p:sp>
      <p:sp>
        <p:nvSpPr>
          <p:cNvPr id="11" name="TextBox 11"/>
          <p:cNvSpPr txBox="1"/>
          <p:nvPr/>
        </p:nvSpPr>
        <p:spPr>
          <a:xfrm>
            <a:off x="8046368" y="2239281"/>
            <a:ext cx="2816517" cy="225511"/>
          </a:xfrm>
          <a:prstGeom prst="rect">
            <a:avLst/>
          </a:prstGeom>
        </p:spPr>
        <p:txBody>
          <a:bodyPr wrap="square" lIns="0" tIns="0" rIns="0" bIns="0" rtlCol="0" anchor="t">
            <a:spAutoFit/>
          </a:bodyPr>
          <a:lstStyle/>
          <a:p>
            <a:pPr algn="l">
              <a:lnSpc>
                <a:spcPts val="1889"/>
              </a:lnSpc>
            </a:pPr>
            <a:r>
              <a:rPr lang="en-US" sz="1349" b="1">
                <a:solidFill>
                  <a:srgbClr val="0B2545"/>
                </a:solidFill>
                <a:latin typeface="Montserrat Bold"/>
                <a:ea typeface="Montserrat Bold"/>
                <a:cs typeface="Montserrat Bold"/>
                <a:sym typeface="Montserrat Bold"/>
              </a:rPr>
              <a:t>Data augmentation</a:t>
            </a:r>
          </a:p>
        </p:txBody>
      </p:sp>
      <p:sp>
        <p:nvSpPr>
          <p:cNvPr id="12" name="TextBox 12"/>
          <p:cNvSpPr txBox="1"/>
          <p:nvPr/>
        </p:nvSpPr>
        <p:spPr>
          <a:xfrm>
            <a:off x="8380057" y="2442200"/>
            <a:ext cx="38338" cy="199367"/>
          </a:xfrm>
          <a:prstGeom prst="rect">
            <a:avLst/>
          </a:prstGeom>
        </p:spPr>
        <p:txBody>
          <a:bodyPr lIns="0" tIns="0" rIns="0" bIns="0" rtlCol="0" anchor="t">
            <a:spAutoFit/>
          </a:bodyPr>
          <a:lstStyle/>
          <a:p>
            <a:pPr algn="l">
              <a:lnSpc>
                <a:spcPts val="1611"/>
              </a:lnSpc>
            </a:pPr>
            <a:r>
              <a:rPr lang="en-US" sz="1150">
                <a:solidFill>
                  <a:srgbClr val="5B6B7B"/>
                </a:solidFill>
                <a:latin typeface="Montserrat"/>
                <a:ea typeface="Montserrat"/>
                <a:cs typeface="Montserrat"/>
                <a:sym typeface="Montserrat"/>
              </a:rPr>
              <a:t> </a:t>
            </a:r>
          </a:p>
        </p:txBody>
      </p:sp>
      <p:sp>
        <p:nvSpPr>
          <p:cNvPr id="13" name="TextBox 13"/>
          <p:cNvSpPr txBox="1"/>
          <p:nvPr/>
        </p:nvSpPr>
        <p:spPr>
          <a:xfrm>
            <a:off x="8046368" y="3942434"/>
            <a:ext cx="3893045" cy="225511"/>
          </a:xfrm>
          <a:prstGeom prst="rect">
            <a:avLst/>
          </a:prstGeom>
        </p:spPr>
        <p:txBody>
          <a:bodyPr wrap="square" lIns="0" tIns="0" rIns="0" bIns="0" rtlCol="0" anchor="t">
            <a:spAutoFit/>
          </a:bodyPr>
          <a:lstStyle/>
          <a:p>
            <a:pPr algn="l">
              <a:lnSpc>
                <a:spcPts val="1889"/>
              </a:lnSpc>
            </a:pPr>
            <a:r>
              <a:rPr lang="en-US" sz="1349" b="1">
                <a:solidFill>
                  <a:srgbClr val="0B2545"/>
                </a:solidFill>
                <a:latin typeface="Montserrat Bold"/>
                <a:ea typeface="Montserrat Bold"/>
                <a:cs typeface="Montserrat Bold"/>
                <a:sym typeface="Montserrat Bold"/>
              </a:rPr>
              <a:t>k-fold cross-validation</a:t>
            </a:r>
          </a:p>
        </p:txBody>
      </p:sp>
      <p:sp>
        <p:nvSpPr>
          <p:cNvPr id="14" name="TextBox 14"/>
          <p:cNvSpPr txBox="1"/>
          <p:nvPr/>
        </p:nvSpPr>
        <p:spPr>
          <a:xfrm>
            <a:off x="8465420" y="4124487"/>
            <a:ext cx="38338" cy="199367"/>
          </a:xfrm>
          <a:prstGeom prst="rect">
            <a:avLst/>
          </a:prstGeom>
        </p:spPr>
        <p:txBody>
          <a:bodyPr lIns="0" tIns="0" rIns="0" bIns="0" rtlCol="0" anchor="t">
            <a:spAutoFit/>
          </a:bodyPr>
          <a:lstStyle/>
          <a:p>
            <a:pPr algn="l">
              <a:lnSpc>
                <a:spcPts val="1611"/>
              </a:lnSpc>
            </a:pPr>
            <a:r>
              <a:rPr lang="en-US" sz="1150">
                <a:solidFill>
                  <a:srgbClr val="5B6B7B"/>
                </a:solidFill>
                <a:latin typeface="Montserrat"/>
                <a:ea typeface="Montserrat"/>
                <a:cs typeface="Montserrat"/>
                <a:sym typeface="Montserrat"/>
              </a:rPr>
              <a:t> </a:t>
            </a:r>
          </a:p>
        </p:txBody>
      </p:sp>
      <p:sp>
        <p:nvSpPr>
          <p:cNvPr id="15" name="TextBox 15"/>
          <p:cNvSpPr txBox="1"/>
          <p:nvPr/>
        </p:nvSpPr>
        <p:spPr>
          <a:xfrm>
            <a:off x="7726328" y="1887255"/>
            <a:ext cx="1386245" cy="280650"/>
          </a:xfrm>
          <a:prstGeom prst="rect">
            <a:avLst/>
          </a:prstGeom>
        </p:spPr>
        <p:txBody>
          <a:bodyPr lIns="0" tIns="0" rIns="0" bIns="0" rtlCol="0" anchor="t">
            <a:spAutoFit/>
          </a:bodyPr>
          <a:lstStyle/>
          <a:p>
            <a:pPr algn="l">
              <a:lnSpc>
                <a:spcPts val="2381"/>
              </a:lnSpc>
            </a:pPr>
            <a:r>
              <a:rPr lang="en-US" sz="1700" b="1">
                <a:solidFill>
                  <a:srgbClr val="0B2545"/>
                </a:solidFill>
                <a:latin typeface="Montserrat Bold"/>
                <a:ea typeface="Montserrat Bold"/>
                <a:cs typeface="Montserrat Bold"/>
                <a:sym typeface="Montserrat Bold"/>
              </a:rPr>
              <a:t>FutureWork</a:t>
            </a:r>
          </a:p>
        </p:txBody>
      </p:sp>
      <p:sp>
        <p:nvSpPr>
          <p:cNvPr id="16" name="TextBox 16"/>
          <p:cNvSpPr txBox="1"/>
          <p:nvPr/>
        </p:nvSpPr>
        <p:spPr>
          <a:xfrm>
            <a:off x="8046368" y="2442200"/>
            <a:ext cx="2104549" cy="199367"/>
          </a:xfrm>
          <a:prstGeom prst="rect">
            <a:avLst/>
          </a:prstGeom>
        </p:spPr>
        <p:txBody>
          <a:bodyPr lIns="0" tIns="0" rIns="0" bIns="0" rtlCol="0" anchor="t">
            <a:spAutoFit/>
          </a:bodyPr>
          <a:lstStyle/>
          <a:p>
            <a:pPr algn="l">
              <a:lnSpc>
                <a:spcPts val="1611"/>
              </a:lnSpc>
            </a:pPr>
            <a:r>
              <a:rPr lang="en-US" sz="1150">
                <a:solidFill>
                  <a:srgbClr val="5B6B7B"/>
                </a:solidFill>
                <a:latin typeface="Montserrat"/>
                <a:ea typeface="Montserrat"/>
                <a:cs typeface="Montserrat"/>
                <a:sym typeface="Montserrat"/>
              </a:rPr>
              <a:t>Noise addition, pitch shifting</a:t>
            </a:r>
          </a:p>
        </p:txBody>
      </p:sp>
      <p:sp>
        <p:nvSpPr>
          <p:cNvPr id="17" name="TextBox 17"/>
          <p:cNvSpPr txBox="1"/>
          <p:nvPr/>
        </p:nvSpPr>
        <p:spPr>
          <a:xfrm>
            <a:off x="8046368" y="4124487"/>
            <a:ext cx="2180987" cy="199367"/>
          </a:xfrm>
          <a:prstGeom prst="rect">
            <a:avLst/>
          </a:prstGeom>
        </p:spPr>
        <p:txBody>
          <a:bodyPr lIns="0" tIns="0" rIns="0" bIns="0" rtlCol="0" anchor="t">
            <a:spAutoFit/>
          </a:bodyPr>
          <a:lstStyle/>
          <a:p>
            <a:pPr algn="l">
              <a:lnSpc>
                <a:spcPts val="1611"/>
              </a:lnSpc>
            </a:pPr>
            <a:r>
              <a:rPr lang="en-US" sz="1150">
                <a:solidFill>
                  <a:srgbClr val="5B6B7B"/>
                </a:solidFill>
                <a:latin typeface="Montserrat"/>
                <a:ea typeface="Montserrat"/>
                <a:cs typeface="Montserrat"/>
                <a:sym typeface="Montserrat"/>
              </a:rPr>
              <a:t>Tighter confidence estimates </a:t>
            </a:r>
          </a:p>
        </p:txBody>
      </p:sp>
      <p:sp>
        <p:nvSpPr>
          <p:cNvPr id="18" name="TextBox 18"/>
          <p:cNvSpPr txBox="1"/>
          <p:nvPr/>
        </p:nvSpPr>
        <p:spPr>
          <a:xfrm>
            <a:off x="8046368" y="3283525"/>
            <a:ext cx="2827377" cy="199367"/>
          </a:xfrm>
          <a:prstGeom prst="rect">
            <a:avLst/>
          </a:prstGeom>
        </p:spPr>
        <p:txBody>
          <a:bodyPr lIns="0" tIns="0" rIns="0" bIns="0" rtlCol="0" anchor="t">
            <a:spAutoFit/>
          </a:bodyPr>
          <a:lstStyle/>
          <a:p>
            <a:pPr algn="l">
              <a:lnSpc>
                <a:spcPts val="1611"/>
              </a:lnSpc>
            </a:pPr>
            <a:r>
              <a:rPr lang="en-US" sz="1150">
                <a:solidFill>
                  <a:srgbClr val="5B6B7B"/>
                </a:solidFill>
                <a:latin typeface="Montserrat"/>
                <a:ea typeface="Montserrat"/>
                <a:cs typeface="Montserrat"/>
                <a:sym typeface="Montserrat"/>
              </a:rPr>
              <a:t>RNN / attention on top of convolutions</a:t>
            </a:r>
          </a:p>
        </p:txBody>
      </p:sp>
      <p:sp>
        <p:nvSpPr>
          <p:cNvPr id="19" name="TextBox 19"/>
          <p:cNvSpPr txBox="1"/>
          <p:nvPr/>
        </p:nvSpPr>
        <p:spPr>
          <a:xfrm>
            <a:off x="8046368" y="4965811"/>
            <a:ext cx="3371731" cy="199367"/>
          </a:xfrm>
          <a:prstGeom prst="rect">
            <a:avLst/>
          </a:prstGeom>
        </p:spPr>
        <p:txBody>
          <a:bodyPr lIns="0" tIns="0" rIns="0" bIns="0" rtlCol="0" anchor="t">
            <a:spAutoFit/>
          </a:bodyPr>
          <a:lstStyle/>
          <a:p>
            <a:pPr algn="l">
              <a:lnSpc>
                <a:spcPts val="1611"/>
              </a:lnSpc>
            </a:pPr>
            <a:r>
              <a:rPr lang="en-US" sz="1150">
                <a:solidFill>
                  <a:srgbClr val="5B6B7B"/>
                </a:solidFill>
                <a:latin typeface="Montserrat"/>
                <a:ea typeface="Montserrat"/>
                <a:cs typeface="Montserrat"/>
                <a:sym typeface="Montserrat"/>
              </a:rPr>
              <a:t>More languages and within-language accents</a:t>
            </a:r>
          </a:p>
        </p:txBody>
      </p:sp>
      <p:sp>
        <p:nvSpPr>
          <p:cNvPr id="20" name="TextBox 20"/>
          <p:cNvSpPr txBox="1"/>
          <p:nvPr/>
        </p:nvSpPr>
        <p:spPr>
          <a:xfrm>
            <a:off x="685800" y="628650"/>
            <a:ext cx="10957912" cy="795030"/>
          </a:xfrm>
          <a:prstGeom prst="rect">
            <a:avLst/>
          </a:prstGeom>
        </p:spPr>
        <p:txBody>
          <a:bodyPr lIns="0" tIns="0" rIns="0" bIns="0" rtlCol="0" anchor="t">
            <a:spAutoFit/>
          </a:bodyPr>
          <a:lstStyle/>
          <a:p>
            <a:pPr algn="l">
              <a:lnSpc>
                <a:spcPts val="2092"/>
              </a:lnSpc>
            </a:pPr>
            <a:endParaRPr/>
          </a:p>
          <a:p>
            <a:pPr algn="l">
              <a:lnSpc>
                <a:spcPts val="4887"/>
              </a:lnSpc>
            </a:pPr>
            <a:r>
              <a:rPr lang="en-US" sz="2800" b="1">
                <a:solidFill>
                  <a:srgbClr val="0B2545"/>
                </a:solidFill>
                <a:latin typeface="Montserrat Bold"/>
                <a:ea typeface="Montserrat Bold"/>
                <a:cs typeface="Montserrat Bold"/>
                <a:sym typeface="Montserrat Bold"/>
              </a:rPr>
              <a:t>What Did We Learn? </a:t>
            </a:r>
          </a:p>
        </p:txBody>
      </p:sp>
      <p:sp>
        <p:nvSpPr>
          <p:cNvPr id="21" name="TextBox 21"/>
          <p:cNvSpPr txBox="1"/>
          <p:nvPr/>
        </p:nvSpPr>
        <p:spPr>
          <a:xfrm>
            <a:off x="685800" y="628650"/>
            <a:ext cx="4599960" cy="231329"/>
          </a:xfrm>
          <a:prstGeom prst="rect">
            <a:avLst/>
          </a:prstGeom>
        </p:spPr>
        <p:txBody>
          <a:bodyPr lIns="0" tIns="0" rIns="0" bIns="0" rtlCol="0" anchor="t">
            <a:spAutoFit/>
          </a:bodyPr>
          <a:lstStyle/>
          <a:p>
            <a:pPr algn="l">
              <a:lnSpc>
                <a:spcPts val="2092"/>
              </a:lnSpc>
            </a:pPr>
            <a:r>
              <a:rPr lang="en-US" sz="1199" b="1" spc="290">
                <a:solidFill>
                  <a:srgbClr val="1C7293"/>
                </a:solidFill>
                <a:latin typeface="Montserrat Bold"/>
                <a:ea typeface="Montserrat Bold"/>
                <a:cs typeface="Montserrat Bold"/>
                <a:sym typeface="Montserrat Bold"/>
              </a:rPr>
              <a:t>CONCLUSION</a:t>
            </a:r>
          </a:p>
        </p:txBody>
      </p:sp>
      <p:sp>
        <p:nvSpPr>
          <p:cNvPr id="22" name="Freeform 22"/>
          <p:cNvSpPr/>
          <p:nvPr/>
        </p:nvSpPr>
        <p:spPr>
          <a:xfrm>
            <a:off x="1158316" y="3951046"/>
            <a:ext cx="274320" cy="274320"/>
          </a:xfrm>
          <a:custGeom>
            <a:avLst/>
            <a:gdLst/>
            <a:ahLst/>
            <a:cxnLst/>
            <a:rect l="l" t="t" r="r" b="b"/>
            <a:pathLst>
              <a:path w="274320" h="274320">
                <a:moveTo>
                  <a:pt x="0" y="0"/>
                </a:moveTo>
                <a:lnTo>
                  <a:pt x="274320" y="0"/>
                </a:lnTo>
                <a:lnTo>
                  <a:pt x="274320" y="274320"/>
                </a:lnTo>
                <a:lnTo>
                  <a:pt x="0" y="274320"/>
                </a:lnTo>
                <a:lnTo>
                  <a:pt x="0" y="0"/>
                </a:lnTo>
                <a:close/>
              </a:path>
            </a:pathLst>
          </a:custGeom>
          <a:blipFill>
            <a:blip>
              <a:alphaModFix amt="18999"/>
              <a:extLst>
                <a:ext uri="{96DAC541-7B7A-43D3-8B79-37D633B846F1}">
                  <asvg:svgBlip xmlns:asvg="http://schemas.microsoft.com/office/drawing/2016/SVG/main" r:embed="rId4"/>
                </a:ext>
              </a:extLst>
            </a:blip>
            <a:stretch>
              <a:fillRect/>
            </a:stretch>
          </a:blipFill>
        </p:spPr>
      </p:sp>
      <p:sp>
        <p:nvSpPr>
          <p:cNvPr id="23" name="Freeform 23"/>
          <p:cNvSpPr/>
          <p:nvPr/>
        </p:nvSpPr>
        <p:spPr>
          <a:xfrm>
            <a:off x="1158316" y="4499686"/>
            <a:ext cx="274320" cy="274320"/>
          </a:xfrm>
          <a:custGeom>
            <a:avLst/>
            <a:gdLst/>
            <a:ahLst/>
            <a:cxnLst/>
            <a:rect l="l" t="t" r="r" b="b"/>
            <a:pathLst>
              <a:path w="274320" h="274320">
                <a:moveTo>
                  <a:pt x="0" y="0"/>
                </a:moveTo>
                <a:lnTo>
                  <a:pt x="274320" y="0"/>
                </a:lnTo>
                <a:lnTo>
                  <a:pt x="274320" y="274320"/>
                </a:lnTo>
                <a:lnTo>
                  <a:pt x="0" y="274320"/>
                </a:lnTo>
                <a:lnTo>
                  <a:pt x="0" y="0"/>
                </a:lnTo>
                <a:close/>
              </a:path>
            </a:pathLst>
          </a:custGeom>
          <a:blipFill>
            <a:blip>
              <a:alphaModFix amt="18999"/>
              <a:extLst>
                <a:ext uri="{96DAC541-7B7A-43D3-8B79-37D633B846F1}">
                  <asvg:svgBlip xmlns:asvg="http://schemas.microsoft.com/office/drawing/2016/SVG/main" r:embed="rId5"/>
                </a:ext>
              </a:extLst>
            </a:blip>
            <a:stretch>
              <a:fillRect/>
            </a:stretch>
          </a:blipFill>
        </p:spPr>
      </p:sp>
      <p:sp>
        <p:nvSpPr>
          <p:cNvPr id="24" name="Freeform 24"/>
          <p:cNvSpPr/>
          <p:nvPr/>
        </p:nvSpPr>
        <p:spPr>
          <a:xfrm>
            <a:off x="1158316" y="5048326"/>
            <a:ext cx="274320" cy="274320"/>
          </a:xfrm>
          <a:custGeom>
            <a:avLst/>
            <a:gdLst/>
            <a:ahLst/>
            <a:cxnLst/>
            <a:rect l="l" t="t" r="r" b="b"/>
            <a:pathLst>
              <a:path w="274320" h="274320">
                <a:moveTo>
                  <a:pt x="0" y="0"/>
                </a:moveTo>
                <a:lnTo>
                  <a:pt x="274320" y="0"/>
                </a:lnTo>
                <a:lnTo>
                  <a:pt x="274320" y="274320"/>
                </a:lnTo>
                <a:lnTo>
                  <a:pt x="0" y="274320"/>
                </a:lnTo>
                <a:lnTo>
                  <a:pt x="0" y="0"/>
                </a:lnTo>
                <a:close/>
              </a:path>
            </a:pathLst>
          </a:custGeom>
          <a:blipFill>
            <a:blip>
              <a:alphaModFix amt="18999"/>
              <a:extLst>
                <a:ext uri="{96DAC541-7B7A-43D3-8B79-37D633B846F1}">
                  <asvg:svgBlip xmlns:asvg="http://schemas.microsoft.com/office/drawing/2016/SVG/main" r:embed="rId6"/>
                </a:ext>
              </a:extLst>
            </a:blip>
            <a:stretch>
              <a:fillRect/>
            </a:stretch>
          </a:blipFill>
        </p:spPr>
      </p:sp>
      <p:sp>
        <p:nvSpPr>
          <p:cNvPr id="25" name="TextBox 25"/>
          <p:cNvSpPr txBox="1"/>
          <p:nvPr/>
        </p:nvSpPr>
        <p:spPr>
          <a:xfrm>
            <a:off x="1557947" y="3862826"/>
            <a:ext cx="4597241" cy="461028"/>
          </a:xfrm>
          <a:prstGeom prst="rect">
            <a:avLst/>
          </a:prstGeom>
        </p:spPr>
        <p:txBody>
          <a:bodyPr lIns="0" tIns="0" rIns="0" bIns="0" rtlCol="0" anchor="t">
            <a:spAutoFit/>
          </a:bodyPr>
          <a:lstStyle/>
          <a:p>
            <a:pPr algn="l">
              <a:lnSpc>
                <a:spcPts val="1889"/>
              </a:lnSpc>
            </a:pPr>
            <a:r>
              <a:rPr lang="en-US" sz="1349">
                <a:solidFill>
                  <a:srgbClr val="FFFFFF"/>
                </a:solidFill>
                <a:latin typeface="Montserrat"/>
                <a:ea typeface="Montserrat"/>
                <a:cs typeface="Montserrat"/>
                <a:sym typeface="Montserrat"/>
              </a:rPr>
              <a:t>A CNN on summary data (86.50%) couldn't beat a well-tuned XGBoost (89.00%).</a:t>
            </a:r>
          </a:p>
        </p:txBody>
      </p:sp>
      <p:sp>
        <p:nvSpPr>
          <p:cNvPr id="26" name="TextBox 26"/>
          <p:cNvSpPr txBox="1"/>
          <p:nvPr/>
        </p:nvSpPr>
        <p:spPr>
          <a:xfrm>
            <a:off x="1557947" y="4396807"/>
            <a:ext cx="5486400" cy="461028"/>
          </a:xfrm>
          <a:prstGeom prst="rect">
            <a:avLst/>
          </a:prstGeom>
        </p:spPr>
        <p:txBody>
          <a:bodyPr lIns="0" tIns="0" rIns="0" bIns="0" rtlCol="0" anchor="t">
            <a:spAutoFit/>
          </a:bodyPr>
          <a:lstStyle/>
          <a:p>
            <a:pPr algn="l">
              <a:lnSpc>
                <a:spcPts val="1889"/>
              </a:lnSpc>
            </a:pPr>
            <a:r>
              <a:rPr lang="en-US" sz="1349">
                <a:solidFill>
                  <a:srgbClr val="FFFFFF"/>
                </a:solidFill>
                <a:latin typeface="Montserrat"/>
                <a:ea typeface="Montserrat"/>
                <a:cs typeface="Montserrat"/>
                <a:sym typeface="Montserrat"/>
              </a:rPr>
              <a:t>The same network reached 93.67% on time-series data and nearly halved the errors. </a:t>
            </a:r>
          </a:p>
        </p:txBody>
      </p:sp>
      <p:sp>
        <p:nvSpPr>
          <p:cNvPr id="27" name="TextBox 27"/>
          <p:cNvSpPr txBox="1"/>
          <p:nvPr/>
        </p:nvSpPr>
        <p:spPr>
          <a:xfrm>
            <a:off x="1557947" y="4945447"/>
            <a:ext cx="5289947" cy="461028"/>
          </a:xfrm>
          <a:prstGeom prst="rect">
            <a:avLst/>
          </a:prstGeom>
        </p:spPr>
        <p:txBody>
          <a:bodyPr lIns="0" tIns="0" rIns="0" bIns="0" rtlCol="0" anchor="t">
            <a:spAutoFit/>
          </a:bodyPr>
          <a:lstStyle/>
          <a:p>
            <a:pPr algn="l">
              <a:lnSpc>
                <a:spcPts val="1889"/>
              </a:lnSpc>
            </a:pPr>
            <a:r>
              <a:rPr lang="en-US" sz="1349">
                <a:solidFill>
                  <a:srgbClr val="FFFFFF"/>
                </a:solidFill>
                <a:latin typeface="Montserrat"/>
                <a:ea typeface="Montserrat"/>
                <a:cs typeface="Montserrat"/>
                <a:sym typeface="Montserrat"/>
              </a:rPr>
              <a:t>Since the architecture was fixed, the gain came purely from the data representation.</a:t>
            </a:r>
          </a:p>
        </p:txBody>
      </p:sp>
      <p:sp>
        <p:nvSpPr>
          <p:cNvPr id="28" name="TextBox 28"/>
          <p:cNvSpPr txBox="1"/>
          <p:nvPr/>
        </p:nvSpPr>
        <p:spPr>
          <a:xfrm>
            <a:off x="1158316" y="1948749"/>
            <a:ext cx="1481971" cy="280650"/>
          </a:xfrm>
          <a:prstGeom prst="rect">
            <a:avLst/>
          </a:prstGeom>
        </p:spPr>
        <p:txBody>
          <a:bodyPr lIns="0" tIns="0" rIns="0" bIns="0" rtlCol="0" anchor="t">
            <a:spAutoFit/>
          </a:bodyPr>
          <a:lstStyle/>
          <a:p>
            <a:pPr algn="l">
              <a:lnSpc>
                <a:spcPts val="2381"/>
              </a:lnSpc>
            </a:pPr>
            <a:r>
              <a:rPr lang="en-US" sz="1700" b="1">
                <a:solidFill>
                  <a:srgbClr val="1B98A2"/>
                </a:solidFill>
                <a:latin typeface="Montserrat Bold"/>
                <a:ea typeface="Montserrat Bold"/>
                <a:cs typeface="Montserrat Bold"/>
                <a:sym typeface="Montserrat Bold"/>
              </a:rPr>
              <a:t>Main Finding</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4172E"/>
        </a:solidFill>
        <a:effectLst/>
      </p:bgPr>
    </p:bg>
    <p:spTree>
      <p:nvGrpSpPr>
        <p:cNvPr id="1" name=""/>
        <p:cNvGrpSpPr/>
        <p:nvPr/>
      </p:nvGrpSpPr>
      <p:grpSpPr>
        <a:xfrm>
          <a:off x="0" y="0"/>
          <a:ext cx="0" cy="0"/>
          <a:chOff x="0" y="0"/>
          <a:chExt cx="0" cy="0"/>
        </a:xfrm>
      </p:grpSpPr>
      <p:sp>
        <p:nvSpPr>
          <p:cNvPr id="2" name="Freeform 2"/>
          <p:cNvSpPr/>
          <p:nvPr/>
        </p:nvSpPr>
        <p:spPr>
          <a:xfrm flipH="1" flipV="1">
            <a:off x="-443765" y="-490653"/>
            <a:ext cx="13079530" cy="5373507"/>
          </a:xfrm>
          <a:custGeom>
            <a:avLst/>
            <a:gdLst/>
            <a:ahLst/>
            <a:cxnLst/>
            <a:rect l="l" t="t" r="r" b="b"/>
            <a:pathLst>
              <a:path w="13079530" h="5373507">
                <a:moveTo>
                  <a:pt x="13079530" y="5373507"/>
                </a:moveTo>
                <a:lnTo>
                  <a:pt x="0" y="5373507"/>
                </a:lnTo>
                <a:lnTo>
                  <a:pt x="0" y="0"/>
                </a:lnTo>
                <a:lnTo>
                  <a:pt x="13079530" y="0"/>
                </a:lnTo>
                <a:lnTo>
                  <a:pt x="13079530" y="5373507"/>
                </a:lnTo>
                <a:close/>
              </a:path>
            </a:pathLst>
          </a:custGeom>
          <a:blipFill>
            <a:blip>
              <a:alphaModFix amt="54000"/>
              <a:extLst>
                <a:ext uri="{96DAC541-7B7A-43D3-8B79-37D633B846F1}">
                  <asvg:svgBlip xmlns:asvg="http://schemas.microsoft.com/office/drawing/2016/SVG/main" r:embed="rId2"/>
                </a:ext>
              </a:extLst>
            </a:blip>
            <a:stretch>
              <a:fillRect/>
            </a:stretch>
          </a:blipFill>
        </p:spPr>
      </p:sp>
      <p:sp>
        <p:nvSpPr>
          <p:cNvPr id="3" name="TextBox 3"/>
          <p:cNvSpPr txBox="1"/>
          <p:nvPr/>
        </p:nvSpPr>
        <p:spPr>
          <a:xfrm>
            <a:off x="822608" y="2497274"/>
            <a:ext cx="3116461" cy="745505"/>
          </a:xfrm>
          <a:prstGeom prst="rect">
            <a:avLst/>
          </a:prstGeom>
        </p:spPr>
        <p:txBody>
          <a:bodyPr lIns="0" tIns="0" rIns="0" bIns="0" rtlCol="0" anchor="t">
            <a:spAutoFit/>
          </a:bodyPr>
          <a:lstStyle/>
          <a:p>
            <a:pPr algn="l">
              <a:lnSpc>
                <a:spcPts val="6159"/>
              </a:lnSpc>
            </a:pPr>
            <a:r>
              <a:rPr lang="en-US" sz="4399" b="1">
                <a:solidFill>
                  <a:srgbClr val="FFFFFF"/>
                </a:solidFill>
                <a:latin typeface="Montserrat Bold"/>
                <a:ea typeface="Montserrat Bold"/>
                <a:cs typeface="Montserrat Bold"/>
                <a:sym typeface="Montserrat Bold"/>
              </a:rPr>
              <a:t>Thank You</a:t>
            </a:r>
          </a:p>
        </p:txBody>
      </p:sp>
      <p:sp>
        <p:nvSpPr>
          <p:cNvPr id="4" name="TextBox 4"/>
          <p:cNvSpPr txBox="1"/>
          <p:nvPr/>
        </p:nvSpPr>
        <p:spPr>
          <a:xfrm>
            <a:off x="1346102" y="3538004"/>
            <a:ext cx="60008" cy="306705"/>
          </a:xfrm>
          <a:prstGeom prst="rect">
            <a:avLst/>
          </a:prstGeom>
        </p:spPr>
        <p:txBody>
          <a:bodyPr lIns="0" tIns="0" rIns="0" bIns="0" rtlCol="0" anchor="t">
            <a:spAutoFit/>
          </a:bodyPr>
          <a:lstStyle/>
          <a:p>
            <a:pPr algn="l">
              <a:lnSpc>
                <a:spcPts val="2520"/>
              </a:lnSpc>
            </a:pPr>
            <a:r>
              <a:rPr lang="en-US" sz="1800">
                <a:solidFill>
                  <a:srgbClr val="9FB8C8"/>
                </a:solidFill>
                <a:latin typeface="Montserrat"/>
                <a:ea typeface="Montserrat"/>
                <a:cs typeface="Montserrat"/>
                <a:sym typeface="Montserrat"/>
              </a:rPr>
              <a:t> </a:t>
            </a:r>
          </a:p>
        </p:txBody>
      </p:sp>
      <p:sp>
        <p:nvSpPr>
          <p:cNvPr id="5" name="TextBox 5"/>
          <p:cNvSpPr txBox="1"/>
          <p:nvPr/>
        </p:nvSpPr>
        <p:spPr>
          <a:xfrm>
            <a:off x="868328" y="3538004"/>
            <a:ext cx="1425416" cy="306705"/>
          </a:xfrm>
          <a:prstGeom prst="rect">
            <a:avLst/>
          </a:prstGeom>
        </p:spPr>
        <p:txBody>
          <a:bodyPr lIns="0" tIns="0" rIns="0" bIns="0" rtlCol="0" anchor="t">
            <a:spAutoFit/>
          </a:bodyPr>
          <a:lstStyle/>
          <a:p>
            <a:pPr algn="l">
              <a:lnSpc>
                <a:spcPts val="2520"/>
              </a:lnSpc>
            </a:pPr>
            <a:r>
              <a:rPr lang="en-US" sz="1800">
                <a:solidFill>
                  <a:srgbClr val="15616D"/>
                </a:solidFill>
                <a:latin typeface="Montserrat"/>
                <a:ea typeface="Montserrat"/>
                <a:cs typeface="Montserrat"/>
                <a:sym typeface="Montserrat"/>
              </a:rPr>
              <a:t>for listening!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Geniş ekran</PresentationFormat>
  <Paragraphs>0</Paragraphs>
  <Slides>16</Slides>
  <Notes>0</Notes>
  <HiddenSlides>0</HiddenSlides>
  <MMClips>0</MMClips>
  <ScaleCrop>false</ScaleCrop>
  <HeadingPairs>
    <vt:vector size="4" baseType="variant">
      <vt:variant>
        <vt:lpstr>Tema</vt:lpstr>
      </vt:variant>
      <vt:variant>
        <vt:i4>1</vt:i4>
      </vt:variant>
      <vt:variant>
        <vt:lpstr>Slayt Başlıkları</vt:lpstr>
      </vt:variant>
      <vt:variant>
        <vt:i4>16</vt:i4>
      </vt:variant>
    </vt:vector>
  </HeadingPairs>
  <TitlesOfParts>
    <vt:vector size="17" baseType="lpstr">
      <vt:lpstr>Office Theme</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Accent_Language_ID_Presentation.pdf</dc:title>
  <cp:revision>26</cp:revision>
  <dcterms:created xsi:type="dcterms:W3CDTF">2006-08-16T00:00:00Z</dcterms:created>
  <dcterms:modified xsi:type="dcterms:W3CDTF">2026-06-13T18:12:27Z</dcterms:modified>
  <dc:identifier>DAHMcdrMP70</dc:identifier>
</cp:coreProperties>
</file>